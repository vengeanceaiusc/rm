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table of contents detailing the overarching financial roadmap for my Lululemon investment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First we will analyze the recent cyclical selloff to 100 dollars and why this price action demands a market re-evaluation Next we dissect the NOPAT bridge and revenue drivers to expose durable cash flows hidden beneath headline noise Then we evaluate our mathematically sound 9 percent WACC and DCF scenarios which justify my overweight thesis Finally we review our football field valuation and comparable analysis implying a massive margin of safety for investors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2026 Financial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Spreadsheet: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carrying just $1.78 billion in long-term debt against $8.53 billion in total assets provides immense strategic flexibility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https://www.gurufocus.com/term/long-term-debt-and-capital-lease-obligation/LULU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from peak COVID levels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model conservatively assumes margins permanently reset lower to a 13.2% run-rate trough in FY26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https://www.sec.gov/ix?doc=/Archives/edgar/data/0001397187/000139718724000013/lulu-20240128.htm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model projections rely entirely on FY2026 store openings skewing to China (+20 openings) versus mature Americas (+8 openings) alongside aggressive +14.0% comp sales growth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mathematically break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milestones from Q3 FY2026 trough through FY2027–FY2028 multiple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 → Scenarios col G. EPS = NI ÷ diluted shares after $500M/yr repurchases (DCF $134 still uses 111.4M day-one basic shares).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→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