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4846320"/>
              </a:tblGrid>
              <a:tr h="393192">
                <a:tc>
                  <a:txBody>
                    <a:bodyPr wrap="none" anchor="ctr"/>
                    <a:lstStyle/>
                    <a:p>
                      <a: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Table of Contents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2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Situation Overview and Current Investment Setup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3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Market Narrative and Analyst Sentiment Surrounding the Stock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4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Investment Thesis Summary and Target Price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5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Geographic Segments and Revenue Breakdown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6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Business Model Unit Economics and Competitive Moats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7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Industry Overview - Trends and Structure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8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Industry Overview - Barriers to Entry and Profitability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9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Investment Thesis I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10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Investment Thesis II  Partial Margin Recovery &amp; Brand Loyalty Floor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11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Investment Thesis III: Geographic Growth Divergence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4846320"/>
              </a:tblGrid>
              <a:tr h="393192">
                <a:tc>
                  <a:txBody>
                    <a:bodyPr wrap="none" anchor="ctr"/>
                    <a:lstStyle/>
                    <a:p>
                      <a: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12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Risk &amp; Mitigants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13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Timeline of Recovery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14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Financials | Income Statement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15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Financials | Balance Sheet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16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Financials | Cash Flow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17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Financials | Capital Structure &amp; WACC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18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Valuation Summary (Football Field)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19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Sum of the Parts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20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DCF Valuation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21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Comps Analysis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r>
                        <a:t>22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r>
                        <a:t>Precedent Transactions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$133.52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$133.52 per share (+33.5%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Base Case Implied Value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FY26-FY30 EBIT Margin Path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WACC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China Mainland Growth &amp; Revenue Driver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E-commerce EBIT Margin Driver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Store EBIT Margin &amp; SPSF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global athleisure market remains highly fragmented,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valuation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supporting our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$133.52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$133.52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$55.90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fading from a 7% FY26 guide toward 5.5% of revenue, plus FY26 inventory normalization and a capital-light 23.6% e-commerce EBIT margin, support free cash flow even if China comps moderate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$14.58, more than enough to recover our $133.52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Revenue Drivers &amp; DCF (CapEx/NWC)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$10.10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$133.52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Scenarios col C (tariff refund &amp; EBIT path)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10.10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6304">
                <a:tc>
                  <a:txBody>
                    <a:bodyPr wrap="square"/>
                    <a:lstStyle/>
                    <a:p>
                      <a:r>
                        <a:t>Line item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Hist source (22-25)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Forecast Source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r>
                        <a:t>Net revenue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Net revenue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(revenue yrs 1-5)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r>
                        <a:t>Gross profit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Gross profit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Revenue x gross margin (Scenarios col C)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r>
                        <a:t>Operating income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Operating income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(EBIT yrs 1-5)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r>
                        <a:t>Operating margin %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OI / revenue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EBIT / revenue (Scenarios col C)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r>
                        <a:t>Net income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Net income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(net income bridge)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r>
                        <a:t>Diluted EPS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Diluted EPS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Net income / diluted shares ($750M/yr buybacks)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to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7,941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8,310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8,697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6304">
                <a:tc>
                  <a:txBody>
                    <a:bodyPr wrap="square"/>
                    <a:lstStyle/>
                    <a:p>
                      <a:r>
                        <a:t>Line item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Hist source (22-25)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Forecast Source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Cash &amp; equivalents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(cash roll-forward)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r>
                        <a:t>Inventories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Inventories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(NWC schedule)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r>
                        <a:t>Total assets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Total assets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(balance sheet)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r>
                        <a:t>Total liabilities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Total liabilities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(balance sheet)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r>
                        <a:t>Total equity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Total equity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(balance sheet)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r>
                        <a:t>Funded debt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Long-term debt ($0)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Model assumption, $0 (no term debt)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1,086M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1,086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70688">
                <a:tc>
                  <a:txBody>
                    <a:bodyPr wrap="square"/>
                    <a:lstStyle/>
                    <a:p>
                      <a:r>
                        <a:t>Line item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Hist source (22-25)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Forecast Source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</a:tr>
              <a:tr h="170688">
                <a:tc>
                  <a:txBody>
                    <a:bodyPr wrap="square"/>
                    <a:lstStyle/>
                    <a:p>
                      <a:r>
                        <a:t>Cash from operations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Operating activities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(CFO bridge)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 wrap="square"/>
                    <a:lstStyle/>
                    <a:p>
                      <a:r>
                        <a:t>D&amp;A (add-back)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Depreciation &amp; amortization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(D&amp;A yrs 1-5)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70688">
                <a:tc>
                  <a:txBody>
                    <a:bodyPr wrap="square"/>
                    <a:lstStyle/>
                    <a:p>
                      <a:r>
                        <a:t>Capital expenditures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Capital expenditures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(capex yrs 1-5)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 wrap="square"/>
                    <a:lstStyle/>
                    <a:p>
                      <a:r>
                        <a:t>Free cash flow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CFO - capex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(FCF bridge)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70688">
                <a:tc>
                  <a:txBody>
                    <a:bodyPr wrap="square"/>
                    <a:lstStyle/>
                    <a:p>
                      <a:r>
                        <a:t>Share repurchases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Repurchases (financing)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($750M/yr buybacks)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WACC tab (col E) · 10-K cap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19456">
                <a:tc>
                  <a:txBody>
                    <a:bodyPr/>
                    <a:lstStyle/>
                    <a:p>
                      <a: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858768"/>
            <a:ext cx="55321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C · implied price $133.52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· SOTP FY30E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$133.52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$133.52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C (Gordon growth). Bear $55.90 / bull $202.17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SOTP · 10-K geo mix ·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$133.52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$133.52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C):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C + DCF · base WACC 9.0% g 2.25%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C)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13632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3675887"/>
          <a:ext cx="5486400" cy="493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164592">
                <a:tc>
                  <a:txBody>
                    <a:bodyPr/>
                    <a:lstStyle/>
                    <a:p>
                      <a: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3,930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14,862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14,871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$133.52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4334256"/>
            <a:ext cx="5486400" cy="62179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01091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212080"/>
          <a:ext cx="11292840" cy="4754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95097">
                <a:tc>
                  <a:txBody>
                    <a:bodyPr/>
                    <a:lstStyle/>
                    <a:p>
                      <a:r>
                        <a:t>WACC vs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5097">
                <a:tc>
                  <a:txBody>
                    <a:bodyPr wrap="square"/>
                    <a:lstStyle/>
                    <a:p>
                      <a: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5097">
                <a:tc>
                  <a:txBody>
                    <a:bodyPr wrap="square"/>
                    <a:lstStyle/>
                    <a:p>
                      <a: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5097">
                <a:tc>
                  <a:txBody>
                    <a:bodyPr wrap="square"/>
                    <a:lstStyle/>
                    <a:p>
                      <a: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5097">
                <a:tc>
                  <a:txBody>
                    <a:bodyPr wrap="square"/>
                    <a:lstStyle/>
                    <a:p>
                      <a: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5097">
                <a:tc>
                  <a:txBody>
                    <a:bodyPr wrap="square"/>
                    <a:lstStyle/>
                    <a:p>
                      <a:r>
                        <a:t>11.5%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PitchBook comps 04-Sep-2026 · LULU_DCF_Valuation_Model.xlsx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$133.52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IR, Bloomberg, BusinessWire (precedent context 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256032">
                <a:tc>
                  <a:txBody>
                    <a:bodyPr/>
                    <a:lstStyle/>
                    <a:p>
                      <a: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18688"/>
            <a:ext cx="690372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3218688"/>
            <a:ext cx="4160520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850" b="1" i="0">
                <a:solidFill>
                  <a:srgbClr val="1F2A44"/>
                </a:solidFill>
                <a:latin typeface="Garamond"/>
                <a:cs typeface="Garamond"/>
              </a:rPr>
              <a:t>DCF base: $133.52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