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29"/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65760"/>
            <a:ext cx="1234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 i="0">
                <a:solidFill>
                  <a:srgbClr val="FFFFFF"/>
                </a:solidFill>
                <a:latin typeface="Garamond"/>
                <a:cs typeface="Garamond"/>
              </a:rPr>
              <a:t>GIS</a:t>
            </a:r>
          </a:p>
        </p:txBody>
      </p:sp>
      <p:sp>
        <p:nvSpPr>
          <p:cNvPr id="4" name="Rectangle 3"/>
          <p:cNvSpPr/>
          <p:nvPr/>
        </p:nvSpPr>
        <p:spPr>
          <a:xfrm>
            <a:off x="1874519" y="438912"/>
            <a:ext cx="18288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011680" y="402336"/>
            <a:ext cx="2148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0">
                <a:solidFill>
                  <a:srgbClr val="FFFFFF"/>
                </a:solidFill>
                <a:latin typeface="Garamond"/>
                <a:cs typeface="Garamond"/>
              </a:rPr>
              <a:t>Global</a:t>
            </a:r>
          </a:p>
          <a:p>
            <a:r>
              <a:rPr sz="1100" b="0" i="0">
                <a:solidFill>
                  <a:srgbClr val="FFFFFF"/>
                </a:solidFill>
                <a:latin typeface="Garamond"/>
                <a:cs typeface="Garamond"/>
              </a:rPr>
              <a:t>Investment</a:t>
            </a:r>
          </a:p>
          <a:p>
            <a:r>
              <a:rPr sz="1100" b="0" i="0">
                <a:solidFill>
                  <a:srgbClr val="FFFFFF"/>
                </a:solidFill>
                <a:latin typeface="Garamond"/>
                <a:cs typeface="Garamond"/>
              </a:rPr>
              <a:t>Society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31720"/>
            <a:ext cx="1036015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Garamond"/>
                <a:cs typeface="Garamond"/>
              </a:rPr>
              <a:t>lululemon athletica inc. (NASDAQ: LULU)</a:t>
            </a:r>
          </a:p>
          <a:p>
            <a:pPr algn="ctr">
              <a:spcBef>
                <a:spcPts val="1000"/>
              </a:spcBef>
            </a:pPr>
            <a:r>
              <a:rPr sz="2200" b="0" i="0">
                <a:solidFill>
                  <a:srgbClr val="FFFFFF"/>
                </a:solidFill>
                <a:latin typeface="Garamond"/>
                <a:cs typeface="Garamond"/>
              </a:rPr>
              <a:t>LONG / OVERWEIGHT</a:t>
            </a:r>
          </a:p>
          <a:p>
            <a:pPr algn="ctr">
              <a:spcBef>
                <a:spcPts val="1400"/>
              </a:spcBef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Current Price: $100.61</a:t>
            </a:r>
          </a:p>
          <a:p>
            <a:pPr algn="ctr">
              <a:spcBef>
                <a:spcPts val="400"/>
              </a:spcBef>
            </a:pPr>
            <a:r>
              <a:rPr sz="1700" b="0" i="0">
                <a:solidFill>
                  <a:srgbClr val="FFFFFF"/>
                </a:solidFill>
                <a:latin typeface="Garamond"/>
                <a:cs typeface="Garamond"/>
              </a:rPr>
              <a:t>Price Target: $140 (+39% Upside)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806440"/>
            <a:ext cx="7772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Research Division</a:t>
            </a:r>
          </a:p>
          <a:p>
            <a:pPr>
              <a:spcBef>
                <a:spcPts val="400"/>
              </a:spcBef>
            </a:pPr>
            <a:r>
              <a:rPr sz="950" b="0" i="1">
                <a:solidFill>
                  <a:srgbClr val="FFFFFF"/>
                </a:solidFill>
                <a:latin typeface="Garamond"/>
                <a:cs typeface="Garamond"/>
              </a:rPr>
              <a:t>Content slides can be added / removed depending on the investment opportunity (PM discretion).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6144768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Garamond"/>
                <a:cs typeface="Garamond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4517136"/>
              </a:tblGrid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marL="50800" marR="50800" marT="12700" marB="12700">
                    <a:solidFill>
                      <a:srgbClr val="1F2A44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marL="50800" marR="50800" marT="12700" marB="12700">
                    <a:solidFill>
                      <a:srgbClr val="F0F1F3"/>
                    </a:solidFill>
                  </a:tcPr>
                </a:tc>
              </a:tr>
              <a:tr h="393192">
                <a:tc>
                  <a:txBody>
                    <a:bodyPr wrap="none" anchor="ctr">
                      <a:noAutofit/>
                    </a:bodyPr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  <a:tc>
                  <a:txBody>
                    <a:bodyPr wrap="none" anchor="ctr">
                      <a:noAutofit/>
                    </a:bodyPr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marL="50800" marR="50800" marT="12700" marB="127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$133.52.5M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7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 · Hist: 10-K · Forecast: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WACC tab (col E) · 10-K cap stack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62356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62356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62356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858768"/>
            <a:ext cx="56235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371600"/>
            <a:ext cx="548640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263640" y="1426464"/>
          <a:ext cx="5486400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48640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3785615"/>
            <a:ext cx="548640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623560" cy="65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263640" y="4809744"/>
          <a:ext cx="5486400" cy="987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· SOTP FY30E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SOTP · 10-K geo mix · Scenarios col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· base WACC 9.0% g 2.25%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C)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$133.52.5M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353312"/>
            <a:ext cx="5486400" cy="251460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4187952"/>
            <a:ext cx="5486400" cy="84124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0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g.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6459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PitchBook comps 04-Sep-2026 · LULU_DCF_Valuation_Model.xlsx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non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IR, Bloomberg, BusinessWire (precedent context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0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401568"/>
            <a:ext cx="6903720" cy="2148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8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3401568"/>
            <a:ext cx="4160520" cy="21488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85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23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16.0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GIS IR LULU</dc:title>
  <dc:subject/>
  <dc:creator>Christian Gardner</dc:creator>
  <cp:keywords/>
  <dc:description/>
  <cp:lastModifiedBy>Christian Gardner</cp:lastModifiedBy>
  <cp:revision>1</cp:revision>
  <dcterms:created xsi:type="dcterms:W3CDTF">2026-09-10T20:45:16Z</dcterms:created>
  <dcterms:modified xsi:type="dcterms:W3CDTF">2026-09-10T20:45:16Z</dcterms:modified>
  <cp:category/>
</cp:coreProperties>
</file>