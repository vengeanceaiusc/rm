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 &amp; bull operating forecast — all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base = Scenarios col G (3-statement); bull = Scenarios col H. Historicals per FY2025 10-K. Each row uses the same metric definition across periods.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Reported figures from Forms 10-K; FY2025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Revenue $8,111M → $11,103M; OM peaked 23.7% (FY24); EPS $6.68 → $13.26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Share count 128.0M → 119.1M via buybacks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1417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(G) vs bull (H)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Base: FY26 10,425M rev / 14.5% OM → FY30 11,418M / 15.5%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Bull: FY26 10,658M (−4% guide) → FY30 13,456M; OM 15.8% → 19.0%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Bull EPS $10.89 → $19.14 (DCF implied price $202)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578608"/>
          <a:ext cx="11292828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10,658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11,298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11,976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12,694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13,456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6,886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7,299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7,737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2,006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15.6%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9.55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10.89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9.65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11.88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10.66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16.39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19.14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92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8C8C8C"/>
                </a:solidFill>
                <a:latin typeface="Garamond"/>
                <a:cs typeface="Garamond"/>
              </a:rPr>
              <a:t>22–25 = FY2022–25 historical; 26B/26U = FY2026 base (G) / bull (H); same for 27–30. Bear in Appendix.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 &amp; bull funded growth — all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base = Scenarios col G (3-statement); bull = Scenarios col H. Historicals per FY2025 10-K. Each row uses the same metric definition across periods.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No funded debt; FY25 cash $1,807M; total assets $8,457M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Net-cash balance sheet underpins downside at ~10x earnings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Lease-backed ROU assets ~$1.6B — not traditional debt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1417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vs bull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Base cash 2,470M → 4,864M ($500M/yr buybacks)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Bull cash 2,142M → 3,639M (75% FCF to buybacks)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Bull BS scaled from base WC drivers at bull revenue; cash from FCF waterfall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578608"/>
          <a:ext cx="11292828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2,985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4,180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3,639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1,538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1,927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8,892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9,091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9,584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10,153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10,343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11,354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12,704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12,067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14,221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3,764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3,507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3,989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5,738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6,231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6,601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6,914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7,590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7,663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8,716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8,481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9,995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373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92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8C8C8C"/>
                </a:solidFill>
                <a:latin typeface="Garamond"/>
                <a:cs typeface="Garamond"/>
              </a:rPr>
              <a:t>Same BS line items as 10-K. Bull cash = FY25 cash + cumulative (FCF + buybacks).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 — historical 10-K vs base &amp; bull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base = Scenarios col G (3-statement); bull = Scenarios col H. Historicals per FY2025 10-K. Each row uses the same metric definition across periods.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FY25 CFO $1,603M; capex ($681M) → ~$922M FCF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Buybacks ($1,178M) FY25 are CFF — reported on 10-K, not in DCF UFCF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FCF = CFO − capex; same operating definition as forecast rows above buybacks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1417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vs bull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FCF (DCF input): base $1,163M → $1,184M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Bull FCF $1,340M → $1,779M (Scenarios col H)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50" b="0" i="0">
                <a:solidFill>
                  <a:srgbClr val="FFFFFF"/>
                </a:solidFill>
                <a:latin typeface="Garamond"/>
                <a:cs typeface="Garamond"/>
              </a:rPr>
              <a:t>Buybacks below = 3-statement CFF only; DCF IV uses basic 111.4M shares (no retirements)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578608"/>
          <a:ext cx="11292828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2,385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606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(480)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(606)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1,015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1,232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1,077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(1,005)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(923)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(1,048)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(1,185)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(1,335)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92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8C8C8C"/>
                </a:solidFill>
                <a:latin typeface="Garamond"/>
                <a:cs typeface="Garamond"/>
              </a:rPr>
              <a:t>FCF rows tie to DCF unlevered FCF. Share repurchases are financing (CFF) — shown for 10-K / 3-statement comparability and cash bridge; they do not change DCF implied price (basic share count).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lease-adjusted capital structure drives a ~9.0%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Market EV at ~$100 is ~$9.3B (~3.5× FY25 EBITDA); intrinsic DCF enterprise value is ~$15B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We relever Yahoo 5Y β (0.86) at FY25 ASC 842 lease debt ÷ market cap (~0.16 D/E) → β used ≈ 0.84. Damodaran Retail β (0.95) is shown for reference only.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Beta (relevered; lease adj.)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0.84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9.9%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Lease-debt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14%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86%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9.0%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95165" y="2240280"/>
            <a:ext cx="275956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3016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5125" y="2926080"/>
            <a:ext cx="6604855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8268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Gordon DCF of $134,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~$134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3,944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10,933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14,876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14,885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PitchBook pubcomps are the current tape; Alo still has no EV/EBITDA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PitchBook Comps Set 04-Sep-2026 (EV/EBITDA = daily EV / TTM EBITDA); Alo ask $10bn / Forbes ~$2bn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11,890,440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2,548,084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58,972,350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4,647,000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35,661,944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3,857,684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10,555,510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1,329,439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 (CROX)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7,153,911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922,278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 (LEVI)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9,422,753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976,700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 (KTB)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5,236,269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407,521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PitchBook core mean (ex-UAA, ex-WSM/MOV/LZB) is the current athletic/apparel tape. UAA has negative EBITDA so it is out of the average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(~7.4x FY30 EBITDA at base WACC/g). A 2.25% g year is not today’s NKE 12.7x or WSM 15.4x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still n.a. Implied 5.0x is EV/Sales on an unclosed $10bn ask — not in this PitchBook set and not the TV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