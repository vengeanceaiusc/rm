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Financials — capital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Sum of the parts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DCF valuation (base case)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21.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revenue · Fcst: Scenarios!G25:G29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Gross profit · Fcst: Scenarios!G25:G29 × Scenarios!G30:G34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Operating income · Fcst: Scenarios!G45:G49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OI ÷ revenue · Fcst: 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income · Fcst: Scenarios!G143:G147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Diluted EPS · Fcst: Scenarios!G183:G187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Cash · Fcst: Scenarios!G163:G167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Inventories · Fcst: Scenarios!G80:G84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assets · Fcst: Scenarios!G168:G172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liabilities · Fcst: Scenarios!G173:G177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equity · Fcst: Scenarios!G178:G182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Debt ($0) · Fcst: Model — $0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 —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· Fcst: Scenarios!G148:G152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D&amp;A · Fcst: Scenarios!G55:G59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Capex · Fcst: Scenarios!G60:G64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− capex · Fcst: Scenarios!G153:G157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Buybacks · Fcst: Scenarios!G158:G162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 —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493008"/>
            <a:ext cx="5532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 — implied share-price ranges by methodology (base case DCF; bear/bull in appendix)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32912" y="2734056"/>
            <a:ext cx="1277031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1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2228" y="3392424"/>
            <a:ext cx="7315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70658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2082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 —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${_d(V['bear'])} / bull ${_d(V['bull'])} bracket scenarios are in the appendix.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valued separately on FY30E base-case revenue — illustrative EV/EBITDA ranges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5.0x–6.5x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6,658–8,655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7.0x–9.0x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2,463–3,167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6.0x–8.0x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1,667–2,222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FF band 5.0–8.0x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10,788–14,045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$97–$126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 —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EV/EBITDA ranges anchor to DCF Comps football-field band (5.0–8.0x FY30E) with segment premium/discount — not separate peer prints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 5.0–6.5x (mature / near trough); China 7.0–9.0x (growth); RoW 6.0–8.0x (mid-band)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is the primary anchor; SOTP triangulates geographic optionality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$97–$126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 — SOTP uses terminal-year EBITDA; DCF discounts explicit FCF + Gordon TV.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 — Gordon growth &amp; exit-multiple terminal value reconcile to $134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tab; bear/bull scenarios in 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EV/EBITDA (Gordon implied)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— TWO APPROACHES (IDENTICAL IN MODEL)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(Gordon identity, not peer 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Exit 7.4x = Gordon identity on FY30 EBITDA $2,284M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We do not average PitchBook comps for TV. Bear/bull WACC &amp; g brackets are in the appendix.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