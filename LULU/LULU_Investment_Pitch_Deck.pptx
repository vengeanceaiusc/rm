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What you will be focusing on during this pitch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4791455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07008"/>
          <a:ext cx="5504688" cy="47183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"/>
                <a:gridCol w="5120640"/>
              </a:tblGrid>
              <a:tr h="393191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Table of Contents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Situation Overview and Current Investment Setup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Narrative and Analyst Sentiment Surrounding the Stock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Summary and Target Price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Geographic Segments and Revenue Breakdown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Business Model Unit Economics and Competitive Moats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Trends and Structure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Barriers to Entry and Profitability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  Partial Margin Recovery &amp; Brand Loyalty Floor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20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III: Geographic Growth Divergence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17920" y="1207008"/>
          <a:ext cx="5504688" cy="47183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"/>
                <a:gridCol w="5120640"/>
              </a:tblGrid>
              <a:tr h="393191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 &amp; Mitigants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Timeline of Recovery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Income Statement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Balance Sheet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Cash Flow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Capital Structure &amp; WACC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Valuation Summary (Football Field)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Sum of the Parts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Valuation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Comps Analysis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20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Precedent Transactions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Situation Overview and Current Investment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why this investment opportunity exists and the historical financial context driving the current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recent guidance cut triggered a massive cyclical panic pushing Lululemon down to roughly 100 dollars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Despite historically compounding double digit growth the market capitulated over a guidance cut of 5 to 7 percent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still retains durable cash flows with clean run rate operating margins of 13.2 percent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TIKR LULU Stock Crashed 17%: https://www.tikr.com/blog/lululemon-stock-crashed-17-on-friday-the-guidance-cut-was-the-real-story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Guidance Release: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Model: LULUMODEL18.xlsx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Market Narrative and Analyst Sentiment Surrounding the Stock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current market sentiment and exactly what analysts are saying about the recent guidance cut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Morgan Stanley issued a highly pessimistic forecast after management aggressively cut 2026 revenue guidance to 10.35 billion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Analysts are paralyzed by cyclical fears as the consensus price target was slashed from 176 dollars to 136 dollars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Firms like BTIG maintain neutral ratings due to short-term turbulence but ignore the durable competitive advantage we see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MarketBeat: Morgan Stanley Issues Pessimistic Forecast for lululemon athletica: https://www.marketbeat.com/instant-alerts/analyst-morgan-stanley-issues-pessimistic-forecast-for-lululemon-athletica-nasdaq-lulu-stock-price-2026-09-04/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Simply Wall St: lululemon athletica Stock Analysis: https://simplywall.st/stocks/us/consumer-durables/nasdaq-lulu/lululemon-athletica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GuruFocus: LULU Reiterates by BTIG - Rating Maintained at Neutral: https://www.gurufocus.com/news/9068272/lulu-reiterates-by-btig-rating-maintained-at-neutral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 and Target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our actual 133 dollar base case target price and the three core pillars supporting our overweight recommendation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Our discounted cash flow valuation generates a base case implied share price of 133.64 dollars representing a 33.6 percent upside from current levels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first pillar is profitability because adjusting out the tariff refunds reveals LULU still maintains a highly resilient 13.2 percent clean run-rate operating margin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second pillar is our mathematically sound 9.0 percent WACC which strictly bounds our 2.3 percent long-term revenue growth assumption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Finally international expansion remains the crucial growth engine as 4 percent growth in China Mainland easily offsets the temporary North American stagnation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(Base Case Implied Value): LULUMODEL18_3.xlsx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Earnings Release (13.2% Margin Calc):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(WACC &amp; Revenue Drivers): LULUMODEL18_3.xlsx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Lululemon Q2 FY2026 Earnings Release (International Growth): https://corporate.lululemon.com/~/media/Files/L/Lululemon/investors/results-center/q2-2026-financial-supplement.pdf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Geographic Segments and Revenue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Lululemon's geographic segments and revenue breakdown while detailing why China growth offsets temporary US declines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generated 11.1 billion dollars in total revenue with Americas contributing 7.85 billion dollars or 70.68 percent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Americas comparable sales fell 3 percent due to temporary cyclical macro pressure rather than structural brand degradation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Mainland surged 20 percent to 1.75 billion dollars proving high growth international expansion easily offsets US temporary weakness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Lululemon FY2025 Form 10-K (Segment Revenue and Percentages):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FY2025 Form 10-K (Americas Comparable Sales):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(China Mainland Growth &amp; Revenue Driver): LULUMODEL18.xlsx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Business Model Unit Economics and Competitive Moats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analyzes Lululemon's unit economics and competitive moats that protect its long-term market leadership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sustains a 56.6 percent gross margin providing a massive competitive moat against retail price competition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E-commerce unit economics remain elite with direct-to-consumer EBIT margins hitting 23.6 percent without retail occupancy drag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Company-operated stores generate 1,426 dollars per square foot and an 18.6 percent EBIT margin establishing high capital efficiency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(Gross Margin): LULUMODEL18_6.xlsx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Provided Valuation Model (E-commerce EBIT Margin Driver): LULUMODEL18_6.xlsx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(Store EBIT Margin &amp; SPSF): LULUMODEL18_6.xlsx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Industry Overview - Trends and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explores the ongoing athleisure industry trends including market fragmentation and the barriers to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I argue the global athleisure market remains highly fragmented meaning most players lack a durable competitive advantage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premium segment maintains high barriers to entry protecting global champions from temporary cyclical noise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mathematically proves its moat by generating a 30.25 percent ROE far outpacing the 6.81 percent industry median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Market.us Media (Athleisure Market Fragmentation): https://media.market.us/athleisure-industry-statistics/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Fortune Business Insights (Premium Athleisure Trends): https://www.fortunebusinessinsights.com/athleisure-market-110642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FinanceCharts (Lululemon ROE &amp; Retail Median): https://www.financecharts.com/stocks/LULU/growth/roe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Industry Overview - Barriers to Entry and Profitability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dissects capital efficiency metrics comparing Lululemon's gross margin directly against legacy apparel competitors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commands a 56.6 percent gross margin far exceeding traditional athletic apparel peers like Nike and Under Armour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Nike struggles to maintain a 43 percent margin while Under Armour hovers around 46 percent reflecting their wholesale dependence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Lululemon's direct-to-consumer scale prevents this structural margin compression and forms an impenetrable economic moat against industry price wars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(Gross Margin Assumptions): LULUMODEL18.xlsx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Investing.com (Nike &amp; Under Armour Historical Gross Margins): https://www.investing.com/pro/NYSE:NKE/explorer/gp_margin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ProAnalyst LULU Market Report (Competitor Margins &amp; DTC Moat): https://lulu.proanalyst.ai/business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the core contrarian investment thesis utilizing numerical evidence from the LULUMODEL18.xlsx file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2026 price drop exceeding 50% has left Lululemon critically undervalued despite durable cash flows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Its premium Direct-to-Consumer revenue mix protects a massive 54.9% adjusted gross margin, mathematically justifying my intrinsic valuation thesis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Furthermore, even with Americas growth stagnating, sheer cash flow generation creates a robust intrinsic valuation buffer, where a conservative 2.25% terminal growth rate still yields over 30% upside to our $133.64 target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https://everythingmoney.com/blog/lululemon-is-collapsing-burry-s-biggest-bet-4334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DCF Terminal Value &amp; Valuation Summary Schedule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Investment Thesis II  Partial Margin Recovery &amp; Brand Loyalty Floor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details how partial margin recovery supported by core brand loyalty still drives a highly compelling 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Historical pandemic-era peak EBIT margins reached 23.7% in FY24 showing prior peak earnings power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Our valuation assumes a floor built on resilient baseline brand loyalty, proving Lululemon does not need to remain the hottest viral trend 100% of the time to sustain a 13.2% trough margin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 modest partial recovery to just 15.5% EBIT margin by FY30 still yields $133.64 per share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This proves returning to peak COVID profitability is completely unnecessary to unlock substantial market upside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 / SEC EDGAR Form 10-K (FY24 Peak Margins)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Clean Run-Rate EBIT Margin &amp; Brand Royalty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Base Case DCF Valuation Summary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LULUMODEL18.xlsx, Discounted Cash Flow Valuation Summary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III: Geographic Growth Divergence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examines how Lululemon's top-line projections rely disproportionately on Chinese market expansion to conceal domestic North American stagnation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revenue build reveals Americas facing near-term contraction with -4.0% comps in FY26 flatlining at a terminal 2.0% growth rate by FY30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To offset this domestic anchor, the model relies entirely on disproportionate FY26-FY30 Chinese footprint expansion, averaging 16 new stores annually versus just 6 domestically, and sustained double-digit (10.2% average) comp growth to overcome clear Americas expansion drawbacks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Consequently, if the Chinese consumer softens, this model's core top-line projections will not be optimal enough to meet our target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Americas FY26-FY30 Comparable Sales Growth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FY26 Store Openings &amp; Mainland China Revenue Build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Revenue Drivers Schedule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evaluates core downside risks and demonstrates how share repurchases compound EPS to drive share price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deceleration risks a $56.00 bear floor, but $45.64 cumulative cash per share recovers 45% of entry price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Slashed CapEx saves $360M annually by relying on online e-commerce's 23.6% EBIT margin plus $101.5M inventory releases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Deploying $750M annually into buybacks retires 32.9 million shares, compounding EPS to $14.57 to support our target price of $133.64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Bear Case DCF Valuation Summary / https://www.barrons.com/articles/lululemon-stock-earnings-guidance-a7a7c5c0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CapEx &amp; E-Commerce Channel EBIT Assumptions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Share Repurchase &amp; EPS Accretion Schedule / https://corporate.lululemon.com/newsroom/press-releases/2026/09-03-2026-210528733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Timeline of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/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2026 (Q3 FY2026 Trough)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170432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Q3 FY2026 revenue laps guidance trough while China Double 11 sales confirm holiday store traffic floor stabilization across key markets [1]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80844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(FY2026 Year-End)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2180844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First full-year reset absorbs steep prior declines while $134.5M tariff refunds and targeted SG&amp;A cost actions protect earnings per share [2]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91256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(FY2027 Margin Inflection)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3191256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Operating margins expand to 13.8% (+60 bps) as promotional headwinds anniversary, while $750M annual buybacks compound EPS to $10.09 to boost sentiment [3]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01668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2028 (FY2027-FY2028 Multiple Re-Rating)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4201668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Accelerating international store scaling (+12% China comps) offsets Americas softness (-4%), driving overall revenue recovery and valuation re-rating toward $133.64 [4]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LULUMODEL18.xlsx, Scenarios &amp; Revenue Drivers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LULUMODEL18.xlsx, NOPAT Bridge &amp; Scenarios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LULUMODEL18.xlsx, Scenarios &amp; Unlevered Free Cash Flow Schedule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LULUMODEL18.xlsx, Revenue Drivers &amp; DCF Valuation Summary / https://stockanalysis.com/stocks/lulu/forecast/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Forecast: LULU_DCF_Valuation_Model.xlsx, Scenarios col G. EPS = NI ÷ diluted shares after $750M/yr repurchases (DCF $134 still uses 111.4M day-one basic shares).  Hist = 10-K. Forecast (26-30) = DCF Scenarios pitch-bridge block, col G (base case only). Per-row model refs shown under line items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to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to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to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to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to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to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to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to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to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to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to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FY26 $9.76 to FY30 $14.57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5,901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9.76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11.42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(Revenue yr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Scenarios!G25:G29 × Scenarios!G30:G34 (rev × GM%)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(EBIT yr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OI ÷ revenue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Scenarios!G45:G49 ÷ Scenarios!G25:G29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Scenarios!G143:G147 (pitch bridge NI)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 ÷ buyback-adjusted shares ($750M/yr; Scenarios!G188:G192)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BS forecast: cash roll-forward includes $750M/yr buybacks; equity scales with revenue (buyback-driven equity reduction shown via CF / IS share count, not TE line).  Hist = 10-K. Forecast (26-30) = DCF Scenarios pitch-bridge block, col G (base case only). Per-row model refs shown under line items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to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to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to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to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to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FY22-FY25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2,143M to FY30 3,247M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to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7,691M to FY30 7,447M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to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to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2,143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2,567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2,874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3,247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1,681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7,691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7,560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7,502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7,447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3,594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4,659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4,766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4,876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Scenarios!G163:G167 (pitch bridge cash roll-forward)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Scenarios!G80:G84 (NWC schedule)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Scenarios!G168:G172 (FY25 TA × rev growth)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Scenarios!G173:G177 (FY25 TL × rev growth)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Scenarios!G178:G182 (FY25 TE × rev growth)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Long-term debt ($0)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Model assumption, $0 (no term debt)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financing: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Buybacks: $750M/yr fixed (Scenarios col G). Cash roll-forward = prior cash + FCF − buybacks.  Hist = 10-K. Forecast (26-30) = DCF Scenarios pitch-bridge block, col G (base case only). Per-row model refs shown under line items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to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to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to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to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to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1,087M to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(750) to FY30 (750)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1,087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931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993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 (CFF)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4478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Fcst source, Scenarios col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Operating activities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Scenarios!G148:G152 (pitch bridge CFO)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Depreciation &amp; amortization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Scenarios!G55:G59 (D&amp;A yr 1-5)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Scenarios!G60:G64 (Capex yr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CFO − capex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Scenarios!G153:G157 (pitch bridge FCF/CFS)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Repurchases (financing)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Scenarios!G158:G162 (G21=$750M/yr fixed)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build: lease-adjusted; no funded term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Cap stack &amp; WACC: LULU_DCF_Valuation_Model.xlsx, WACC tab (col E). Cash/leases: FY2025 10-K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48640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CAPITAL STACK (US$ 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133856"/>
            <a:ext cx="562356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353312"/>
          <a:ext cx="5532118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weight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 (price × shares)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11,138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 (term loans / bonds)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capital (WACC basis)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12,936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615184"/>
            <a:ext cx="553212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EV BRIDGE (NOT IN WACC WEIGHTS)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816352"/>
          <a:ext cx="5532118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Note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Added back in EV, equity bridge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 (leases − cash)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Near net-cash; leases in WACC above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3767328"/>
            <a:ext cx="55321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No funded bank debt; ASC 842 store leases are the only debt equivalent (~14% WACC weight). Cash $1,807M exceeds lease debt, net-cash on a funded-debt basis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371600"/>
            <a:ext cx="5623560" cy="3227832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426464"/>
          <a:ext cx="5468112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04872"/>
              </a:tblGrid>
              <a:tr h="225552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 (10-yr UST)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4.80%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30.00%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(relevered; lease adj.)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Cost of equity (CAPM)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9.86%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 (lease-equivalent)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3.50%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 / 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63640" y="3547872"/>
            <a:ext cx="534924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262626"/>
                </a:solidFill>
                <a:latin typeface="Garamond"/>
                <a:cs typeface="Garamond"/>
              </a:rPr>
              <a:t>β: Yahoo βL 0.86 to unlevered 0.76 @ D/E 0.19 to relever 0.84 @ lease D/E 0.16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785615"/>
            <a:ext cx="5623560" cy="7680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Garamond"/>
                <a:cs typeface="Garamond"/>
              </a:rPr>
              <a:t>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Base-case discount rate: Scenarios col G · implied price $134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26864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MODEL SOURCE MAP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4809744"/>
          <a:ext cx="553212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337560"/>
              </a:tblGrid>
              <a:tr h="94052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Cap stack 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WACC!E11 (FY25 10-K)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6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EV bridge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199632" y="4809744"/>
          <a:ext cx="5468112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73552"/>
              </a:tblGrid>
              <a:tr h="98755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WACC!E39 / WACC!E40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7">
                <a:tc>
                  <a:txBody>
                    <a:bodyPr wrap="square"/>
                    <a:lstStyle/>
                    <a:p>
                      <a:pPr algn="l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WACC!E41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Football field: implied share-price ranges by methodology (base case DCF)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Comps / football field tab; geographic SOTP on FY30E base revenue mix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5018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6418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6797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8197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8576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39976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399032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P / E (10-18x FY2026E)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876" y="1417320"/>
            <a:ext cx="3390739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1676" y="1417320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7904" y="1417320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057400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EV / EBITDA (5.0-8.0x FY30E)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01694" y="2075688"/>
            <a:ext cx="268617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44494" y="2075688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06153" y="2075688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715768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Geographic SOTP (FY30E; Gordon anchor)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82406" y="2734056"/>
            <a:ext cx="79264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25206" y="2734056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93334" y="2734056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374136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Unlevered DCF (base / Gordon g)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48512" y="3429000"/>
            <a:ext cx="38100" cy="3108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8180" y="3191256"/>
            <a:ext cx="76809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032504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5018" y="4050791"/>
            <a:ext cx="554848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7818" y="4050791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31789" y="4050791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65018" y="1325880"/>
            <a:ext cx="25400" cy="38862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026442" y="1325880"/>
            <a:ext cx="25400" cy="38862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16378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6362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596128"/>
            <a:ext cx="11292840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12-month target $140 sits above base-case DCF $134 and inside the comps/SOTP ranges: a partial re-rating, not a return to peak multiples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262626"/>
                </a:solidFill>
                <a:latin typeface="Garamond"/>
                <a:cs typeface="Garamond"/>
              </a:rPr>
              <a:t>DCF row = Scenarios col G (Gordon growth). Bear $56 / bull $202 bracket scenario range from the model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Sum of the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Geographic segments on FY30E base revenue: EV/EBITDA spreads vs Gordon-implied exit (7.4x)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Segment revenue: FY2025 10-K geography; FY30E scaled to base-case consolidated revenue (Scenarios col 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865376"/>
                <a:gridCol w="1865376"/>
                <a:gridCol w="1865376"/>
                <a:gridCol w="1865376"/>
                <a:gridCol w="1865376"/>
              </a:tblGrid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 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Americas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8,070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6.4x-7.1x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9,924-11,010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China Mainland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7.9x-9.4x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3,238-3,852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Rest of World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7.1x-8.1x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2,297-2,621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segment EV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6.8x-7.7x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15,459-17,483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Corporate / HQ (no separate carve-out)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 Cash / − lease debt (EV bridge)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+1,807 / −1,798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Implied equity value / share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$139-$157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05072"/>
            <a:ext cx="7132320" cy="1691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Single-brand retailer: geography is the cleanest SOTP cut (Americas / China / RoW per 10-K)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FY30E segment revenue = FY25 geo mix × base-case consolidated FY30 revenue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Segment EV/EBITDA spreads anchor to Gordon-implied exit 7.4x (selected DCF TV identity: not the 5-8x comps football-field band)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Americas: Gordon − 1.0x to − 0.25x (mature); China: +0.5x to +2.0x (growth); RoW: −0.25x to +0.75x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Consolidated base-case DCF $134 uses Gordon growth (g=2.25%); SOTP is terminal-year EBITDA triangulation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4005072"/>
            <a:ext cx="3977639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SOTP vs DCF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SOTP range: $139-$157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DCF: $134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Overlap is expected: SOTP applies FY30 EBITDA multiples; DCF discounts explicit FCF + Gordon growth TV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Base-case unlevered DCF (Scenarios col G): Gordon growth terminal value; 7.4x is implied exit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Scenarios col G + DCF tab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66928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BASE-CASE ASSUMPTIONS (SCENARIOS COL G)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53312"/>
          <a:ext cx="56235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23160"/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FY2026 revenue growth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FY2027-30 revenue growth (avg)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+2.3%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Clean EBIT margin (FY26 run-rate)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EBIT margin (FY2030E)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FY26 tariff refunds (one-time)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$134.5M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tax rate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 (g)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Gordon-implied exit EV/EBITDA (identity)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950208"/>
            <a:ext cx="562356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TERMINAL VALUE | GORDON GROWTH (SELECTED)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4187952"/>
          <a:ext cx="5623560" cy="841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1965960"/>
                <a:gridCol w="1965960"/>
              </a:tblGrid>
              <a:tr h="28041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Method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Formula /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 TV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 growth (selected)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FCF₅ × (1+g) / (WACC−g); g=2.25%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Exit multiple (identity check)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 EBITDA × 7.4x = Gordon TV ÷ EBITDA (same number)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1234440"/>
            <a:ext cx="5486400" cy="23317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explicit FCF (FY26-FY30)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3,944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10,933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14,876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1,807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Less: lease debt (ASC 842)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(1,798)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14,885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111.4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1E7A3C"/>
                </a:solidFill>
                <a:latin typeface="Garamond"/>
                <a:cs typeface="Garamond"/>
              </a:rPr>
              <a:t>Implied value:  $134 / share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703320"/>
            <a:ext cx="5486400" cy="1143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Garamond"/>
                <a:cs typeface="Garamond"/>
              </a:rPr>
              <a:t>TV = 73% of EV  ·  7.4x = Gordon TV ÷ FY30 EBITDA $2,284M (not a peer pick)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Selected TV is Gordon growth (g). The 7.4x exit multiple is the identity check (TV ÷ FY30 EBITDA), not a peer average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102352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SENSITIVITY | IMPLIED SHARE PRICE (WACC vs TERMINAL g)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5303520"/>
          <a:ext cx="676656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70432"/>
                <a:gridCol w="1170432"/>
                <a:gridCol w="1170432"/>
                <a:gridCol w="1170432"/>
                <a:gridCol w="1170432"/>
              </a:tblGrid>
              <a:tr h="19751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\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975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406640" y="5303520"/>
            <a:ext cx="4343400" cy="9875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Base-case cell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WACC 9.0% × g 2.25% gives $134. Grid brackets ±100bps WACC and 1.5-3.0% 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Implied LULU valuation from PitchBook core athletic / apparel set (04-Sep-2026)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PitchBook Comps Set 04-Sep-2026 (EV, TTM EBITDA); revenue/EBIT from company filings; forward P/E from consensus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658368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COMPARABLE COMPANIES | TRADING MULTIPLES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35024"/>
          <a:ext cx="66294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00150"/>
                <a:gridCol w="1200150"/>
                <a:gridCol w="1200150"/>
                <a:gridCol w="1200150"/>
              </a:tblGrid>
              <a:tr h="243840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1.27x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15.9x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2.47x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1.74x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2.01x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Core median (ex-LULU)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@ $100 (current)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69480" y="1133856"/>
            <a:ext cx="457200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IMPLIED LULU VALUATION (CORE PEER MEDIAN)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69480" y="1335024"/>
          <a:ext cx="46177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173480"/>
                <a:gridCol w="1173480"/>
                <a:gridCol w="1173480"/>
              </a:tblGrid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Metric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Peer med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LULU base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Implied px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$10,425M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$119-$231 (med $153)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EBITDA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$2,707M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$190-$311 (med $229)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$2,211M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$155-$369 (med $311)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 / 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$9.61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$99-$183 (med $158)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3584448"/>
            <a:ext cx="461772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262626"/>
                </a:solidFill>
                <a:latin typeface="Garamond"/>
                <a:cs typeface="Garamond"/>
              </a:rPr>
              <a:t>Implied EV = peer median × LULU base (cols 2-3); P/E = median × EPS (no EV). EV + cash − lease debt ÷ shares = equity/sh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096512"/>
            <a:ext cx="112928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Peer benchmark methodology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Core peer set (NKE, ADS, DECK, CROX, LEVI, KTB) evaluates relative valuation using PitchBook data (04-Sep-2026). Implied equity = peer median × LULU base, EV, then + cash − ASC 842 lease debt ÷ shares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Multiples confirm severe undervaluation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LULU trades at 1.07x EV/Revenue, 4.7x EV/EBITDA (PitchBook TTM), and 10.4x forward P/E vs core peer medians of 1.63x EV/Revenue, 9.4x EV/EBITDA, and 16.5x P/E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DCF terminal valuation discount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Base-case DCF uses Gordon growth g = 2.25%, implying 7.4x FY30 EV/EBITDA exit multiple: well below the 9.4x peer median (right table uses TTM EBITDA)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Conservative target price re-rating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Our $134 base-case DCF and $140 12-month target (+6 vs DCF, ~4% above model fair value) reflect undervaluation with only a modest re-rating: not Nike-level multiples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Precedent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Private-market context for athleisure M&amp;A: not used to imply a control premium on LULU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Wolverine IR/SEC (Sweaty Betty); Bloomberg (Gymshark); BusinessWire/Reuters (Vuori); Reuters/Forbes (Alo)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170432"/>
          <a:ext cx="11292834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645919"/>
                <a:gridCol w="1645919"/>
                <a:gridCol w="1645919"/>
                <a:gridCol w="1645919"/>
                <a:gridCol w="1645919"/>
                <a:gridCol w="1645919"/>
              </a:tblGrid>
              <a:tr h="32766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Target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Year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Type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Status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Sweaty Betty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acquisition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Aug-2021; ~16x FY21E EBITDA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Gymshark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Minority growth round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Aug-2020; $1.3bn EV (minority)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Vuori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Growth investment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4,000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Oct-2021; $4bn post-money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(Color Image)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 sale process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10,000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Unclosed; no deal per Reuters Jun-2026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(public @ $100)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Public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11,129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Trading comps only (not a premium benchmark)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246120"/>
            <a:ext cx="7178040" cy="2331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Private precedent framework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Non-Alo private transactions establish a contextual floor of what strategics and PE pay for premium athleisure. They do not imply a control premium on LULU's public stock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Closed M&amp;A benchmark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Wolverine paid $410M (~16x EBITDA, ~1.6x sales) for Sweaty Betty (2021), a concrete operating-company precedent for women's DTC activewear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Growth capital rounds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Gymshark ($1.3B implied EV, 2020 minority stake) and Vuori ($4B post-money, 2021) show institutional demand and realistic baselines for premium DTC brands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Excluded unclosed process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Alo's ~$10B ask (~5.0x EV/Sales) is LULU's closest yoga peer, but unclosed private asks cannot dictate actual public equity valuation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3246120"/>
            <a:ext cx="3977639" cy="2148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stack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base: $134  |  Target: $140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00" b="1" i="0">
                <a:solidFill>
                  <a:srgbClr val="262626"/>
                </a:solidFill>
                <a:latin typeface="Garamond"/>
                <a:cs typeface="Garamond"/>
              </a:rPr>
              <a:t>Comps median EV/EBITDA 9.4x implies ~$229/sh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>
                <a:solidFill>
                  <a:srgbClr val="262626"/>
                </a:solidFill>
                <a:latin typeface="Garamond"/>
                <a:cs typeface="Garamond"/>
              </a:rPr>
              <a:t>Reasonably assumed ceiling from peer EV/EBITDA re-rating. Not our price target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