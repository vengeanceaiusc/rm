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398678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70432"/>
            <a:ext cx="11292840" cy="418795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Deploying $500M annually into buybacks retires 18.7 million shares, compounding EPS to $13.36 to support our target price of $133.64 [3]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75% UFCF buybacks compound EPS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 → Scenarios col G. EPS = NI ÷ diluted shares after $500M/yr repurchases (DCF $134 still uses 111.4M day-one basic shares).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→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→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→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→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→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FY26 $9.55 → FY30 $12.93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($500M/yr; Scenarios!G188:G192)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$500M/yr buybacks; equity scales with revenue (buyback-driven equity reduction shown via CF / IS share count, not TE line).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2,393M → FY30 4,497M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→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→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→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→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82157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82157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8216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$500M/yr fixed (Scenarios col G). Cash roll-forward = prior cash + FCF − buybacks.  Hist = 10-K. Forecast (26-30) = DCF Scenarios pitch-bridge block, col G (base case only). Per-row model refs shown under line items.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→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→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→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→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(500) → FY30 (500)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413248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(G21=$500M/yr fixed)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 → WACC tab (col E). Cash/leases: FY2025 10-K.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 → equity bridge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657600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 → net-cash on a funded-debt basis.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520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→ unlevered 0.76 @ D/E 0.19 →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4041648"/>
            <a:ext cx="5623560" cy="80467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 →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8523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5468112"/>
          <a:ext cx="112928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9098280"/>
              </a:tblGrid>
              <a:tr h="58293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58293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960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→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103120"/>
                <a:gridCol w="21031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1947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12064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12064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→ $134. Grid brackets ±100bps WACC and 1.5-3.0% 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med.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 → EV, then + cash − ASC 842 lease debt ÷ shares.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→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