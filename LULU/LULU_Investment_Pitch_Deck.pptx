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decline.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Financial roadmap (table of contents)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 &amp; investment setup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 &amp; analyst sentiment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Investment thesis summary &amp; target price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Geographic segments &amp; revenue breakdown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 | trends &amp;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Industry overview | barriers &amp; profitability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Investment thesis I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Investment thesis II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Investment thesis III | geographic 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Catalyst timeline (recovery)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|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|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|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Financials |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Precedent transactions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Overarching financial roadmap for the Lululemon investment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we analyze the recent cyclical selloff to ~$100 and why this price action demands a market re-evaluation.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Next we dissect the NOPAT bridge and revenue drivers to expose durable cash flows hidden beneath headline noise.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Then we evaluate our mathematically sound ~9% WACC and DCF scenarios, which justify our overweight thesis.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 we review our football-field valuation and comparable analysis, implying a substantial margin of safety for investors.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TIKR LULU Stock Crashed 17%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Lululemon Q2 FY2026 Financial Supplement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&amp;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Why this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panic, pushing Lululemon down to roughly $100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double-digit growth, the market capitulated over a guidance cut of 5% to 7%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run-rate operating margins of 13.2%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TIKR LULU Stock Crashed 17%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/ Supplement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&amp; Analyst Sentiment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Current market sentiment and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cut FY2026 revenue guidance to ~$10.35B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fears; consensus price targets were slashed from ~$176 to ~$136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underweight the durable competitive advantage we see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Morgan Stanley pessimistic forecast (MarketBeat)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Simply Wall St LULU stock analysis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BTIG neutral reiteration (GuruFocus)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&amp;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DCF $134 (34.0% upside) and three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329184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 CASE DCF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+34.0%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51560"/>
            <a:ext cx="329184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12-MONTH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OVERWEIGHT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051560"/>
            <a:ext cx="4343400" cy="12344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WACC (base case)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Garamond"/>
                <a:cs typeface="Garamond"/>
              </a:rPr>
              <a:t>9.0%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Bounds 2.3% LT revenue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11292840" cy="2971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base-case implied share price of $134.00, representing 34.0% upside from current levels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Profitability: adjusting out tariff refunds reveals LULU still maintains a highly resilient 13.2% clean run-rate operating margin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9.0% WACC strictly bounds our 2.3% long-term revenue growth assumption in the model [3].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expansion remains the crucial growth engine; China Mainland growth offsets temporary North American stagnation [4].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valuation model (base-case implied value)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Lululemon Q2 FY2026 supplement (13.2% margin calc)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 (WACC &amp; revenue drivers)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[4] Lululemon Q2 FY2026 supplement (international growth)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Segments &amp;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Why China growth offsets temporary US declines in the revenue mix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generated $11.1B in total revenue; Americas contributed $7.85B, or 70.7% of sales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3% due to temporary cyclical macro pressure rather than structural brand degradation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China Mainland surged 20% to $1.75B, proving high-growth international expansion can offset US temporary weakness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Lululemon FY2025 segment revenue (10-K / supplement)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Americas comparable sales (10-K)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 (China Mainland growth)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Model, Unit Economics &amp;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Unit economics and competitive moats that protect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sustains a 56.6% gross margin, providing a massive competitive moat against retail price competition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elite, with direct-to-consumer EBIT margins hitting 23.6% without retail occupancy drag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$1,426 per square foot and an 18.6% EBIT margin, establishing high capital efficiency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valuation model (gross margin)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GIS valuation model (e-commerce EBIT margin)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 (store EBIT margin &amp; SPSF)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| Trends &amp;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Athleisure industry trends including market fragmentation and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fragmented; most players lack a durable competitive advantage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entry, protecting global champions from temporary cyclical noise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proves its moat by generating ~30% ROE, far outpacing the ~7% industry median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Market.us athleisure industry statistics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Fortune Business Insights premium athleisure trends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FinanceCharts LULU ROE vs retail median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https://www.financecharts.com/stocks/LULU/growth/roe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| Barriers to Entry &amp;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Capital efficiency metrics comparing Lululemon gross margin to legacy apparel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commands a 56.6% gross margin, far exceeding traditional athletic apparel peers like Nike and Under Armour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~43% margin while Under Armour hovers around ~46%, reflecting wholesale dependence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structural margin compression and forms an economic moat against industry price wars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valuation model (gross margin assumptions)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Investing.com Nike gross margin explorer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https://lulu.proanalyst.ai/business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Numerical evidence supporting intrinsic value at trough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20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The 2026 price drop exceeding 50% has left Lululemon critically undervalued despite durable cash flows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Premium direct-to-consumer revenue mix protects a ~55% adjusted gross margin, supporting our intrinsic valuation thesis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Long-term lease obligations of ~$1.8B against $8.5B+ in total assets provide strategic flexibility alongside net-cash funded debt [3].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vs a 5-year history of ~20–30x earnings [1].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EV / EBITDA:  ~3.5x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FY2026E P/E:  ~10.4x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Bear case:  $56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Everything Money / Burry LULU commentary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GuruFocus long-term debt &amp; lease obligations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https://www.gurufocus.com/term/long-term-debt-and-capital-lease-obligation/LULU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How modest margin recovery from peak COVID levels still drives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20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Peak FY2024 EBIT margin reached 23.7%; our model assumes a permanent reset, not a full recovery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FY2024, showing prior peak earnings power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model conservatively assumes margins reset to a 13.2% run-rate trough in FY2026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15.5% EBIT margin by FY2030 still yields $134.00 per share [3].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Returning to peak COVID profitability is unnecessary to unlock substantial market upside [4].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MARGIN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FY2024 peak OM:  23.7%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FY2026E trough:  13.2%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FY2030E terminal:  15.5%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px:  $134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FY2024 10-K (SEC) / GIS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https://www.sec.gov/ix?doc=/Archives/edgar/data/0001397187/000139718724000013/lulu-20240128.htm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GIS model clean run-rate EBIT assumptions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model base-case DCF 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[4] GIS model DCF valuation 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How top-line projections rely on Chinese expansion to offset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20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Americas contraction vs China acceleration is the central revenue tension in our model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faces near-term contraction with negative comps in FY2026, flatlining toward ~2% terminal growth by FY2030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Model projections rely on FY2026 store openings skewing to China (+20) vs Americas (+8), plus aggressive China comp growth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If the Chinese consumer softens, the model's core top-line projections will break [3].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GEO REVENUE MIX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Americas:  ~71% FY25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China:  +20% FY25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FY26 store adds:  CN &gt; US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Key risk:  China decel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model Americas FY26–FY30 comp assumptions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GIS model FY26 store openings &amp; China revenue build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model revenue drivers schedule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Core downside risks and how buybacks compound EPS to support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53312"/>
            <a:ext cx="544068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China deceleration risks a $56 bear floor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353312"/>
            <a:ext cx="56692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Cumulative cash per share and net-cash balance recover a large portion of entry price even in bear case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06624"/>
            <a:ext cx="544068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CapEx and inventory normalization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706624"/>
            <a:ext cx="56692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Lower CapEx and e-commerce's 23.6% EBIT margin plus working-capital releases support FCF [2]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59935"/>
            <a:ext cx="544068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Share repurchases compound 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4059935"/>
            <a:ext cx="56692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majority of UFCF into buybacks retires shares and supports EPS accretion toward $134 fair value [3]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4068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bear-case DCF / Barron's guidance cut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GIS CapEx &amp; e-commerce EBIT assumptions / Q2 release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share repurchase &amp; EPS accretion schedule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Timeline of recovery events that close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88036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25880"/>
            <a:ext cx="8275320" cy="1051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store-traffic stabilization across key markets.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96312"/>
            <a:ext cx="288036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496312"/>
            <a:ext cx="8275320" cy="1051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tariff refunds and targeted SG&amp;A cost actions protect earnings per share.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66744"/>
            <a:ext cx="288036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666744"/>
            <a:ext cx="8275320" cy="1051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toward 13.8% (+60 bps) as promotional headwinds anniversary; buybacks compound EPS to boost sentiment.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37176"/>
            <a:ext cx="288036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2028 (FY2027–FY2028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4837176"/>
            <a:ext cx="8275320" cy="1051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offsets Americas softness, driving revenue recovery and valuation re-rating toward $134.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7092" y="3392424"/>
            <a:ext cx="640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