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Macro × micro overlap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Thesis III — Elite economics &amp; capital return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Risks &amp; mitigants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Financials — capital structure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Sum of the parts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DCF valuation (base case)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20. Comps analysis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21. Precedent transactions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22.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low-single-digit growth (~2.3% FY27–30 in our model)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(~15.2% reported in our IS).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$134; bear $56 (−44%) vs bull $202 (+102%)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Macro × Micro Overlap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discretionary macro air pocket collided with an Americas-specific slowdown — the stock prices both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FY2025 10-K (SEC EDGAR); Q2 FY2026 release (Sep 3, 2026); FRED GDPC1 (Aug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Macro (external)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Real GDP still grows ~2.1% y/y (FRED GDPC1 Q2’26 vs Q2’25) — not recession, but selective spending away from premium discretionary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Inflation and economic uncertainty weighed on Americas store traffic (10-K) — macro consumer caution shows up in micro footfall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Tariff regime: Q2 recognized $134.5M IEEPA refunds (+560 bps GM) while new tariff layers remain an overhang on sourcing costs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Athleisure competition intensifying at macro category level (Nike/adidas incumbents + Alo/Vuori/On challengers)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Micro (company-specific)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Americas comps: −3% FY2025 → −12% in Q2 FY2026; China +20% FY2025 but −6% in Q2 as the base scales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811 stores (+44 net FY2025) at ~$1,426/sq ft — still opening doors while mature-region comps turn negative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FY2026 guide: first annual revenue decline (−5% to −7%) and EPS $9.48–$9.73; Q3 guide −10% to −11%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Clean run-rate EBIT margin ~13.2% (Q2 18.8% OM minus 560 bps tariff boost) — investors who miss this overstate sustainable margin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051560"/>
            <a:ext cx="5486400" cy="5029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OVERLAP — WHY $100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Macro weakness maps onto LULU’s largest profit pool: Americas ~71% of FY25 revenue (10-K: 70.7%)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Tariff is simultaneously macro policy and micro P&amp;L — Q2 optics mask run-rate margin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The de-rating blends macro fear with a micro guide miss; both are largely in the price at ~10x FY26E EPS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Our edge: underwrite trough economics (13.2% → 15.5% OM), not a return to 30x earnings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International micro growth (China/RoW) is the bridge — but needs macro stability, not a free option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9.0%, terminal growth 2.25%, terminal EBIT margin 15.5%) is in the model — bear is ~$56; downside is cushioned by net cash and FCF yield, not because bear brackets $100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low-single-digit revenue growth (~2.3% FY27–30)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$10,910M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$11,418M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 —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→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→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→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→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→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→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→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→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→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→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→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FY26 $9776.90 → FY30 $11279.95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Net revenue · Fcst: Scenarios!G25:G29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Gross profit · Fcst: Scenarios!G25:G29 × Scenarios!G30:G34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Operating income · Fcst: Scenarios!G45:G49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OI ÷ revenue · Fcst: 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Net income · Fcst: Scenarios!G143:G147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6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Diluted EPS · Fcst: Scenarios!G183:G187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9776.90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9484.51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10059.72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10657.96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11279.95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OI ÷ revenue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Scenarios!G183:G187 (pitch bridge EPS)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All forecast lines: LULU_DCF_Valuation_Model.xlsx → Scenarios tab → pitch deck bridge block (col G).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 —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→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→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→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→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→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FY22–FY25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2,393M → FY30 4,497M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→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→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→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→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Cash · Fcst: Scenarios!G163:G167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Inventories · Fcst: Scenarios!G80:G84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assets · Fcst: Scenarios!G168:G172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liabilities · Fcst: Scenarios!G173:G177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equity · Fcst: Scenarios!G178:G182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6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Debt ($0) · Fcst: Model — $0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Long-term debt ($0)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 — $0 (no term debt)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BS forecast: Scenarios pitch bridge (cash waterfall + FY25 BS × revenue growth), col 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 —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→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→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→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→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→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→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(500) → FY30 (500)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CFO · Fcst: Scenarios!G148:G152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D&amp;A · Fcst: Scenarios!G55:G59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Capex · Fcst: Scenarios!G60:G64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CFO − capex · Fcst: Scenarios!G153:G157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Buybacks · Fcst: Scenarios!G158:G162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Operating activities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Depreciation &amp; amortization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1–5)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CFO − capex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Repurchases (financing)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(G21=$500M/yr fixed)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Buybacks: col G = $500M/yr fixed (Scenarios assumptions).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 —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 → WACC tab (col E). Cash/leases: FY2025 10-K.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5486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005840"/>
            <a:ext cx="56235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61872"/>
          <a:ext cx="5532118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51760"/>
            <a:ext cx="55321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52928"/>
          <a:ext cx="553211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18897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8897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 → equity bridge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8897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493008"/>
            <a:ext cx="5532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 → net-cash on a funded-debt basis.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5623560" cy="3657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298448"/>
          <a:ext cx="5468112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84448"/>
            <a:ext cx="53492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→ unlevered 0.76 @ D/E 0.19 →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041648"/>
            <a:ext cx="5623560" cy="80467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 →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28523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5468112"/>
          <a:ext cx="112928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98280"/>
              </a:tblGrid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Cash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 — implied share-price ranges by methodology (base case DCF; bear/bull in appendix)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(5.0–8.0x FY30E)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62228" y="3392424"/>
            <a:ext cx="7315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70658" y="5321808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2082" y="5321808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 — a partial re-rating, not a return to peak multiples.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${_d(V['bear'])} / bull ${_d(V['bull'])} bracket scenarios are in the appendix.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 —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6.4x–7.1x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9,924–11,010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7.9x–9.4x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3,238–3,852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7.1x–8.1x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2,297–2,621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6.8x–7.7x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15,459–17,483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$139–$157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 —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 — not the 5–8x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$139–$157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 — SOTP applies FY30 EBITDA multiples; DCF discounts explicit FCF + Gordon growth TV.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 —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Scenarios col G + DCF tab; bear/bull scenarios in 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56692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61872"/>
          <a:ext cx="562356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FY2027–30 revenue growth (avg)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—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03120"/>
                <a:gridCol w="210312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56048"/>
            <a:ext cx="112928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166360"/>
          <a:ext cx="676656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166360"/>
            <a:ext cx="434340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→ $134. Grid brackets ±100bps WACC and 1.5–3.0% 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65836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—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66294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005840"/>
            <a:ext cx="4572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207008"/>
          <a:ext cx="4617717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127759"/>
                <a:gridCol w="1127759"/>
                <a:gridCol w="1127759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med.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$119–$231 (med $153)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$190–$311 (med $229)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$155–$369 (med $311)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$99–$183 (med $158)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3657600"/>
            <a:ext cx="112928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 &amp; read-through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Point of the slide: LULU trades at a deep discount — 4.7x EV/EBITDA @ $100 vs 9.4x core median (~50% below peers on TTM EBITDA)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We apply peer-medians to LULU bases for implied price ranges (right table) — triangulating partial re-rating to $140, not DCF terminal value or M&amp;A premium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set: NKE, ADS, DECK, CROX, LEVI, KTB (+ LULU benchmark row) — PitchBook EV / TTM EBITDA (04-Sep-2026); LULU multiples @ model price $100 / FY26E EPS $9.61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EV/Revenue on FY2026E; EV/EBITDA 4.7x = PitchBook TTM tape (Sep-2026); EV/EBIT &amp; P/E @ model price $100 / FY26E EPS $9.61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Also cheap on P/E: 10.4x vs 16.5x median; DCF base $134 uses Gordon growth TV (~7.4x FY30 identity, not this ~9x peer tape)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 —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51560"/>
          <a:ext cx="1129284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15440"/>
                <a:gridCol w="1615440"/>
                <a:gridCol w="1615440"/>
                <a:gridCol w="1615440"/>
                <a:gridCol w="1615440"/>
                <a:gridCol w="1615440"/>
              </a:tblGrid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 — ~16x FY21E EBITDA; women's premium activewear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 — $1.3bn implied EV; minority stake, not control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 — $4bn post-money; revenue not disclosed (~140% YoY grow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— Reuters Jun-2026: no deal announced; IPO or sale still explor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1242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— not a premium benchmark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063240"/>
            <a:ext cx="1129284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How we use (and do not use) private precedents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Private precedents inform what strategics/PE may pay for premium athleisure assets. We do not derive a control premium from an unclosed ask vs LULU's public trading multiple. Valuation anchors remain DCF and public comps (prior slide).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Closed M&amp;A: Sweaty Betty (2021) — Wolverine paid $410M (~16x FY21E EBITDA, ~1.6x sales) for premium women's DTC activewear; closest operating-company precedent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Private growth rounds: Gymshark ($1.3bn implied EV, 2020 minority stake) and Vuori ($4bn post-money, 2021) show strategics/PE pay up for high-growth DTC athleisure — minority/valuation markers, not LULU control comps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Unclosed process: Alo ~$10bn ask (~5.0x EV/Sales on Forbes ~$2bn sales) — illustrates private-brand heat; we do not apply as a control premium on LULU's public multiple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Valuation anchors remain DCF + public comps (slide 20); precedents support the category-consolidation narrative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5074920"/>
            <a:ext cx="3977639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stack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Comps median EV/EBITDA 9.4x → ~$229/sh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$56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−44%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11.0%;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$134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+34%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9.0%;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$202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+102%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$131 — the risk/reward skews decisively to the upside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Yoga: Reuters 2023 Moelis ask ~$10bn (no deal announced, Reuters 2026) and Forbes Color Image sales nearly $2bn. No page prints EV/EBITDA; implied 5.0x is EV/Sales, not the FY30 exit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