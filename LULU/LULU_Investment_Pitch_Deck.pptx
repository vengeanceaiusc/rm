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lululemon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LULU, NKE, ADS, DECK, CROX, LEVI, KTB — PitchBook daily EV / TTM EBITDA (04-Sep-2026); revenue &amp; EBIT from latest company filings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EV/Revenue on FY2026E revenue; EV/EBITDA &amp; EV/EBIT on FY2025 (TTM anchor); P/E on FY2026E EPS ($9.61 mid-guide) — then EV → equity via cash &amp; ASC 842 leases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 and 10.4x forward P/E vs core medians 1.63x / 16.5x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DCF terminal value uses Gordon growth (g = 2.25%) — the ~7.4x exit multiple is FY30 EBITDA × identity check only, not the peer median (~9x EV/EBITDA)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$134 sits between comps-implied ranges; target $140 = partial re-rating toward peer medians, not full NKE multiple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Reuters (Oct-2023 Moelis process; Jun-2026 update); Forbes Color Image sales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5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92807"/>
                <a:gridCol w="1892807"/>
                <a:gridCol w="1892807"/>
                <a:gridCol w="1892807"/>
                <a:gridCol w="1892807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EV/Revenue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explored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2606040"/>
            <a:ext cx="1129284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Alo Yoga (Color Image): 2023 Moelis sale process at ~$10bn ask on ~$2bn Forbes-est. parent sales → ~5.0x EV/Revenue. No EBITDA print; process unclosed (Reuters Jun-2026)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Valid use: shows strategics/PE will pay up for high-growth private athleisure at scale — supports the competitive-threat and category-consolidation narrative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Not valid use: we do not apply Alo’s 5.0x ask as a control premium on LULU’s 1.07x public EV/Revenue — different liquidity, scale, profitability, and an unclosed ask vs a traded stock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closed take-private precedent at LULU’s scale; implied valuation and $140 target come from DCF + public comps (slide 20), not private ask multiples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