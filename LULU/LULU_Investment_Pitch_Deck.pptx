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you will be focusing on during this pitch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Table of Contents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Situation Overview and Current Investment Setup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Narrative and Analyst Sentiment Surrounding the Stock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Summary and Target Price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Geographic Segments and Revenue Breakdown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Business Model Unit Economics and Competitive Moats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Trends and Structure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Barriers to Entry and Profitability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  Partial Margin Recovery &amp; Brand Loyalty Floor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III: Geographic Growth Divergence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 &amp; Mitigants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Timeline of Recovery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Income Statement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Balance Sheet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Cash Flow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Capital Structure &amp; 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Valuation Summary (Football Field)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Sum of the Parts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Valuation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Comps Analysis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Precedent Transactions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Model: LULUMODEL18.xlsx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$133.64 intrinsic DCF fair value, our $140 twelve-month target price,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Our base-case DCF yields an intrinsic fair value of $133.64 per share (+33.6% upside), supporting our 12-month target price of $140.00 as market multiples modestly re-rate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adjusting out the tariff refunds reveals LULU still maintains a highly resilient 13.2 percent clean run-rate operating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Finally, international expansion remains the crucial growth engine, as China Mainland reached $1.75 billion in FY25 segment revenue on +20% comparable sales growth, with forward +10-12% same-store comps (FY26-FY27) and ~16 annual gross store openings offsetting near-term North American stagnation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(Base Case Implied Value):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Earnings Release (13.2% Margin Calc):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(WACC &amp; Revenue Drivers):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Mainland reached 1.75 billion dollars in segment revenue on +20% FY25 comparable sales growth, proving high-growth international expansion easily offsets US temporary weakness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(China Mainland Growth &amp; Revenue Driver): LULUMODEL18.xlsx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Provided Valuation Model (E-commerce EBIT Margin Driver):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(Store EBIT Margin &amp; SPSF): LULUMODEL18_6.xlsx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 argue the global athleisure market remains highly fragmented meaning most players lack a durable competitive advantage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 Assumptions): LULUMODEL18.xlsx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LULUMODEL18.xlsx 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justifying my intrinsic valuation thesis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$133.64 target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 13.2% trough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$133.64 per share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assumes FY26-FY30 China footprint expansion averaging 16 gross store openings annually versus 6 in Americas, plus 10.2% average same-store comp growth (14% to 7% FY26-FY30) on existing doors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$56.00 bear floor, but $45.64 cumulative cash per share recovers 45% of entry price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Slashed CapEx saves $360M annually by relying on online e-commerce's 23.6% EBIT margin plus $101.5M inventory releases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Deploying $750M annually into buybacks retires 32.9 million shares, compounding EPS to $14.57, more than enough to recover our $133.64 DCF-implied share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CapEx &amp; E-Commerce Channel EBIT Assumptions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$134.5M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$750M annual buybacks compound EPS to $10.09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2028 (FY2027-FY2028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China adds ~17 net stores in FY27 while +12% FY27 and +10% FY28 same-store comps offset Americas -4% FY26 comps, driving re-rating toward $133.64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Forecast: LULU_DCF_Valuation_Model.xlsx, Scenarios col G. EPS = NI ÷ diluted shares after $750M/yr repurchases (DCF $134 still uses 111.4M day-one basic shares).  Hist = 10-K. Forecast (26-30) = DCF Scenarios pitch-bridge block, col G (base case only). Per-row model refs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to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to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to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to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to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to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to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to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to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to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to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FY26 $9.76 to FY30 $14.57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11.42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(Revenue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× Scenarios!G30:G34 (rev × GM%)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(EBIT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÷ revenue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÷ Scenarios!G25:G29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Scenarios!G143:G147 (pitch bridge NI)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 ÷ buyback-adjusted shares ($750M/yr; Scenarios!G188:G192)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BS forecast: cash roll-forward includes $750M/yr buybacks; equity scales with revenue (buyback-driven equity reduction shown via CF / IS share count, not TE line).  Hist = 10-K. Forecast (26-30) = DCF Scenarios pitch-bridge block, col G (base case only). Per-row model refs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to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to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to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to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to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2,143M to FY30 3,247M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to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7,691M to FY30 7,447M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to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to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2,567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2,874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7,691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7,560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7,502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7,447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Scenarios!G163:G167 (pitch bridge cash roll-forward)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Scenarios!G80:G84 (NWC schedule)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Scenarios!G168:G172 (FY25 TA × rev growth)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Scenarios!G173:G177 (FY25 TL × rev growth)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Scenarios!G178:G182 (FY25 TE × rev growth)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Buybacks: $750M/yr fixed (Scenarios col G). Cash roll-forward = prior cash + FCF − buybacks.  Hist = 10-K. Forecast (26-30) = DCF Scenarios pitch-bridge block, col G (base case only). Per-row model refs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to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to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to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to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to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to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(750) to FY30 (750)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Scenarios!G148:G152 (pitch bridge CFO)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Scenarios!G55:G59 (D&amp;A yr 1-5)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Scenarios!G60:G64 (Capex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− capex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Scenarios!G153:G157 (pitch bridge FCF/CFS)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Scenarios!G158:G162 (G21=$750M/yr fixed)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LULU_DCF_Valuation_Model.xlsx, WACC tab (col E). Cash/leases: FY2025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53211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53212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EV, equity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767328"/>
            <a:ext cx="5532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debt, net-cash on a funded-debt basis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623560" cy="3227832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26464"/>
          <a:ext cx="5468112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34924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to unlevered 0.76 @ D/E 0.19 to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785615"/>
            <a:ext cx="5623560" cy="7680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rate: Scenarios col G · implied price $134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26864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4809744"/>
          <a:ext cx="553212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37560"/>
              </a:tblGrid>
              <a:tr h="94052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Cap stack 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6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199632" y="4809744"/>
          <a:ext cx="5468112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73552"/>
              </a:tblGrid>
              <a:tr h="98755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7"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$134 and inside the comps/SOTP ranges: a partial re-rating, not a return to peak multiples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$56 / bull $202 bracket scenario range from the model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6.4x-7.1x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9,924-11,010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7.9x-9.4x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3,238-3,852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7.1x-8.1x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2,297-2,621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6.8x-7.7x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15,459-17,483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$139-$157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$134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Scenarios col G + DCF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6928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FY2027-30 revenue growth (avg)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841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965960"/>
                <a:gridCol w="1965960"/>
              </a:tblGrid>
              <a:tr h="28041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(FY26-FY30)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3,944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14,876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14,885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0235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303520"/>
          <a:ext cx="676656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9751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303520"/>
            <a:ext cx="4343400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gives $134. Grid brackets ±100bps WACC and 1.5-3.0% 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$119-$231 (med $153)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$190-$311 (med $229)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$155-$369 (med $311)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$99-$183 (med $158)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base, EV, then + cash − ASC 842 lease debt ÷ shares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$134 base-case DCF and $140 12-month target (+6 vs DCF, ~4% above model fair value) reflect undervaluation with only a modest re-rating: not Nike-level multiples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2766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46120"/>
            <a:ext cx="7178040" cy="2331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246120"/>
            <a:ext cx="3977639" cy="12344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anchors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$134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262626"/>
                </a:solidFill>
                <a:latin typeface="Garamond"/>
                <a:cs typeface="Garamond"/>
              </a:rPr>
              <a:t>Private precedents inform strategic context only; public comps on the prior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