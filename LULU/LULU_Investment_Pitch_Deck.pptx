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331720"/>
            <a:ext cx="12191695" cy="54864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3977639"/>
            <a:ext cx="12191695" cy="54864"/>
          </a:xfrm>
          <a:prstGeom prst="rect">
            <a:avLst/>
          </a:prstGeom>
          <a:solidFill>
            <a:srgbClr val="99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640080"/>
            <a:ext cx="10515600" cy="12801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2000" b="1" i="0">
                <a:solidFill>
                  <a:srgbClr val="FFC72C"/>
                </a:solidFill>
                <a:latin typeface="Garamond"/>
                <a:cs typeface="Garamond"/>
              </a:rPr>
              <a:t>GLOBAL INVESTMENT SOCIETY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500" b="0" i="0">
                <a:solidFill>
                  <a:srgbClr val="FFFFFF"/>
                </a:solidFill>
                <a:latin typeface="Garamond"/>
                <a:cs typeface="Garamond"/>
              </a:rPr>
              <a:t>Investment Research Division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468880"/>
            <a:ext cx="10515600" cy="14630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4000" b="1" i="0">
                <a:solidFill>
                  <a:srgbClr val="FFFFFF"/>
                </a:solidFill>
                <a:latin typeface="Garamond"/>
                <a:cs typeface="Garamond"/>
              </a:rPr>
              <a:t>lululemon athletica inc.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2000" b="1" i="0">
                <a:solidFill>
                  <a:srgbClr val="FFC72C"/>
                </a:solidFill>
                <a:latin typeface="Garamond"/>
                <a:cs typeface="Garamond"/>
              </a:rPr>
              <a:t>NASDAQ: LULU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206240"/>
            <a:ext cx="10607040" cy="20116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  <a:buNone/>
            </a:pPr>
            <a:r>
              <a:rPr sz="2200" b="1" i="0">
                <a:solidFill>
                  <a:srgbClr val="FFC72C"/>
                </a:solidFill>
                <a:latin typeface="Garamond"/>
                <a:cs typeface="Garamond"/>
              </a:rPr>
              <a:t>Recommendation:  OVERWEIGHT / LONG</a:t>
            </a:r>
          </a:p>
          <a:p>
            <a:pPr algn="l">
              <a:spcBef>
                <a:spcPts val="0"/>
              </a:spcBef>
              <a:spcAft>
                <a:spcPts val="600"/>
              </a:spcAft>
              <a:buNone/>
            </a:pPr>
            <a:r>
              <a:rPr sz="1700" b="0" i="0">
                <a:solidFill>
                  <a:srgbClr val="FFFFFF"/>
                </a:solidFill>
                <a:latin typeface="Garamond"/>
                <a:cs typeface="Garamond"/>
              </a:rPr>
              <a:t>Current price:  $100.00        Price target:  $140  (+40% upside)</a:t>
            </a:r>
          </a:p>
          <a:p>
            <a:pPr algn="l">
              <a:spcBef>
                <a:spcPts val="0"/>
              </a:spcBef>
              <a:spcAft>
                <a:spcPts val="1000"/>
              </a:spcAft>
              <a:buNone/>
            </a:pPr>
            <a:r>
              <a:rPr sz="1350" b="0" i="1">
                <a:solidFill>
                  <a:srgbClr val="CFD6E4"/>
                </a:solidFill>
                <a:latin typeface="Garamond"/>
                <a:cs typeface="Garamond"/>
              </a:rPr>
              <a:t>A net-cash, high-margin brand priced for terminal decline. We see a cyclical trough, not a broken business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0" i="0">
                <a:solidFill>
                  <a:srgbClr val="8C8C8C"/>
                </a:solidFill>
                <a:latin typeface="Garamond"/>
                <a:cs typeface="Garamond"/>
              </a:rPr>
              <a:t>September 2026        Prepared for the GIS IR selection process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594360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0" y="201168"/>
            <a:ext cx="630936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0" bIns="0" rIns="762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Table of Contents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66928"/>
            <a:ext cx="1138428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This slide outlines the table of contents detailing the overarching financial roadmap for my Lululemon investment pitch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89611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1384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>
                <a:solidFill>
                  <a:srgbClr val="8C8C8C"/>
                </a:solidFill>
                <a:latin typeface="Garamond"/>
                <a:cs typeface="Garamond"/>
              </a:rPr>
              <a:t>Source: company SEC filings (Form 10-K, CIK 0001397187)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510528"/>
            <a:ext cx="8229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051560"/>
            <a:ext cx="11292840" cy="42519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First we will analyze the recent cyclical selloff to 100 dollars and why this price action demands a market re-evaluation. Next we dissect the NOPAT bridge and revenue drivers to expose durable cash flows hidden beneath headline noise. Then we evaluate our mathematically sound 9 percent WACC and DCF scenarios which justify my overweight thesis. Finally we review our football field valuation and comparable analysis implying a massive margin of safety for investors.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5532120"/>
            <a:ext cx="11292840" cy="9601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900" b="1" i="0">
                <a:solidFill>
                  <a:srgbClr val="990000"/>
                </a:solidFill>
                <a:latin typeface="Garamond"/>
                <a:cs typeface="Garamond"/>
              </a:rPr>
              <a:t>Links &amp; Sources</a:t>
            </a:r>
          </a:p>
          <a:p>
            <a:pPr algn="l" indent="-152400" marL="177800">
              <a:spcBef>
                <a:spcPts val="0"/>
              </a:spcBef>
              <a:spcAft>
                <a:spcPts val="200"/>
              </a:spcAft>
              <a:buFont typeface="Garamond"/>
              <a:buChar char="•"/>
            </a:pPr>
            <a:r>
              <a:rPr sz="700" b="0" i="0">
                <a:solidFill>
                  <a:srgbClr val="262626"/>
                </a:solidFill>
                <a:latin typeface="Garamond"/>
                <a:cs typeface="Garamond"/>
              </a:rPr>
              <a:t>[1] TIKR LULU Stock Crashed 17%: https://www.tikr.com/blog/lululemon-stock-crashed-17-on-friday-the-guidance-cut-was-the-real-story</a:t>
            </a:r>
          </a:p>
          <a:p>
            <a:pPr algn="l" indent="-152400" marL="177800">
              <a:spcBef>
                <a:spcPts val="0"/>
              </a:spcBef>
              <a:spcAft>
                <a:spcPts val="200"/>
              </a:spcAft>
              <a:buFont typeface="Garamond"/>
              <a:buChar char="•"/>
            </a:pPr>
            <a:r>
              <a:rPr sz="700" b="0" i="0">
                <a:solidFill>
                  <a:srgbClr val="262626"/>
                </a:solidFill>
                <a:latin typeface="Garamond"/>
                <a:cs typeface="Garamond"/>
              </a:rPr>
              <a:t>[2] Lululemon Q2 2026 Financial Supplement: https://corporate.lululemon.com/~/media/Files/L/Lululemon/investors/results-center/q2-2026-financial-supplement.pdf</a:t>
            </a:r>
          </a:p>
          <a:p>
            <a:pPr algn="l" indent="-152400" marL="177800">
              <a:spcBef>
                <a:spcPts val="0"/>
              </a:spcBef>
              <a:spcAft>
                <a:spcPts val="200"/>
              </a:spcAft>
              <a:buFont typeface="Garamond"/>
              <a:buChar char="•"/>
            </a:pPr>
            <a:r>
              <a:rPr sz="700" b="0" i="0">
                <a:solidFill>
                  <a:srgbClr val="262626"/>
                </a:solidFill>
                <a:latin typeface="Garamond"/>
                <a:cs typeface="Garamond"/>
              </a:rPr>
              <a:t>[3] Provided Valuation Spreadsheet: LULUMODEL18.xlsx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594360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0" y="201168"/>
            <a:ext cx="630936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0" bIns="0" rIns="762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Situation Overview and Current Investment Setup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66928"/>
            <a:ext cx="1138428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This slide outlines why this investment opportunity exists and the historical financial context driving the current setup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89611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1384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>
                <a:solidFill>
                  <a:srgbClr val="8C8C8C"/>
                </a:solidFill>
                <a:latin typeface="Garamond"/>
                <a:cs typeface="Garamond"/>
              </a:rPr>
              <a:t>Source: company SEC filings (Form 10-K, CIK 0001397187)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510528"/>
            <a:ext cx="8229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024128"/>
            <a:ext cx="11292840" cy="43434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 indent="-152400" marL="177800">
              <a:spcBef>
                <a:spcPts val="0"/>
              </a:spcBef>
              <a:spcAft>
                <a:spcPts val="600"/>
              </a:spcAft>
              <a:buFont typeface="Garamond"/>
              <a:buChar char="•"/>
            </a:pPr>
            <a:r>
              <a:rPr sz="1250" b="0" i="0">
                <a:solidFill>
                  <a:srgbClr val="262626"/>
                </a:solidFill>
                <a:latin typeface="Garamond"/>
                <a:cs typeface="Garamond"/>
              </a:rPr>
              <a:t>The recent guidance cut triggered a massive cyclical panic pushing Lululemon down to roughly 100 dollars [1]</a:t>
            </a:r>
          </a:p>
          <a:p>
            <a:pPr algn="l" indent="-152400" marL="177800">
              <a:spcBef>
                <a:spcPts val="0"/>
              </a:spcBef>
              <a:spcAft>
                <a:spcPts val="600"/>
              </a:spcAft>
              <a:buFont typeface="Garamond"/>
              <a:buChar char="•"/>
            </a:pPr>
            <a:r>
              <a:rPr sz="1250" b="0" i="0">
                <a:solidFill>
                  <a:srgbClr val="262626"/>
                </a:solidFill>
                <a:latin typeface="Garamond"/>
                <a:cs typeface="Garamond"/>
              </a:rPr>
              <a:t>Despite historically compounding double digit growth the market capitulated over a guidance cut of 5 to 7 percent [2]</a:t>
            </a:r>
          </a:p>
          <a:p>
            <a:pPr algn="l" indent="-152400" marL="177800">
              <a:spcBef>
                <a:spcPts val="0"/>
              </a:spcBef>
              <a:spcAft>
                <a:spcPts val="600"/>
              </a:spcAft>
              <a:buFont typeface="Garamond"/>
              <a:buChar char="•"/>
            </a:pPr>
            <a:r>
              <a:rPr sz="1250" b="0" i="0">
                <a:solidFill>
                  <a:srgbClr val="262626"/>
                </a:solidFill>
                <a:latin typeface="Garamond"/>
                <a:cs typeface="Garamond"/>
              </a:rPr>
              <a:t>Lululemon still retains durable cash flows with clean run rate operating margins of 13.2 percent [3]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5532120"/>
            <a:ext cx="11292840" cy="9601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900" b="1" i="0">
                <a:solidFill>
                  <a:srgbClr val="990000"/>
                </a:solidFill>
                <a:latin typeface="Garamond"/>
                <a:cs typeface="Garamond"/>
              </a:rPr>
              <a:t>Links &amp; Sources</a:t>
            </a:r>
          </a:p>
          <a:p>
            <a:pPr algn="l" indent="-152400" marL="177800">
              <a:spcBef>
                <a:spcPts val="0"/>
              </a:spcBef>
              <a:spcAft>
                <a:spcPts val="200"/>
              </a:spcAft>
              <a:buFont typeface="Garamond"/>
              <a:buChar char="•"/>
            </a:pPr>
            <a:r>
              <a:rPr sz="700" b="0" i="0">
                <a:solidFill>
                  <a:srgbClr val="262626"/>
                </a:solidFill>
                <a:latin typeface="Garamond"/>
                <a:cs typeface="Garamond"/>
              </a:rPr>
              <a:t>[1] TIKR LULU Stock Crashed 17%: https://www.tikr.com/blog/lululemon-stock-crashed-17-on-friday-the-guidance-cut-was-the-real-story</a:t>
            </a:r>
          </a:p>
          <a:p>
            <a:pPr algn="l" indent="-152400" marL="177800">
              <a:spcBef>
                <a:spcPts val="0"/>
              </a:spcBef>
              <a:spcAft>
                <a:spcPts val="200"/>
              </a:spcAft>
              <a:buFont typeface="Garamond"/>
              <a:buChar char="•"/>
            </a:pPr>
            <a:r>
              <a:rPr sz="700" b="0" i="0">
                <a:solidFill>
                  <a:srgbClr val="262626"/>
                </a:solidFill>
                <a:latin typeface="Garamond"/>
                <a:cs typeface="Garamond"/>
              </a:rPr>
              <a:t>[2] Lululemon Q2 FY2026 Guidance Release: https://corporate.lululemon.com/~/media/Files/L/Lululemon/investors/results-center/q2-2026-financial-supplement.pdf</a:t>
            </a:r>
          </a:p>
          <a:p>
            <a:pPr algn="l" indent="-152400" marL="177800">
              <a:spcBef>
                <a:spcPts val="0"/>
              </a:spcBef>
              <a:spcAft>
                <a:spcPts val="200"/>
              </a:spcAft>
              <a:buFont typeface="Garamond"/>
              <a:buChar char="•"/>
            </a:pPr>
            <a:r>
              <a:rPr sz="700" b="0" i="0">
                <a:solidFill>
                  <a:srgbClr val="262626"/>
                </a:solidFill>
                <a:latin typeface="Garamond"/>
                <a:cs typeface="Garamond"/>
              </a:rPr>
              <a:t>[3] Provided Valuation Model: LULUMODEL18.xlsx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594360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0" y="201168"/>
            <a:ext cx="630936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0" bIns="0" rIns="762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Market Narrative and Analyst Sentiment Surrounding the Stock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66928"/>
            <a:ext cx="1138428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This slide breaks down current market sentiment and exactly what analysts are saying about the recent guidance cut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89611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1384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>
                <a:solidFill>
                  <a:srgbClr val="8C8C8C"/>
                </a:solidFill>
                <a:latin typeface="Garamond"/>
                <a:cs typeface="Garamond"/>
              </a:rPr>
              <a:t>Source: company SEC filings (Form 10-K, CIK 0001397187)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510528"/>
            <a:ext cx="8229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024128"/>
            <a:ext cx="11292840" cy="43434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 indent="-152400" marL="177800">
              <a:spcBef>
                <a:spcPts val="0"/>
              </a:spcBef>
              <a:spcAft>
                <a:spcPts val="600"/>
              </a:spcAft>
              <a:buFont typeface="Garamond"/>
              <a:buChar char="•"/>
            </a:pPr>
            <a:r>
              <a:rPr sz="1250" b="0" i="0">
                <a:solidFill>
                  <a:srgbClr val="262626"/>
                </a:solidFill>
                <a:latin typeface="Garamond"/>
                <a:cs typeface="Garamond"/>
              </a:rPr>
              <a:t>Morgan Stanley issued a highly pessimistic forecast after management aggressively cut 2026 revenue guidance to 10.35 billion [1]</a:t>
            </a:r>
          </a:p>
          <a:p>
            <a:pPr algn="l" indent="-152400" marL="177800">
              <a:spcBef>
                <a:spcPts val="0"/>
              </a:spcBef>
              <a:spcAft>
                <a:spcPts val="600"/>
              </a:spcAft>
              <a:buFont typeface="Garamond"/>
              <a:buChar char="•"/>
            </a:pPr>
            <a:r>
              <a:rPr sz="1250" b="0" i="0">
                <a:solidFill>
                  <a:srgbClr val="262626"/>
                </a:solidFill>
                <a:latin typeface="Garamond"/>
                <a:cs typeface="Garamond"/>
              </a:rPr>
              <a:t>Analysts are paralyzed by cyclical fears as the consensus price target was slashed from 176 dollars to 136 dollars [2]</a:t>
            </a:r>
          </a:p>
          <a:p>
            <a:pPr algn="l" indent="-152400" marL="177800">
              <a:spcBef>
                <a:spcPts val="0"/>
              </a:spcBef>
              <a:spcAft>
                <a:spcPts val="600"/>
              </a:spcAft>
              <a:buFont typeface="Garamond"/>
              <a:buChar char="•"/>
            </a:pPr>
            <a:r>
              <a:rPr sz="1250" b="0" i="0">
                <a:solidFill>
                  <a:srgbClr val="262626"/>
                </a:solidFill>
                <a:latin typeface="Garamond"/>
                <a:cs typeface="Garamond"/>
              </a:rPr>
              <a:t>Firms like BTIG maintain neutral ratings due to short-term turbulence but ignore the durable competitive advantage we see [3]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5532120"/>
            <a:ext cx="11292840" cy="9601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900" b="1" i="0">
                <a:solidFill>
                  <a:srgbClr val="990000"/>
                </a:solidFill>
                <a:latin typeface="Garamond"/>
                <a:cs typeface="Garamond"/>
              </a:rPr>
              <a:t>Links &amp; Sources</a:t>
            </a:r>
          </a:p>
          <a:p>
            <a:pPr algn="l" indent="-152400" marL="177800">
              <a:spcBef>
                <a:spcPts val="0"/>
              </a:spcBef>
              <a:spcAft>
                <a:spcPts val="200"/>
              </a:spcAft>
              <a:buFont typeface="Garamond"/>
              <a:buChar char="•"/>
            </a:pPr>
            <a:r>
              <a:rPr sz="700" b="0" i="0">
                <a:solidFill>
                  <a:srgbClr val="262626"/>
                </a:solidFill>
                <a:latin typeface="Garamond"/>
                <a:cs typeface="Garamond"/>
              </a:rPr>
              <a:t>[1] MarketBeat: Morgan Stanley Issues Pessimistic Forecast for lululemon athletica: https://www.marketbeat.com/instant-alerts/analyst-morgan-stanley-issues-pessimistic-forecast-for-lululemon-athletica-nasdaq-lulu-stock-price-2026-09-04/</a:t>
            </a:r>
          </a:p>
          <a:p>
            <a:pPr algn="l" indent="-152400" marL="177800">
              <a:spcBef>
                <a:spcPts val="0"/>
              </a:spcBef>
              <a:spcAft>
                <a:spcPts val="200"/>
              </a:spcAft>
              <a:buFont typeface="Garamond"/>
              <a:buChar char="•"/>
            </a:pPr>
            <a:r>
              <a:rPr sz="700" b="0" i="0">
                <a:solidFill>
                  <a:srgbClr val="262626"/>
                </a:solidFill>
                <a:latin typeface="Garamond"/>
                <a:cs typeface="Garamond"/>
              </a:rPr>
              <a:t>[2] Simply Wall St: lululemon athletica Stock Analysis: https://simplywall.st/stocks/us/consumer-durables/nasdaq-lulu/lululemon-athletica</a:t>
            </a:r>
          </a:p>
          <a:p>
            <a:pPr algn="l" indent="-152400" marL="177800">
              <a:spcBef>
                <a:spcPts val="0"/>
              </a:spcBef>
              <a:spcAft>
                <a:spcPts val="200"/>
              </a:spcAft>
              <a:buFont typeface="Garamond"/>
              <a:buChar char="•"/>
            </a:pPr>
            <a:r>
              <a:rPr sz="700" b="0" i="0">
                <a:solidFill>
                  <a:srgbClr val="262626"/>
                </a:solidFill>
                <a:latin typeface="Garamond"/>
                <a:cs typeface="Garamond"/>
              </a:rPr>
              <a:t>[3] GuruFocus: LULU Reiterates by BTIG - Rating Maintained at Neutral: https://www.gurufocus.com/news/9068272/lulu-reiterates-by-btig-rating-maintained-at-neutral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594360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0" y="201168"/>
            <a:ext cx="630936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0" bIns="0" rIns="762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Investment Thesis Summary and Target Price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66928"/>
            <a:ext cx="1138428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This slide breaks down our actual 133 dollar base case target price and the three core pillars supporting our overweight recommendation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89611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1384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>
                <a:solidFill>
                  <a:srgbClr val="8C8C8C"/>
                </a:solidFill>
                <a:latin typeface="Garamond"/>
                <a:cs typeface="Garamond"/>
              </a:rPr>
              <a:t>Source: company SEC filings (Form 10-K, CIK 0001397187)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510528"/>
            <a:ext cx="8229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024128"/>
            <a:ext cx="11292840" cy="41605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 indent="-152400" marL="177800">
              <a:spcBef>
                <a:spcPts val="0"/>
              </a:spcBef>
              <a:spcAft>
                <a:spcPts val="600"/>
              </a:spcAft>
              <a:buFont typeface="Garamond"/>
              <a:buChar char="•"/>
            </a:pPr>
            <a:r>
              <a:rPr sz="1250" b="0" i="0">
                <a:solidFill>
                  <a:srgbClr val="262626"/>
                </a:solidFill>
                <a:latin typeface="Garamond"/>
                <a:cs typeface="Garamond"/>
              </a:rPr>
              <a:t>Our discounted cash flow valuation generates a base case implied share price of 133.64 dollars representing 33.6 percent upside from current levels [1]</a:t>
            </a:r>
          </a:p>
          <a:p>
            <a:pPr algn="l" indent="-152400" marL="177800">
              <a:spcBef>
                <a:spcPts val="0"/>
              </a:spcBef>
              <a:spcAft>
                <a:spcPts val="600"/>
              </a:spcAft>
              <a:buFont typeface="Garamond"/>
              <a:buChar char="•"/>
            </a:pPr>
            <a:r>
              <a:rPr sz="1250" b="0" i="0">
                <a:solidFill>
                  <a:srgbClr val="262626"/>
                </a:solidFill>
                <a:latin typeface="Garamond"/>
                <a:cs typeface="Garamond"/>
              </a:rPr>
              <a:t>The first pillar is profitability because adjusting out the tariff refunds reveals LULU still maintains a highly resilient 13.2 percent clean run-rate operating margin [2]</a:t>
            </a:r>
          </a:p>
          <a:p>
            <a:pPr algn="l" indent="-152400" marL="177800">
              <a:spcBef>
                <a:spcPts val="0"/>
              </a:spcBef>
              <a:spcAft>
                <a:spcPts val="600"/>
              </a:spcAft>
              <a:buFont typeface="Garamond"/>
              <a:buChar char="•"/>
            </a:pPr>
            <a:r>
              <a:rPr sz="1250" b="0" i="0">
                <a:solidFill>
                  <a:srgbClr val="262626"/>
                </a:solidFill>
                <a:latin typeface="Garamond"/>
                <a:cs typeface="Garamond"/>
              </a:rPr>
              <a:t>The second pillar is our mathematically sound 9.0 percent WACC which strictly bounds our 2.3 percent long-term revenue growth assumption [3]</a:t>
            </a:r>
          </a:p>
          <a:p>
            <a:pPr algn="l" indent="-152400" marL="177800">
              <a:spcBef>
                <a:spcPts val="0"/>
              </a:spcBef>
              <a:spcAft>
                <a:spcPts val="600"/>
              </a:spcAft>
              <a:buFont typeface="Garamond"/>
              <a:buChar char="•"/>
            </a:pPr>
            <a:r>
              <a:rPr sz="1250" b="0" i="0">
                <a:solidFill>
                  <a:srgbClr val="262626"/>
                </a:solidFill>
                <a:latin typeface="Garamond"/>
                <a:cs typeface="Garamond"/>
              </a:rPr>
              <a:t>Finally international expansion remains the crucial growth engine as 4 percent growth in China Mainland easily offsets the temporary North American stagnation [4]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5532120"/>
            <a:ext cx="11292840" cy="9601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900" b="1" i="0">
                <a:solidFill>
                  <a:srgbClr val="990000"/>
                </a:solidFill>
                <a:latin typeface="Garamond"/>
                <a:cs typeface="Garamond"/>
              </a:rPr>
              <a:t>Links &amp; Sources</a:t>
            </a:r>
          </a:p>
          <a:p>
            <a:pPr algn="l" indent="-152400" marL="177800">
              <a:spcBef>
                <a:spcPts val="0"/>
              </a:spcBef>
              <a:spcAft>
                <a:spcPts val="200"/>
              </a:spcAft>
              <a:buFont typeface="Garamond"/>
              <a:buChar char="•"/>
            </a:pPr>
            <a:r>
              <a:rPr sz="700" b="0" i="0">
                <a:solidFill>
                  <a:srgbClr val="262626"/>
                </a:solidFill>
                <a:latin typeface="Garamond"/>
                <a:cs typeface="Garamond"/>
              </a:rPr>
              <a:t>[1] Provided Valuation Model (Base Case Implied Value): LULUMODEL18_3.xlsx</a:t>
            </a:r>
          </a:p>
          <a:p>
            <a:pPr algn="l" indent="-152400" marL="177800">
              <a:spcBef>
                <a:spcPts val="0"/>
              </a:spcBef>
              <a:spcAft>
                <a:spcPts val="200"/>
              </a:spcAft>
              <a:buFont typeface="Garamond"/>
              <a:buChar char="•"/>
            </a:pPr>
            <a:r>
              <a:rPr sz="700" b="0" i="0">
                <a:solidFill>
                  <a:srgbClr val="262626"/>
                </a:solidFill>
                <a:latin typeface="Garamond"/>
                <a:cs typeface="Garamond"/>
              </a:rPr>
              <a:t>[2] Lululemon Q2 FY2026 Earnings Release (13.2% Margin Calc): https://corporate.lululemon.com/~/media/Files/L/Lululemon/investors/results-center/q2-2026-financial-supplement.pdf</a:t>
            </a:r>
          </a:p>
          <a:p>
            <a:pPr algn="l" indent="-152400" marL="177800">
              <a:spcBef>
                <a:spcPts val="0"/>
              </a:spcBef>
              <a:spcAft>
                <a:spcPts val="200"/>
              </a:spcAft>
              <a:buFont typeface="Garamond"/>
              <a:buChar char="•"/>
            </a:pPr>
            <a:r>
              <a:rPr sz="700" b="0" i="0">
                <a:solidFill>
                  <a:srgbClr val="262626"/>
                </a:solidFill>
                <a:latin typeface="Garamond"/>
                <a:cs typeface="Garamond"/>
              </a:rPr>
              <a:t>[3] Provided Valuation Model (WACC &amp; Revenue Drivers): LULUMODEL18_3.xlsx</a:t>
            </a:r>
          </a:p>
          <a:p>
            <a:pPr algn="l" indent="-152400" marL="177800">
              <a:spcBef>
                <a:spcPts val="0"/>
              </a:spcBef>
              <a:spcAft>
                <a:spcPts val="200"/>
              </a:spcAft>
              <a:buFont typeface="Garamond"/>
              <a:buChar char="•"/>
            </a:pPr>
            <a:r>
              <a:rPr sz="700" b="0" i="0">
                <a:solidFill>
                  <a:srgbClr val="262626"/>
                </a:solidFill>
                <a:latin typeface="Garamond"/>
                <a:cs typeface="Garamond"/>
              </a:rPr>
              <a:t>[4] Lululemon Q2 FY2026 Earnings Release (International Growth): https://corporate.lululemon.com/~/media/Files/L/Lululemon/investors/results-center/q2-2026-financial-supplement.pdf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594360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0" y="201168"/>
            <a:ext cx="630936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0" bIns="0" rIns="762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Geographic Segments and Revenue Breakdown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66928"/>
            <a:ext cx="1138428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This slide outlines Lululemon's geographic segments and revenue breakdown while detailing why China growth offsets temporary US declines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89611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1384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>
                <a:solidFill>
                  <a:srgbClr val="8C8C8C"/>
                </a:solidFill>
                <a:latin typeface="Garamond"/>
                <a:cs typeface="Garamond"/>
              </a:rPr>
              <a:t>Source: company SEC filings (Form 10-K, CIK 0001397187)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510528"/>
            <a:ext cx="8229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024128"/>
            <a:ext cx="11292840" cy="43434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 indent="-152400" marL="177800">
              <a:spcBef>
                <a:spcPts val="0"/>
              </a:spcBef>
              <a:spcAft>
                <a:spcPts val="600"/>
              </a:spcAft>
              <a:buFont typeface="Garamond"/>
              <a:buChar char="•"/>
            </a:pPr>
            <a:r>
              <a:rPr sz="1250" b="0" i="0">
                <a:solidFill>
                  <a:srgbClr val="262626"/>
                </a:solidFill>
                <a:latin typeface="Garamond"/>
                <a:cs typeface="Garamond"/>
              </a:rPr>
              <a:t>Lululemon generated 11.1 billion dollars in total revenue with Americas contributing 7.85 billion dollars or 70.68 percent [1]</a:t>
            </a:r>
          </a:p>
          <a:p>
            <a:pPr algn="l" indent="-152400" marL="177800">
              <a:spcBef>
                <a:spcPts val="0"/>
              </a:spcBef>
              <a:spcAft>
                <a:spcPts val="600"/>
              </a:spcAft>
              <a:buFont typeface="Garamond"/>
              <a:buChar char="•"/>
            </a:pPr>
            <a:r>
              <a:rPr sz="1250" b="0" i="0">
                <a:solidFill>
                  <a:srgbClr val="262626"/>
                </a:solidFill>
                <a:latin typeface="Garamond"/>
                <a:cs typeface="Garamond"/>
              </a:rPr>
              <a:t>Americas comparable sales fell 3 percent due to temporary cyclical macro pressure rather than structural brand degradation [2]</a:t>
            </a:r>
          </a:p>
          <a:p>
            <a:pPr algn="l" indent="-152400" marL="177800">
              <a:spcBef>
                <a:spcPts val="0"/>
              </a:spcBef>
              <a:spcAft>
                <a:spcPts val="600"/>
              </a:spcAft>
              <a:buFont typeface="Garamond"/>
              <a:buChar char="•"/>
            </a:pPr>
            <a:r>
              <a:rPr sz="1250" b="0" i="0">
                <a:solidFill>
                  <a:srgbClr val="262626"/>
                </a:solidFill>
                <a:latin typeface="Garamond"/>
                <a:cs typeface="Garamond"/>
              </a:rPr>
              <a:t>China Mainland surged 20 percent to 1.75 billion dollars proving high growth international expansion easily offsets US temporary weakness [3]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5532120"/>
            <a:ext cx="11292840" cy="9601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900" b="1" i="0">
                <a:solidFill>
                  <a:srgbClr val="990000"/>
                </a:solidFill>
                <a:latin typeface="Garamond"/>
                <a:cs typeface="Garamond"/>
              </a:rPr>
              <a:t>Links &amp; Sources</a:t>
            </a:r>
          </a:p>
          <a:p>
            <a:pPr algn="l" indent="-152400" marL="177800">
              <a:spcBef>
                <a:spcPts val="0"/>
              </a:spcBef>
              <a:spcAft>
                <a:spcPts val="200"/>
              </a:spcAft>
              <a:buFont typeface="Garamond"/>
              <a:buChar char="•"/>
            </a:pPr>
            <a:r>
              <a:rPr sz="700" b="0" i="0">
                <a:solidFill>
                  <a:srgbClr val="262626"/>
                </a:solidFill>
                <a:latin typeface="Garamond"/>
                <a:cs typeface="Garamond"/>
              </a:rPr>
              <a:t>[1] Lululemon FY2025 Form 10-K (Segment Revenue and Percentages): https://corporate.lululemon.com/~/media/Files/L/Lululemon/investors/results-center/q2-2026-financial-supplement.pdf</a:t>
            </a:r>
          </a:p>
          <a:p>
            <a:pPr algn="l" indent="-152400" marL="177800">
              <a:spcBef>
                <a:spcPts val="0"/>
              </a:spcBef>
              <a:spcAft>
                <a:spcPts val="200"/>
              </a:spcAft>
              <a:buFont typeface="Garamond"/>
              <a:buChar char="•"/>
            </a:pPr>
            <a:r>
              <a:rPr sz="700" b="0" i="0">
                <a:solidFill>
                  <a:srgbClr val="262626"/>
                </a:solidFill>
                <a:latin typeface="Garamond"/>
                <a:cs typeface="Garamond"/>
              </a:rPr>
              <a:t>[2] Lululemon FY2025 Form 10-K (Americas Comparable Sales): https://corporate.lululemon.com/~/media/Files/L/Lululemon/investors/results-center/q2-2026-financial-supplement.pdf</a:t>
            </a:r>
          </a:p>
          <a:p>
            <a:pPr algn="l" indent="-152400" marL="177800">
              <a:spcBef>
                <a:spcPts val="0"/>
              </a:spcBef>
              <a:spcAft>
                <a:spcPts val="200"/>
              </a:spcAft>
              <a:buFont typeface="Garamond"/>
              <a:buChar char="•"/>
            </a:pPr>
            <a:r>
              <a:rPr sz="700" b="0" i="0">
                <a:solidFill>
                  <a:srgbClr val="262626"/>
                </a:solidFill>
                <a:latin typeface="Garamond"/>
                <a:cs typeface="Garamond"/>
              </a:rPr>
              <a:t>[3] Provided Valuation Model (China Mainland Growth &amp; Revenue Driver): LULUMODEL18.xlsx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594360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0" y="201168"/>
            <a:ext cx="630936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0" bIns="0" rIns="762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Business Model Unit Economics and Competitive Moats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66928"/>
            <a:ext cx="1138428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This slide analyzes Lululemon's unit economics and competitive moats that protect its long-term market leadership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89611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1384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>
                <a:solidFill>
                  <a:srgbClr val="8C8C8C"/>
                </a:solidFill>
                <a:latin typeface="Garamond"/>
                <a:cs typeface="Garamond"/>
              </a:rPr>
              <a:t>Source: company SEC filings (Form 10-K, CIK 0001397187)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510528"/>
            <a:ext cx="8229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024128"/>
            <a:ext cx="11292840" cy="43434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 indent="-152400" marL="177800">
              <a:spcBef>
                <a:spcPts val="0"/>
              </a:spcBef>
              <a:spcAft>
                <a:spcPts val="600"/>
              </a:spcAft>
              <a:buFont typeface="Garamond"/>
              <a:buChar char="•"/>
            </a:pPr>
            <a:r>
              <a:rPr sz="1250" b="0" i="0">
                <a:solidFill>
                  <a:srgbClr val="262626"/>
                </a:solidFill>
                <a:latin typeface="Garamond"/>
                <a:cs typeface="Garamond"/>
              </a:rPr>
              <a:t>Lululemon sustains a 56.6 percent gross margin providing a massive competitive moat against retail price competition [1]</a:t>
            </a:r>
          </a:p>
          <a:p>
            <a:pPr algn="l" indent="-152400" marL="177800">
              <a:spcBef>
                <a:spcPts val="0"/>
              </a:spcBef>
              <a:spcAft>
                <a:spcPts val="600"/>
              </a:spcAft>
              <a:buFont typeface="Garamond"/>
              <a:buChar char="•"/>
            </a:pPr>
            <a:r>
              <a:rPr sz="1250" b="0" i="0">
                <a:solidFill>
                  <a:srgbClr val="262626"/>
                </a:solidFill>
                <a:latin typeface="Garamond"/>
                <a:cs typeface="Garamond"/>
              </a:rPr>
              <a:t>E-commerce unit economics remain elite with direct-to-consumer EBIT margins hitting 23.6 percent without retail occupancy drag [2]</a:t>
            </a:r>
          </a:p>
          <a:p>
            <a:pPr algn="l" indent="-152400" marL="177800">
              <a:spcBef>
                <a:spcPts val="0"/>
              </a:spcBef>
              <a:spcAft>
                <a:spcPts val="600"/>
              </a:spcAft>
              <a:buFont typeface="Garamond"/>
              <a:buChar char="•"/>
            </a:pPr>
            <a:r>
              <a:rPr sz="1250" b="0" i="0">
                <a:solidFill>
                  <a:srgbClr val="262626"/>
                </a:solidFill>
                <a:latin typeface="Garamond"/>
                <a:cs typeface="Garamond"/>
              </a:rPr>
              <a:t>Company-operated stores generate 1,426 dollars per square foot and an 18.6 percent EBIT margin establishing high capital efficiency [3]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5532120"/>
            <a:ext cx="11292840" cy="9601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900" b="1" i="0">
                <a:solidFill>
                  <a:srgbClr val="990000"/>
                </a:solidFill>
                <a:latin typeface="Garamond"/>
                <a:cs typeface="Garamond"/>
              </a:rPr>
              <a:t>Links &amp; Sources</a:t>
            </a:r>
          </a:p>
          <a:p>
            <a:pPr algn="l" indent="-152400" marL="177800">
              <a:spcBef>
                <a:spcPts val="0"/>
              </a:spcBef>
              <a:spcAft>
                <a:spcPts val="200"/>
              </a:spcAft>
              <a:buFont typeface="Garamond"/>
              <a:buChar char="•"/>
            </a:pPr>
            <a:r>
              <a:rPr sz="700" b="0" i="0">
                <a:solidFill>
                  <a:srgbClr val="262626"/>
                </a:solidFill>
                <a:latin typeface="Garamond"/>
                <a:cs typeface="Garamond"/>
              </a:rPr>
              <a:t>[1] Provided Valuation Model (Gross Margin): LULUMODEL18_6.xlsx</a:t>
            </a:r>
          </a:p>
          <a:p>
            <a:pPr algn="l" indent="-152400" marL="177800">
              <a:spcBef>
                <a:spcPts val="0"/>
              </a:spcBef>
              <a:spcAft>
                <a:spcPts val="200"/>
              </a:spcAft>
              <a:buFont typeface="Garamond"/>
              <a:buChar char="•"/>
            </a:pPr>
            <a:r>
              <a:rPr sz="700" b="0" i="0">
                <a:solidFill>
                  <a:srgbClr val="262626"/>
                </a:solidFill>
                <a:latin typeface="Garamond"/>
                <a:cs typeface="Garamond"/>
              </a:rPr>
              <a:t>[2] Provided Valuation Model (E-commerce EBIT Margin Driver): LULUMODEL18_6.xlsx</a:t>
            </a:r>
          </a:p>
          <a:p>
            <a:pPr algn="l" indent="-152400" marL="177800">
              <a:spcBef>
                <a:spcPts val="0"/>
              </a:spcBef>
              <a:spcAft>
                <a:spcPts val="200"/>
              </a:spcAft>
              <a:buFont typeface="Garamond"/>
              <a:buChar char="•"/>
            </a:pPr>
            <a:r>
              <a:rPr sz="700" b="0" i="0">
                <a:solidFill>
                  <a:srgbClr val="262626"/>
                </a:solidFill>
                <a:latin typeface="Garamond"/>
                <a:cs typeface="Garamond"/>
              </a:rPr>
              <a:t>[3] Provided Valuation Model (Store EBIT Margin &amp; SPSF): LULUMODEL18_6.xlsx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594360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0" y="201168"/>
            <a:ext cx="630936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0" bIns="0" rIns="762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Industry Overview - Trends and Structure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66928"/>
            <a:ext cx="1138428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This slide explores the ongoing athleisure industry trends including market fragmentation and the barriers to entry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89611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1384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>
                <a:solidFill>
                  <a:srgbClr val="8C8C8C"/>
                </a:solidFill>
                <a:latin typeface="Garamond"/>
                <a:cs typeface="Garamond"/>
              </a:rPr>
              <a:t>Source: company SEC filings (Form 10-K, CIK 0001397187)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510528"/>
            <a:ext cx="8229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024128"/>
            <a:ext cx="11292840" cy="43434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 indent="-152400" marL="177800">
              <a:spcBef>
                <a:spcPts val="0"/>
              </a:spcBef>
              <a:spcAft>
                <a:spcPts val="600"/>
              </a:spcAft>
              <a:buFont typeface="Garamond"/>
              <a:buChar char="•"/>
            </a:pPr>
            <a:r>
              <a:rPr sz="1250" b="0" i="0">
                <a:solidFill>
                  <a:srgbClr val="262626"/>
                </a:solidFill>
                <a:latin typeface="Garamond"/>
                <a:cs typeface="Garamond"/>
              </a:rPr>
              <a:t>I argue the global athleisure market remains highly fragmented meaning most players lack a durable competitive advantage [1]</a:t>
            </a:r>
          </a:p>
          <a:p>
            <a:pPr algn="l" indent="-152400" marL="177800">
              <a:spcBef>
                <a:spcPts val="0"/>
              </a:spcBef>
              <a:spcAft>
                <a:spcPts val="600"/>
              </a:spcAft>
              <a:buFont typeface="Garamond"/>
              <a:buChar char="•"/>
            </a:pPr>
            <a:r>
              <a:rPr sz="1250" b="0" i="0">
                <a:solidFill>
                  <a:srgbClr val="262626"/>
                </a:solidFill>
                <a:latin typeface="Garamond"/>
                <a:cs typeface="Garamond"/>
              </a:rPr>
              <a:t>The premium segment maintains high barriers to entry protecting global champions from temporary cyclical noise [2]</a:t>
            </a:r>
          </a:p>
          <a:p>
            <a:pPr algn="l" indent="-152400" marL="177800">
              <a:spcBef>
                <a:spcPts val="0"/>
              </a:spcBef>
              <a:spcAft>
                <a:spcPts val="600"/>
              </a:spcAft>
              <a:buFont typeface="Garamond"/>
              <a:buChar char="•"/>
            </a:pPr>
            <a:r>
              <a:rPr sz="1250" b="0" i="0">
                <a:solidFill>
                  <a:srgbClr val="262626"/>
                </a:solidFill>
                <a:latin typeface="Garamond"/>
                <a:cs typeface="Garamond"/>
              </a:rPr>
              <a:t>Lululemon mathematically proves its moat by generating a 30.25 percent ROE far outpacing the 6.81 percent industry median [3]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5532120"/>
            <a:ext cx="11292840" cy="9601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900" b="1" i="0">
                <a:solidFill>
                  <a:srgbClr val="990000"/>
                </a:solidFill>
                <a:latin typeface="Garamond"/>
                <a:cs typeface="Garamond"/>
              </a:rPr>
              <a:t>Links &amp; Sources</a:t>
            </a:r>
          </a:p>
          <a:p>
            <a:pPr algn="l" indent="-152400" marL="177800">
              <a:spcBef>
                <a:spcPts val="0"/>
              </a:spcBef>
              <a:spcAft>
                <a:spcPts val="200"/>
              </a:spcAft>
              <a:buFont typeface="Garamond"/>
              <a:buChar char="•"/>
            </a:pPr>
            <a:r>
              <a:rPr sz="700" b="0" i="0">
                <a:solidFill>
                  <a:srgbClr val="262626"/>
                </a:solidFill>
                <a:latin typeface="Garamond"/>
                <a:cs typeface="Garamond"/>
              </a:rPr>
              <a:t>[1] Market.us Media (Athleisure Market Fragmentation): https://media.market.us/athleisure-industry-statistics/</a:t>
            </a:r>
          </a:p>
          <a:p>
            <a:pPr algn="l" indent="-152400" marL="177800">
              <a:spcBef>
                <a:spcPts val="0"/>
              </a:spcBef>
              <a:spcAft>
                <a:spcPts val="200"/>
              </a:spcAft>
              <a:buFont typeface="Garamond"/>
              <a:buChar char="•"/>
            </a:pPr>
            <a:r>
              <a:rPr sz="700" b="0" i="0">
                <a:solidFill>
                  <a:srgbClr val="262626"/>
                </a:solidFill>
                <a:latin typeface="Garamond"/>
                <a:cs typeface="Garamond"/>
              </a:rPr>
              <a:t>[2] Fortune Business Insights (Premium Athleisure Trends): https://www.fortunebusinessinsights.com/athleisure-market-110642</a:t>
            </a:r>
          </a:p>
          <a:p>
            <a:pPr algn="l" indent="-152400" marL="177800">
              <a:spcBef>
                <a:spcPts val="0"/>
              </a:spcBef>
              <a:spcAft>
                <a:spcPts val="200"/>
              </a:spcAft>
              <a:buFont typeface="Garamond"/>
              <a:buChar char="•"/>
            </a:pPr>
            <a:r>
              <a:rPr sz="700" b="0" i="0">
                <a:solidFill>
                  <a:srgbClr val="262626"/>
                </a:solidFill>
                <a:latin typeface="Garamond"/>
                <a:cs typeface="Garamond"/>
              </a:rPr>
              <a:t>[3] FinanceCharts (Lululemon ROE &amp; Retail Median): https://www.financecharts.com/stocks/LULU/growth/roe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594360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0" y="201168"/>
            <a:ext cx="630936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0" bIns="0" rIns="762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Industry Overview - Barriers to Entry and Profitability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66928"/>
            <a:ext cx="1138428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This slide dissects capital efficiency metrics comparing Lululemon's gross margin directly against legacy apparel competitors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89611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1384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>
                <a:solidFill>
                  <a:srgbClr val="8C8C8C"/>
                </a:solidFill>
                <a:latin typeface="Garamond"/>
                <a:cs typeface="Garamond"/>
              </a:rPr>
              <a:t>Source: company SEC filings (Form 10-K, CIK 0001397187)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510528"/>
            <a:ext cx="8229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024128"/>
            <a:ext cx="11292840" cy="43434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 indent="-152400" marL="177800">
              <a:spcBef>
                <a:spcPts val="0"/>
              </a:spcBef>
              <a:spcAft>
                <a:spcPts val="600"/>
              </a:spcAft>
              <a:buFont typeface="Garamond"/>
              <a:buChar char="•"/>
            </a:pPr>
            <a:r>
              <a:rPr sz="1250" b="0" i="0">
                <a:solidFill>
                  <a:srgbClr val="262626"/>
                </a:solidFill>
                <a:latin typeface="Garamond"/>
                <a:cs typeface="Garamond"/>
              </a:rPr>
              <a:t>Lululemon commands a 56.6 percent gross margin far exceeding traditional athletic apparel peers like Nike and Under Armour [1]</a:t>
            </a:r>
          </a:p>
          <a:p>
            <a:pPr algn="l" indent="-152400" marL="177800">
              <a:spcBef>
                <a:spcPts val="0"/>
              </a:spcBef>
              <a:spcAft>
                <a:spcPts val="600"/>
              </a:spcAft>
              <a:buFont typeface="Garamond"/>
              <a:buChar char="•"/>
            </a:pPr>
            <a:r>
              <a:rPr sz="1250" b="0" i="0">
                <a:solidFill>
                  <a:srgbClr val="262626"/>
                </a:solidFill>
                <a:latin typeface="Garamond"/>
                <a:cs typeface="Garamond"/>
              </a:rPr>
              <a:t>Nike struggles to maintain a 43 percent margin while Under Armour hovers around 46 percent reflecting their wholesale dependence [2]</a:t>
            </a:r>
          </a:p>
          <a:p>
            <a:pPr algn="l" indent="-152400" marL="177800">
              <a:spcBef>
                <a:spcPts val="0"/>
              </a:spcBef>
              <a:spcAft>
                <a:spcPts val="600"/>
              </a:spcAft>
              <a:buFont typeface="Garamond"/>
              <a:buChar char="•"/>
            </a:pPr>
            <a:r>
              <a:rPr sz="1250" b="0" i="0">
                <a:solidFill>
                  <a:srgbClr val="262626"/>
                </a:solidFill>
                <a:latin typeface="Garamond"/>
                <a:cs typeface="Garamond"/>
              </a:rPr>
              <a:t>Lululemon's direct-to-consumer scale prevents this structural margin compression and forms an impenetrable economic moat against industry price wars [3]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5532120"/>
            <a:ext cx="11292840" cy="9601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900" b="1" i="0">
                <a:solidFill>
                  <a:srgbClr val="990000"/>
                </a:solidFill>
                <a:latin typeface="Garamond"/>
                <a:cs typeface="Garamond"/>
              </a:rPr>
              <a:t>Links &amp; Sources</a:t>
            </a:r>
          </a:p>
          <a:p>
            <a:pPr algn="l" indent="-152400" marL="177800">
              <a:spcBef>
                <a:spcPts val="0"/>
              </a:spcBef>
              <a:spcAft>
                <a:spcPts val="200"/>
              </a:spcAft>
              <a:buFont typeface="Garamond"/>
              <a:buChar char="•"/>
            </a:pPr>
            <a:r>
              <a:rPr sz="700" b="0" i="0">
                <a:solidFill>
                  <a:srgbClr val="262626"/>
                </a:solidFill>
                <a:latin typeface="Garamond"/>
                <a:cs typeface="Garamond"/>
              </a:rPr>
              <a:t>[1] Provided Valuation Model (Gross Margin Assumptions): LULUMODEL18.xlsx</a:t>
            </a:r>
          </a:p>
          <a:p>
            <a:pPr algn="l" indent="-152400" marL="177800">
              <a:spcBef>
                <a:spcPts val="0"/>
              </a:spcBef>
              <a:spcAft>
                <a:spcPts val="200"/>
              </a:spcAft>
              <a:buFont typeface="Garamond"/>
              <a:buChar char="•"/>
            </a:pPr>
            <a:r>
              <a:rPr sz="700" b="0" i="0">
                <a:solidFill>
                  <a:srgbClr val="262626"/>
                </a:solidFill>
                <a:latin typeface="Garamond"/>
                <a:cs typeface="Garamond"/>
              </a:rPr>
              <a:t>[2] Investing.com (Nike &amp; Under Armour Historical Gross Margins): https://www.investing.com/pro/NYSE:NKE/explorer/gp_margin</a:t>
            </a:r>
          </a:p>
          <a:p>
            <a:pPr algn="l" indent="-152400" marL="177800">
              <a:spcBef>
                <a:spcPts val="0"/>
              </a:spcBef>
              <a:spcAft>
                <a:spcPts val="200"/>
              </a:spcAft>
              <a:buFont typeface="Garamond"/>
              <a:buChar char="•"/>
            </a:pPr>
            <a:r>
              <a:rPr sz="700" b="0" i="0">
                <a:solidFill>
                  <a:srgbClr val="262626"/>
                </a:solidFill>
                <a:latin typeface="Garamond"/>
                <a:cs typeface="Garamond"/>
              </a:rPr>
              <a:t>[3] ProAnalyst LULU Market Report (Competitor Margins &amp; DTC Moat): https://lulu.proanalyst.ai/business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594360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0" y="201168"/>
            <a:ext cx="630936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0" bIns="0" rIns="762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Investment Thesis 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66928"/>
            <a:ext cx="1138428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This slide outlines the core contrarian investment thesis utilizing numerical evidence from the LULUMODEL18.xlsx file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89611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1384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>
                <a:solidFill>
                  <a:srgbClr val="8C8C8C"/>
                </a:solidFill>
                <a:latin typeface="Garamond"/>
                <a:cs typeface="Garamond"/>
              </a:rPr>
              <a:t>Source: company SEC filings (Form 10-K, CIK 0001397187)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510528"/>
            <a:ext cx="8229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024128"/>
            <a:ext cx="11292840" cy="43434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 indent="-152400" marL="177800">
              <a:spcBef>
                <a:spcPts val="0"/>
              </a:spcBef>
              <a:spcAft>
                <a:spcPts val="600"/>
              </a:spcAft>
              <a:buFont typeface="Garamond"/>
              <a:buChar char="•"/>
            </a:pPr>
            <a:r>
              <a:rPr sz="1250" b="0" i="0">
                <a:solidFill>
                  <a:srgbClr val="262626"/>
                </a:solidFill>
                <a:latin typeface="Garamond"/>
                <a:cs typeface="Garamond"/>
              </a:rPr>
              <a:t>The 2026 price drop exceeding 50% has left Lululemon critically undervalued despite durable cash flows [1]</a:t>
            </a:r>
          </a:p>
          <a:p>
            <a:pPr algn="l" indent="-152400" marL="177800">
              <a:spcBef>
                <a:spcPts val="0"/>
              </a:spcBef>
              <a:spcAft>
                <a:spcPts val="600"/>
              </a:spcAft>
              <a:buFont typeface="Garamond"/>
              <a:buChar char="•"/>
            </a:pPr>
            <a:r>
              <a:rPr sz="1250" b="0" i="0">
                <a:solidFill>
                  <a:srgbClr val="262626"/>
                </a:solidFill>
                <a:latin typeface="Garamond"/>
                <a:cs typeface="Garamond"/>
              </a:rPr>
              <a:t>Its premium Direct-to-Consumer revenue mix protects a massive 54.9% adjusted gross margin, mathematically justifying my intrinsic valuation thesis [2]</a:t>
            </a:r>
          </a:p>
          <a:p>
            <a:pPr algn="l" indent="-152400" marL="177800">
              <a:spcBef>
                <a:spcPts val="0"/>
              </a:spcBef>
              <a:spcAft>
                <a:spcPts val="600"/>
              </a:spcAft>
              <a:buFont typeface="Garamond"/>
              <a:buChar char="•"/>
            </a:pPr>
            <a:r>
              <a:rPr sz="1250" b="0" i="0">
                <a:solidFill>
                  <a:srgbClr val="262626"/>
                </a:solidFill>
                <a:latin typeface="Garamond"/>
                <a:cs typeface="Garamond"/>
              </a:rPr>
              <a:t>Furthermore, carrying just $1.78 billion in long-term debt against $8.53 billion in total assets provides immense strategic flexibility [3]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5532120"/>
            <a:ext cx="11292840" cy="9601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900" b="1" i="0">
                <a:solidFill>
                  <a:srgbClr val="990000"/>
                </a:solidFill>
                <a:latin typeface="Garamond"/>
                <a:cs typeface="Garamond"/>
              </a:rPr>
              <a:t>Links &amp; Sources</a:t>
            </a:r>
          </a:p>
          <a:p>
            <a:pPr algn="l" indent="-152400" marL="177800">
              <a:spcBef>
                <a:spcPts val="0"/>
              </a:spcBef>
              <a:spcAft>
                <a:spcPts val="200"/>
              </a:spcAft>
              <a:buFont typeface="Garamond"/>
              <a:buChar char="•"/>
            </a:pPr>
            <a:r>
              <a:rPr sz="700" b="0" i="0">
                <a:solidFill>
                  <a:srgbClr val="262626"/>
                </a:solidFill>
                <a:latin typeface="Garamond"/>
                <a:cs typeface="Garamond"/>
              </a:rPr>
              <a:t>[1] https://everythingmoney.com/blog/lululemon-is-collapsing-burry-s-biggest-bet-4334</a:t>
            </a:r>
          </a:p>
          <a:p>
            <a:pPr algn="l" indent="-152400" marL="177800">
              <a:spcBef>
                <a:spcPts val="0"/>
              </a:spcBef>
              <a:spcAft>
                <a:spcPts val="200"/>
              </a:spcAft>
              <a:buFont typeface="Garamond"/>
              <a:buChar char="•"/>
            </a:pPr>
            <a:r>
              <a:rPr sz="700" b="0" i="0">
                <a:solidFill>
                  <a:srgbClr val="262626"/>
                </a:solidFill>
                <a:latin typeface="Garamond"/>
                <a:cs typeface="Garamond"/>
              </a:rPr>
              <a:t>[2] https://corporate.lululemon.com/newsroom/press-releases/2026/09-03-2026-210528733</a:t>
            </a:r>
          </a:p>
          <a:p>
            <a:pPr algn="l" indent="-152400" marL="177800">
              <a:spcBef>
                <a:spcPts val="0"/>
              </a:spcBef>
              <a:spcAft>
                <a:spcPts val="200"/>
              </a:spcAft>
              <a:buFont typeface="Garamond"/>
              <a:buChar char="•"/>
            </a:pPr>
            <a:r>
              <a:rPr sz="700" b="0" i="0">
                <a:solidFill>
                  <a:srgbClr val="262626"/>
                </a:solidFill>
                <a:latin typeface="Garamond"/>
                <a:cs typeface="Garamond"/>
              </a:rPr>
              <a:t>[3] https://www.gurufocus.com/term/long-term-debt-and-capital-lease-obligation/LULU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594360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0" y="201168"/>
            <a:ext cx="630936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0" bIns="0" rIns="762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Investment Thesis II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66928"/>
            <a:ext cx="1138428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This slide details how partial margin recovery from peak COVID levels still drives a highly compelling valuation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89611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1384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>
                <a:solidFill>
                  <a:srgbClr val="8C8C8C"/>
                </a:solidFill>
                <a:latin typeface="Garamond"/>
                <a:cs typeface="Garamond"/>
              </a:rPr>
              <a:t>Source: company SEC filings (Form 10-K, CIK 0001397187)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510528"/>
            <a:ext cx="8229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10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024128"/>
            <a:ext cx="11292840" cy="40690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 indent="-152400" marL="177800">
              <a:spcBef>
                <a:spcPts val="0"/>
              </a:spcBef>
              <a:spcAft>
                <a:spcPts val="600"/>
              </a:spcAft>
              <a:buFont typeface="Garamond"/>
              <a:buChar char="•"/>
            </a:pPr>
            <a:r>
              <a:rPr sz="1250" b="0" i="0">
                <a:solidFill>
                  <a:srgbClr val="262626"/>
                </a:solidFill>
                <a:latin typeface="Garamond"/>
                <a:cs typeface="Garamond"/>
              </a:rPr>
              <a:t>Historical pandemic-era peak EBIT margins reached 23.7% in FY24 showing prior peak earnings power [1]</a:t>
            </a:r>
          </a:p>
          <a:p>
            <a:pPr algn="l" indent="-152400" marL="177800">
              <a:spcBef>
                <a:spcPts val="0"/>
              </a:spcBef>
              <a:spcAft>
                <a:spcPts val="600"/>
              </a:spcAft>
              <a:buFont typeface="Garamond"/>
              <a:buChar char="•"/>
            </a:pPr>
            <a:r>
              <a:rPr sz="1250" b="0" i="0">
                <a:solidFill>
                  <a:srgbClr val="262626"/>
                </a:solidFill>
                <a:latin typeface="Garamond"/>
                <a:cs typeface="Garamond"/>
              </a:rPr>
              <a:t>Our model conservatively assumes margins permanently reset lower to a 13.2% run-rate trough in FY26 [2]</a:t>
            </a:r>
          </a:p>
          <a:p>
            <a:pPr algn="l" indent="-152400" marL="177800">
              <a:spcBef>
                <a:spcPts val="0"/>
              </a:spcBef>
              <a:spcAft>
                <a:spcPts val="600"/>
              </a:spcAft>
              <a:buFont typeface="Garamond"/>
              <a:buChar char="•"/>
            </a:pPr>
            <a:r>
              <a:rPr sz="1250" b="0" i="0">
                <a:solidFill>
                  <a:srgbClr val="262626"/>
                </a:solidFill>
                <a:latin typeface="Garamond"/>
                <a:cs typeface="Garamond"/>
              </a:rPr>
              <a:t>A modest partial recovery to just 15.5% EBIT margin by FY30 still yields $133.64 per share [3]</a:t>
            </a:r>
          </a:p>
          <a:p>
            <a:pPr algn="l" indent="-152400" marL="177800">
              <a:spcBef>
                <a:spcPts val="0"/>
              </a:spcBef>
              <a:spcAft>
                <a:spcPts val="600"/>
              </a:spcAft>
              <a:buFont typeface="Garamond"/>
              <a:buChar char="•"/>
            </a:pPr>
            <a:r>
              <a:rPr sz="1250" b="0" i="0">
                <a:solidFill>
                  <a:srgbClr val="262626"/>
                </a:solidFill>
                <a:latin typeface="Garamond"/>
                <a:cs typeface="Garamond"/>
              </a:rPr>
              <a:t>This proves returning to peak COVID profitability is completely unnecessary to unlock substantial market upside [4]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5532120"/>
            <a:ext cx="11292840" cy="9601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900" b="1" i="0">
                <a:solidFill>
                  <a:srgbClr val="990000"/>
                </a:solidFill>
                <a:latin typeface="Garamond"/>
                <a:cs typeface="Garamond"/>
              </a:rPr>
              <a:t>Links &amp; Sources</a:t>
            </a:r>
          </a:p>
          <a:p>
            <a:pPr algn="l" indent="-152400" marL="177800">
              <a:spcBef>
                <a:spcPts val="0"/>
              </a:spcBef>
              <a:spcAft>
                <a:spcPts val="200"/>
              </a:spcAft>
              <a:buFont typeface="Garamond"/>
              <a:buChar char="•"/>
            </a:pPr>
            <a:r>
              <a:rPr sz="700" b="0" i="0">
                <a:solidFill>
                  <a:srgbClr val="262626"/>
                </a:solidFill>
                <a:latin typeface="Garamond"/>
                <a:cs typeface="Garamond"/>
              </a:rPr>
              <a:t>[1] LULUMODEL18.xlsx / https://www.sec.gov/ix?doc=/Archives/edgar/data/0001397187/000139718724000013/lulu-20240128.htm</a:t>
            </a:r>
          </a:p>
          <a:p>
            <a:pPr algn="l" indent="-152400" marL="177800">
              <a:spcBef>
                <a:spcPts val="0"/>
              </a:spcBef>
              <a:spcAft>
                <a:spcPts val="200"/>
              </a:spcAft>
              <a:buFont typeface="Garamond"/>
              <a:buChar char="•"/>
            </a:pPr>
            <a:r>
              <a:rPr sz="700" b="0" i="0">
                <a:solidFill>
                  <a:srgbClr val="262626"/>
                </a:solidFill>
                <a:latin typeface="Garamond"/>
                <a:cs typeface="Garamond"/>
              </a:rPr>
              <a:t>[2] LULUMODEL18.xlsx, Clean Run-Rate EBIT Margin Assumptions</a:t>
            </a:r>
          </a:p>
          <a:p>
            <a:pPr algn="l" indent="-152400" marL="177800">
              <a:spcBef>
                <a:spcPts val="0"/>
              </a:spcBef>
              <a:spcAft>
                <a:spcPts val="200"/>
              </a:spcAft>
              <a:buFont typeface="Garamond"/>
              <a:buChar char="•"/>
            </a:pPr>
            <a:r>
              <a:rPr sz="700" b="0" i="0">
                <a:solidFill>
                  <a:srgbClr val="262626"/>
                </a:solidFill>
                <a:latin typeface="Garamond"/>
                <a:cs typeface="Garamond"/>
              </a:rPr>
              <a:t>[3] LULUMODEL18.xlsx, Base Case DCF Valuation Summary</a:t>
            </a:r>
          </a:p>
          <a:p>
            <a:pPr algn="l" indent="-152400" marL="177800">
              <a:spcBef>
                <a:spcPts val="0"/>
              </a:spcBef>
              <a:spcAft>
                <a:spcPts val="200"/>
              </a:spcAft>
              <a:buFont typeface="Garamond"/>
              <a:buChar char="•"/>
            </a:pPr>
            <a:r>
              <a:rPr sz="700" b="0" i="0">
                <a:solidFill>
                  <a:srgbClr val="262626"/>
                </a:solidFill>
                <a:latin typeface="Garamond"/>
                <a:cs typeface="Garamond"/>
              </a:rPr>
              <a:t>[4] LULUMODEL18.xlsx, Discounted Cash Flow Valuation Summary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594360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0" y="201168"/>
            <a:ext cx="630936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0" bIns="0" rIns="762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Investment Thesis III: Geographic Growth Divergence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66928"/>
            <a:ext cx="1138428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This slide examines how Lululemon's top-line projections rely disproportionately on Chinese market expansion to conceal domestic North American stagnation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89611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1384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>
                <a:solidFill>
                  <a:srgbClr val="8C8C8C"/>
                </a:solidFill>
                <a:latin typeface="Garamond"/>
                <a:cs typeface="Garamond"/>
              </a:rPr>
              <a:t>Source: company SEC filings (Form 10-K, CIK 0001397187)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510528"/>
            <a:ext cx="8229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024128"/>
            <a:ext cx="11292840" cy="43434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 indent="-152400" marL="177800">
              <a:spcBef>
                <a:spcPts val="0"/>
              </a:spcBef>
              <a:spcAft>
                <a:spcPts val="600"/>
              </a:spcAft>
              <a:buFont typeface="Garamond"/>
              <a:buChar char="•"/>
            </a:pPr>
            <a:r>
              <a:rPr sz="1250" b="0" i="0">
                <a:solidFill>
                  <a:srgbClr val="262626"/>
                </a:solidFill>
                <a:latin typeface="Garamond"/>
                <a:cs typeface="Garamond"/>
              </a:rPr>
              <a:t>The revenue build reveals Americas facing near-term contraction with -4.0% comps in FY26 flatlining at a terminal 2.0% growth rate by FY30 [1]</a:t>
            </a:r>
          </a:p>
          <a:p>
            <a:pPr algn="l" indent="-152400" marL="177800">
              <a:spcBef>
                <a:spcPts val="0"/>
              </a:spcBef>
              <a:spcAft>
                <a:spcPts val="600"/>
              </a:spcAft>
              <a:buFont typeface="Garamond"/>
              <a:buChar char="•"/>
            </a:pPr>
            <a:r>
              <a:rPr sz="1250" b="0" i="0">
                <a:solidFill>
                  <a:srgbClr val="262626"/>
                </a:solidFill>
                <a:latin typeface="Garamond"/>
                <a:cs typeface="Garamond"/>
              </a:rPr>
              <a:t>To offset this domestic anchor, model projections rely entirely on FY2026 store openings skewing to China (+20 openings) versus mature Americas (+8 openings) alongside aggressive +14.0% comp sales growth [2]</a:t>
            </a:r>
          </a:p>
          <a:p>
            <a:pPr algn="l" indent="-152400" marL="177800">
              <a:spcBef>
                <a:spcPts val="0"/>
              </a:spcBef>
              <a:spcAft>
                <a:spcPts val="600"/>
              </a:spcAft>
              <a:buFont typeface="Garamond"/>
              <a:buChar char="•"/>
            </a:pPr>
            <a:r>
              <a:rPr sz="1250" b="0" i="0">
                <a:solidFill>
                  <a:srgbClr val="262626"/>
                </a:solidFill>
                <a:latin typeface="Garamond"/>
                <a:cs typeface="Garamond"/>
              </a:rPr>
              <a:t>Consequently, if the Chinese consumer softens, this model's core top-line projections will mathematically break [3]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5532120"/>
            <a:ext cx="11292840" cy="9601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900" b="1" i="0">
                <a:solidFill>
                  <a:srgbClr val="990000"/>
                </a:solidFill>
                <a:latin typeface="Garamond"/>
                <a:cs typeface="Garamond"/>
              </a:rPr>
              <a:t>Links &amp; Sources</a:t>
            </a:r>
          </a:p>
          <a:p>
            <a:pPr algn="l" indent="-152400" marL="177800">
              <a:spcBef>
                <a:spcPts val="0"/>
              </a:spcBef>
              <a:spcAft>
                <a:spcPts val="200"/>
              </a:spcAft>
              <a:buFont typeface="Garamond"/>
              <a:buChar char="•"/>
            </a:pPr>
            <a:r>
              <a:rPr sz="700" b="0" i="0">
                <a:solidFill>
                  <a:srgbClr val="262626"/>
                </a:solidFill>
                <a:latin typeface="Garamond"/>
                <a:cs typeface="Garamond"/>
              </a:rPr>
              <a:t>[1] LULUMODEL18.xlsx, Americas FY26-FY30 Comparable Sales Growth Assumptions</a:t>
            </a:r>
          </a:p>
          <a:p>
            <a:pPr algn="l" indent="-152400" marL="177800">
              <a:spcBef>
                <a:spcPts val="0"/>
              </a:spcBef>
              <a:spcAft>
                <a:spcPts val="200"/>
              </a:spcAft>
              <a:buFont typeface="Garamond"/>
              <a:buChar char="•"/>
            </a:pPr>
            <a:r>
              <a:rPr sz="700" b="0" i="0">
                <a:solidFill>
                  <a:srgbClr val="262626"/>
                </a:solidFill>
                <a:latin typeface="Garamond"/>
                <a:cs typeface="Garamond"/>
              </a:rPr>
              <a:t>[2] LULUMODEL18.xlsx, FY26 Store Openings &amp; Mainland China Revenue Build</a:t>
            </a:r>
          </a:p>
          <a:p>
            <a:pPr algn="l" indent="-152400" marL="177800">
              <a:spcBef>
                <a:spcPts val="0"/>
              </a:spcBef>
              <a:spcAft>
                <a:spcPts val="200"/>
              </a:spcAft>
              <a:buFont typeface="Garamond"/>
              <a:buChar char="•"/>
            </a:pPr>
            <a:r>
              <a:rPr sz="700" b="0" i="0">
                <a:solidFill>
                  <a:srgbClr val="262626"/>
                </a:solidFill>
                <a:latin typeface="Garamond"/>
                <a:cs typeface="Garamond"/>
              </a:rPr>
              <a:t>[3] LULUMODEL18.xlsx, Revenue Drivers Schedule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594360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0" y="201168"/>
            <a:ext cx="630936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0" bIns="0" rIns="762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Risk &amp; Mitigants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66928"/>
            <a:ext cx="1138428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This slide evaluates core downside risks and demonstrates how share repurchases compound EPS to drive share price recovery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89611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1384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>
                <a:solidFill>
                  <a:srgbClr val="8C8C8C"/>
                </a:solidFill>
                <a:latin typeface="Garamond"/>
                <a:cs typeface="Garamond"/>
              </a:rPr>
              <a:t>Source: company SEC filings (Form 10-K, CIK 0001397187)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510528"/>
            <a:ext cx="8229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12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024128"/>
            <a:ext cx="11292840" cy="43434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 indent="-152400" marL="177800">
              <a:spcBef>
                <a:spcPts val="0"/>
              </a:spcBef>
              <a:spcAft>
                <a:spcPts val="600"/>
              </a:spcAft>
              <a:buFont typeface="Garamond"/>
              <a:buChar char="•"/>
            </a:pPr>
            <a:r>
              <a:rPr sz="1250" b="0" i="0">
                <a:solidFill>
                  <a:srgbClr val="262626"/>
                </a:solidFill>
                <a:latin typeface="Garamond"/>
                <a:cs typeface="Garamond"/>
              </a:rPr>
              <a:t>China deceleration risks a $56.00 bear floor, but $45.64 cumulative cash per share recovers 45% of entry price [1]</a:t>
            </a:r>
          </a:p>
          <a:p>
            <a:pPr algn="l" indent="-152400" marL="177800">
              <a:spcBef>
                <a:spcPts val="0"/>
              </a:spcBef>
              <a:spcAft>
                <a:spcPts val="600"/>
              </a:spcAft>
              <a:buFont typeface="Garamond"/>
              <a:buChar char="•"/>
            </a:pPr>
            <a:r>
              <a:rPr sz="1250" b="0" i="0">
                <a:solidFill>
                  <a:srgbClr val="262626"/>
                </a:solidFill>
                <a:latin typeface="Garamond"/>
                <a:cs typeface="Garamond"/>
              </a:rPr>
              <a:t>Slashed CapEx saves $360M annually by relying on online e-commerce's 23.6% EBIT margin plus $101.5M inventory releases [2]</a:t>
            </a:r>
          </a:p>
          <a:p>
            <a:pPr algn="l" indent="-152400" marL="177800">
              <a:spcBef>
                <a:spcPts val="0"/>
              </a:spcBef>
              <a:spcAft>
                <a:spcPts val="600"/>
              </a:spcAft>
              <a:buFont typeface="Garamond"/>
              <a:buChar char="•"/>
            </a:pPr>
            <a:r>
              <a:rPr sz="1250" b="0" i="0">
                <a:solidFill>
                  <a:srgbClr val="262626"/>
                </a:solidFill>
                <a:latin typeface="Garamond"/>
                <a:cs typeface="Garamond"/>
              </a:rPr>
              <a:t>Deploying 75% UFCF into buybacks retires 28 million shares, compounding EPS to $14.93 to elevate share price to $133.64 [3]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5532120"/>
            <a:ext cx="11292840" cy="9601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900" b="1" i="0">
                <a:solidFill>
                  <a:srgbClr val="990000"/>
                </a:solidFill>
                <a:latin typeface="Garamond"/>
                <a:cs typeface="Garamond"/>
              </a:rPr>
              <a:t>Links &amp; Sources</a:t>
            </a:r>
          </a:p>
          <a:p>
            <a:pPr algn="l" indent="-152400" marL="177800">
              <a:spcBef>
                <a:spcPts val="0"/>
              </a:spcBef>
              <a:spcAft>
                <a:spcPts val="200"/>
              </a:spcAft>
              <a:buFont typeface="Garamond"/>
              <a:buChar char="•"/>
            </a:pPr>
            <a:r>
              <a:rPr sz="700" b="0" i="0">
                <a:solidFill>
                  <a:srgbClr val="262626"/>
                </a:solidFill>
                <a:latin typeface="Garamond"/>
                <a:cs typeface="Garamond"/>
              </a:rPr>
              <a:t>[1] LULUMODEL18.xlsx, Bear Case DCF Valuation Summary / https://www.barrons.com/articles/lululemon-stock-earnings-guidance-a7a7c5c0</a:t>
            </a:r>
          </a:p>
          <a:p>
            <a:pPr algn="l" indent="-152400" marL="177800">
              <a:spcBef>
                <a:spcPts val="0"/>
              </a:spcBef>
              <a:spcAft>
                <a:spcPts val="200"/>
              </a:spcAft>
              <a:buFont typeface="Garamond"/>
              <a:buChar char="•"/>
            </a:pPr>
            <a:r>
              <a:rPr sz="700" b="0" i="0">
                <a:solidFill>
                  <a:srgbClr val="262626"/>
                </a:solidFill>
                <a:latin typeface="Garamond"/>
                <a:cs typeface="Garamond"/>
              </a:rPr>
              <a:t>[2] LULUMODEL18.xlsx, CapEx &amp; E-Commerce Channel EBIT Assumptions / https://corporate.lululemon.com/newsroom/press-releases/2026/09-03-2026-210528733</a:t>
            </a:r>
          </a:p>
          <a:p>
            <a:pPr algn="l" indent="-152400" marL="177800">
              <a:spcBef>
                <a:spcPts val="0"/>
              </a:spcBef>
              <a:spcAft>
                <a:spcPts val="200"/>
              </a:spcAft>
              <a:buFont typeface="Garamond"/>
              <a:buChar char="•"/>
            </a:pPr>
            <a:r>
              <a:rPr sz="700" b="0" i="0">
                <a:solidFill>
                  <a:srgbClr val="262626"/>
                </a:solidFill>
                <a:latin typeface="Garamond"/>
                <a:cs typeface="Garamond"/>
              </a:rPr>
              <a:t>[3] LULUMODEL18.xlsx, Share Repurchase &amp; EPS Accretion Schedule / https://corporate.lululemon.com/newsroom/press-releases/2026/09-03-2026-210528733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594360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0" y="201168"/>
            <a:ext cx="630936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0" bIns="0" rIns="762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Timeline of Recovery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66928"/>
            <a:ext cx="1138428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Sequence of recovery milestones that close the gap to intrinsic value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89611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1384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>
                <a:solidFill>
                  <a:srgbClr val="8C8C8C"/>
                </a:solidFill>
                <a:latin typeface="Garamond"/>
                <a:cs typeface="Garamond"/>
              </a:rPr>
              <a:t>Source: company SEC filings (Form 10-K, CIK 0001397187)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510528"/>
            <a:ext cx="8229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13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298448"/>
            <a:ext cx="3063240" cy="1115568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FFC72C"/>
                </a:solidFill>
                <a:latin typeface="Garamond"/>
                <a:cs typeface="Garamond"/>
              </a:rPr>
              <a:t>2026 (Q3 FY2026 Trough)</a:t>
            </a:r>
          </a:p>
        </p:txBody>
      </p:sp>
      <p:sp>
        <p:nvSpPr>
          <p:cNvPr id="9" name="Rectangle 8"/>
          <p:cNvSpPr/>
          <p:nvPr/>
        </p:nvSpPr>
        <p:spPr>
          <a:xfrm>
            <a:off x="3657600" y="1298448"/>
            <a:ext cx="8092440" cy="1115568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50" b="0" i="0">
                <a:solidFill>
                  <a:srgbClr val="262626"/>
                </a:solidFill>
                <a:latin typeface="Garamond"/>
                <a:cs typeface="Garamond"/>
              </a:rPr>
              <a:t>Q3 FY2026 revenue laps guidance trough while China Double 11 sales confirm holiday store traffic floor stabilization across key markets [1]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2432304"/>
            <a:ext cx="3063240" cy="1115568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FFC72C"/>
                </a:solidFill>
                <a:latin typeface="Garamond"/>
                <a:cs typeface="Garamond"/>
              </a:rPr>
              <a:t>2027 (FY2026 Year-End)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657600" y="2432304"/>
            <a:ext cx="8092440" cy="1115568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50" b="0" i="0">
                <a:solidFill>
                  <a:srgbClr val="262626"/>
                </a:solidFill>
                <a:latin typeface="Garamond"/>
                <a:cs typeface="Garamond"/>
              </a:rPr>
              <a:t>First full-year reset absorbs steep prior declines while $134.5M tariff refunds and targeted SG&amp;A cost actions protect earnings per share [2]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3566160"/>
            <a:ext cx="3063240" cy="1115568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FFC72C"/>
                </a:solidFill>
                <a:latin typeface="Garamond"/>
                <a:cs typeface="Garamond"/>
              </a:rPr>
              <a:t>2027 (FY2027 Margin Inflection)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657600" y="3566160"/>
            <a:ext cx="8092440" cy="1115568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50" b="0" i="0">
                <a:solidFill>
                  <a:srgbClr val="262626"/>
                </a:solidFill>
                <a:latin typeface="Garamond"/>
                <a:cs typeface="Garamond"/>
              </a:rPr>
              <a:t>Operating margins expand to 13.8% (+60 bps) as promotional headwinds anniversary, while 75% UFCF buybacks compound EPS to boost sentiment [3]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4700016"/>
            <a:ext cx="3063240" cy="1115568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FFC72C"/>
                </a:solidFill>
                <a:latin typeface="Garamond"/>
                <a:cs typeface="Garamond"/>
              </a:rPr>
              <a:t>2028 (FY2027–FY2028 Multiple Re-Rating)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657600" y="4700016"/>
            <a:ext cx="8092440" cy="1115568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50" b="0" i="0">
                <a:solidFill>
                  <a:srgbClr val="262626"/>
                </a:solidFill>
                <a:latin typeface="Garamond"/>
                <a:cs typeface="Garamond"/>
              </a:rPr>
              <a:t>Accelerating international store scaling (+12% China comps) offsets Americas softness (-4%), driving overall revenue recovery and valuation re-rating toward $133.64 [4]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5376672"/>
            <a:ext cx="11292840" cy="9601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900" b="1" i="0">
                <a:solidFill>
                  <a:srgbClr val="990000"/>
                </a:solidFill>
                <a:latin typeface="Garamond"/>
                <a:cs typeface="Garamond"/>
              </a:rPr>
              <a:t>Links &amp; Sources</a:t>
            </a:r>
          </a:p>
          <a:p>
            <a:pPr algn="l" indent="-152400" marL="177800">
              <a:spcBef>
                <a:spcPts val="0"/>
              </a:spcBef>
              <a:spcAft>
                <a:spcPts val="200"/>
              </a:spcAft>
              <a:buFont typeface="Garamond"/>
              <a:buChar char="•"/>
            </a:pPr>
            <a:r>
              <a:rPr sz="700" b="0" i="0">
                <a:solidFill>
                  <a:srgbClr val="262626"/>
                </a:solidFill>
                <a:latin typeface="Garamond"/>
                <a:cs typeface="Garamond"/>
              </a:rPr>
              <a:t>[1] LULUMODEL18.xlsx, Scenarios &amp; Revenue Drivers / https://corporate.lululemon.com/newsroom/press-releases/2026/09-03-2026-210528733</a:t>
            </a:r>
          </a:p>
          <a:p>
            <a:pPr algn="l" indent="-152400" marL="177800">
              <a:spcBef>
                <a:spcPts val="0"/>
              </a:spcBef>
              <a:spcAft>
                <a:spcPts val="200"/>
              </a:spcAft>
              <a:buFont typeface="Garamond"/>
              <a:buChar char="•"/>
            </a:pPr>
            <a:r>
              <a:rPr sz="700" b="0" i="0">
                <a:solidFill>
                  <a:srgbClr val="262626"/>
                </a:solidFill>
                <a:latin typeface="Garamond"/>
                <a:cs typeface="Garamond"/>
              </a:rPr>
              <a:t>[2] LULUMODEL18.xlsx, NOPAT Bridge &amp; Scenarios / https://corporate.lululemon.com/newsroom/press-releases/2026/09-03-2026-210528733</a:t>
            </a:r>
          </a:p>
          <a:p>
            <a:pPr algn="l" indent="-152400" marL="177800">
              <a:spcBef>
                <a:spcPts val="0"/>
              </a:spcBef>
              <a:spcAft>
                <a:spcPts val="200"/>
              </a:spcAft>
              <a:buFont typeface="Garamond"/>
              <a:buChar char="•"/>
            </a:pPr>
            <a:r>
              <a:rPr sz="700" b="0" i="0">
                <a:solidFill>
                  <a:srgbClr val="262626"/>
                </a:solidFill>
                <a:latin typeface="Garamond"/>
                <a:cs typeface="Garamond"/>
              </a:rPr>
              <a:t>[3] LULUMODEL18.xlsx, Scenarios &amp; Unlevered Free Cash Flow Schedule / https://corporate.lululemon.com/newsroom/press-releases/2026/09-03-2026-210528733</a:t>
            </a:r>
          </a:p>
          <a:p>
            <a:pPr algn="l" indent="-152400" marL="177800">
              <a:spcBef>
                <a:spcPts val="0"/>
              </a:spcBef>
              <a:spcAft>
                <a:spcPts val="200"/>
              </a:spcAft>
              <a:buFont typeface="Garamond"/>
              <a:buChar char="•"/>
            </a:pPr>
            <a:r>
              <a:rPr sz="700" b="0" i="0">
                <a:solidFill>
                  <a:srgbClr val="262626"/>
                </a:solidFill>
                <a:latin typeface="Garamond"/>
                <a:cs typeface="Garamond"/>
              </a:rPr>
              <a:t>[4] LULUMODEL18.xlsx, Revenue Drivers &amp; DCF Valuation Summary / https://stockanalysis.com/stocks/lulu/forecast/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594360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0" y="201168"/>
            <a:ext cx="630936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0" bIns="0" rIns="762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Financials | Income Statement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66928"/>
            <a:ext cx="1138428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Reported history (10-K) vs base-case operating forecast: FY26–30 (US$ M)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89611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1384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>
                <a:solidFill>
                  <a:srgbClr val="8C8C8C"/>
                </a:solidFill>
                <a:latin typeface="Garamond"/>
                <a:cs typeface="Garamond"/>
              </a:rPr>
              <a:t>All forecast lines: LULU_DCF_Valuation_Model.xlsx → Scenarios tab → pitch deck bridge block (col G).  Hist = 10-K. Forecast (26–30) = DCF Scenarios pitch-bridge block, col G (base case only). Per-row model refs shown under line items.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510528"/>
            <a:ext cx="8229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14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024128"/>
            <a:ext cx="5532120" cy="2240280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HISTORICALS (FY2022–FY2025) | SEC 10-K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262626"/>
                </a:solidFill>
                <a:latin typeface="Garamond"/>
                <a:cs typeface="Garamond"/>
              </a:rPr>
              <a:t>Net revenue: FY22 $8,111M → FY25 $11,103M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262626"/>
                </a:solidFill>
                <a:latin typeface="Garamond"/>
                <a:cs typeface="Garamond"/>
              </a:rPr>
              <a:t>Gross profit: FY22 4,492M → FY25 6,284M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262626"/>
                </a:solidFill>
                <a:latin typeface="Garamond"/>
                <a:cs typeface="Garamond"/>
              </a:rPr>
              <a:t>Operating income: FY22 1,328M → FY25 2,211M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262626"/>
                </a:solidFill>
                <a:latin typeface="Garamond"/>
                <a:cs typeface="Garamond"/>
              </a:rPr>
              <a:t>Operating margin %: FY22 16.4% → FY25 19.9% (peak 23.7% FY24)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262626"/>
                </a:solidFill>
                <a:latin typeface="Garamond"/>
                <a:cs typeface="Garamond"/>
              </a:rPr>
              <a:t>Net income: FY22 855M → FY25 1,579M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262626"/>
                </a:solidFill>
                <a:latin typeface="Garamond"/>
                <a:cs typeface="Garamond"/>
              </a:rPr>
              <a:t>Diluted EPS: FY22 $6.68 → FY25 $13.26</a:t>
            </a:r>
          </a:p>
        </p:txBody>
      </p:sp>
      <p:sp>
        <p:nvSpPr>
          <p:cNvPr id="9" name="Rectangle 8"/>
          <p:cNvSpPr/>
          <p:nvPr/>
        </p:nvSpPr>
        <p:spPr>
          <a:xfrm>
            <a:off x="6126480" y="1024128"/>
            <a:ext cx="5532120" cy="224028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1100" b="1" i="0">
                <a:solidFill>
                  <a:srgbClr val="FFC72C"/>
                </a:solidFill>
                <a:latin typeface="Garamond"/>
                <a:cs typeface="Garamond"/>
              </a:rPr>
              <a:t>FORECAST (FY2026E–FY2030E) | base case (Scenarios col G)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FFFFFF"/>
                </a:solidFill>
                <a:latin typeface="Garamond"/>
                <a:cs typeface="Garamond"/>
              </a:rPr>
              <a:t>Net revenue: FY26 10,425M → FY30 11,418M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FFFFFF"/>
                </a:solidFill>
                <a:latin typeface="Garamond"/>
                <a:cs typeface="Garamond"/>
              </a:rPr>
              <a:t>Gross profit: FY26 5,901M → FY30 6,463M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FFFFFF"/>
                </a:solidFill>
                <a:latin typeface="Garamond"/>
                <a:cs typeface="Garamond"/>
              </a:rPr>
              <a:t>Operating income: FY26 1,511M → FY30 1,770M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FFFFFF"/>
                </a:solidFill>
                <a:latin typeface="Garamond"/>
                <a:cs typeface="Garamond"/>
              </a:rPr>
              <a:t>Operating margin %: FY26 14.5% → FY30 15.5%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FFFFFF"/>
                </a:solidFill>
                <a:latin typeface="Garamond"/>
                <a:cs typeface="Garamond"/>
              </a:rPr>
              <a:t>Net income: FY26 1,089M → FY30 1,256M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FFFFFF"/>
                </a:solidFill>
                <a:latin typeface="Garamond"/>
                <a:cs typeface="Garamond"/>
              </a:rPr>
              <a:t>Diluted EPS: FY26 $9776.90 → FY30 $11279.95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457200" y="3364992"/>
          <a:ext cx="11292840" cy="20299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48840"/>
                <a:gridCol w="1016000"/>
                <a:gridCol w="1016000"/>
                <a:gridCol w="1016000"/>
                <a:gridCol w="1016000"/>
                <a:gridCol w="1016000"/>
                <a:gridCol w="1016000"/>
                <a:gridCol w="1016000"/>
                <a:gridCol w="1016000"/>
                <a:gridCol w="1016000"/>
              </a:tblGrid>
              <a:tr h="289995">
                <a:tc>
                  <a:txBody>
                    <a:bodyPr/>
                    <a:lstStyle/>
                    <a:p>
                      <a:pPr algn="l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US$ M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22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23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24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25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26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27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28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29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30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</a:tr>
              <a:tr h="289995">
                <a:tc>
                  <a:txBody>
                    <a:bodyPr wrap="square"/>
                    <a:lstStyle/>
                    <a:p>
                      <a:pPr algn="l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Net revenue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8,111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9,619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10,588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11,103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10,425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10,665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10,910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11,161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11,418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289995">
                <a:tc>
                  <a:txBody>
                    <a:bodyPr wrap="square"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Gross profit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4,492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5,609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6,271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6,284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5,901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6,036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6,175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6,317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6,463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  <a:tr h="289995">
                <a:tc>
                  <a:txBody>
                    <a:bodyPr wrap="square"/>
                    <a:lstStyle/>
                    <a:p>
                      <a:pPr algn="l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Operating income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1,328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2,133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2,506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2,211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1,511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1,469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1,566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1,666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1,770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289995">
                <a:tc>
                  <a:txBody>
                    <a:bodyPr wrap="square"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Operating margin %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16.4%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22.2%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23.7%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19.9%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14.5%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13.8%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14.4%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14.9%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15.5%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  <a:tr h="289995">
                <a:tc>
                  <a:txBody>
                    <a:bodyPr wrap="square"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Net income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855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1,550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1,815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1,579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1,089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1,056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1,120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1,187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1,256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289998">
                <a:tc>
                  <a:txBody>
                    <a:bodyPr wrap="square"/>
                    <a:lstStyle/>
                    <a:p>
                      <a:pPr algn="l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Diluted EPS ($)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6.68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12.20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14.64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13.26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9776.90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9484.51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10059.72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10657.96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11279.95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457200" y="5413248"/>
          <a:ext cx="11292840" cy="868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91640"/>
                <a:gridCol w="4800600"/>
                <a:gridCol w="4800600"/>
              </a:tblGrid>
              <a:tr h="124097">
                <a:tc>
                  <a:txBody>
                    <a:bodyPr/>
                    <a:lstStyle/>
                    <a:p>
                      <a:pPr algn="l"/>
                      <a:r>
                        <a:rPr sz="7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Line item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Hist source (22–25)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Fcst source, Scenarios col G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</a:tr>
              <a:tr h="124097"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Net revenue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10-K IS, Net revenue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Scenarios!G25:G29 (Revenue yr 1–5)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124097"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Gross profit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10-K IS, Gross profit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Scenarios!G25:G29 × Scenarios!G30:G34 (rev × GM%)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  <a:tr h="124097"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Operating income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10-K IS, Operating income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Scenarios!G45:G49 (EBIT yr 1–5)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124097"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Operating margin %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10-K IS, OI ÷ revenue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Scenarios!G45:G49 ÷ Scenarios!G25:G29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  <a:tr h="124097"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Net income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10-K IS, Net income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Scenarios!G143:G147 (pitch bridge NI)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124098"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Diluted EPS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10-K IS, Diluted EPS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Scenarios!G183:G187 (pitch bridge EPS)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594360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0" y="201168"/>
            <a:ext cx="630936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0" bIns="0" rIns="762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Financials | Balance Sheet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66928"/>
            <a:ext cx="1138428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Net-cash history vs base-case funded growth: FY26–30 (US$ M)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89611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1384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>
                <a:solidFill>
                  <a:srgbClr val="8C8C8C"/>
                </a:solidFill>
                <a:latin typeface="Garamond"/>
                <a:cs typeface="Garamond"/>
              </a:rPr>
              <a:t>BS forecast: Scenarios pitch bridge (cash waterfall + FY25 BS × revenue growth), col G.  Hist = 10-K. Forecast (26–30) = DCF Scenarios pitch-bridge block, col G (base case only). Per-row model refs shown under line items.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510528"/>
            <a:ext cx="8229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15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024128"/>
            <a:ext cx="5532120" cy="2240280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HISTORICALS (FY2022–FY2025) | SEC 10-K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262626"/>
                </a:solidFill>
                <a:latin typeface="Garamond"/>
                <a:cs typeface="Garamond"/>
              </a:rPr>
              <a:t>Cash &amp; equivalents: FY22 1,155M → FY25 1,807M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262626"/>
                </a:solidFill>
                <a:latin typeface="Garamond"/>
                <a:cs typeface="Garamond"/>
              </a:rPr>
              <a:t>Inventories: FY22 1,447M → FY25 1,701M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262626"/>
                </a:solidFill>
                <a:latin typeface="Garamond"/>
                <a:cs typeface="Garamond"/>
              </a:rPr>
              <a:t>Total assets: FY22 5,607M → FY25 8,457M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262626"/>
                </a:solidFill>
                <a:latin typeface="Garamond"/>
                <a:cs typeface="Garamond"/>
              </a:rPr>
              <a:t>Total liabilities: FY22 2,458M → FY25 3,495M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262626"/>
                </a:solidFill>
                <a:latin typeface="Garamond"/>
                <a:cs typeface="Garamond"/>
              </a:rPr>
              <a:t>Total equity: FY22 3,149M → FY25 4,962M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262626"/>
                </a:solidFill>
                <a:latin typeface="Garamond"/>
                <a:cs typeface="Garamond"/>
              </a:rPr>
              <a:t>Funded debt: $0 across FY22–FY25 (net-cash)</a:t>
            </a:r>
          </a:p>
        </p:txBody>
      </p:sp>
      <p:sp>
        <p:nvSpPr>
          <p:cNvPr id="9" name="Rectangle 8"/>
          <p:cNvSpPr/>
          <p:nvPr/>
        </p:nvSpPr>
        <p:spPr>
          <a:xfrm>
            <a:off x="6126480" y="1024128"/>
            <a:ext cx="5532120" cy="224028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1100" b="1" i="0">
                <a:solidFill>
                  <a:srgbClr val="FFC72C"/>
                </a:solidFill>
                <a:latin typeface="Garamond"/>
                <a:cs typeface="Garamond"/>
              </a:rPr>
              <a:t>FORECAST (FY2026E–FY2030E) | base case (Scenarios col G)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FFFFFF"/>
                </a:solidFill>
                <a:latin typeface="Garamond"/>
                <a:cs typeface="Garamond"/>
              </a:rPr>
              <a:t>Cash &amp; equivalents: FY26 2,393M → FY30 4,497M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FFFFFF"/>
                </a:solidFill>
                <a:latin typeface="Garamond"/>
                <a:cs typeface="Garamond"/>
              </a:rPr>
              <a:t>Inventories: FY26 1,585M → FY30 1,681M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FFFFFF"/>
                </a:solidFill>
                <a:latin typeface="Garamond"/>
                <a:cs typeface="Garamond"/>
              </a:rPr>
              <a:t>Total assets: FY26 7,941M → FY30 8,697M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FFFFFF"/>
                </a:solidFill>
                <a:latin typeface="Garamond"/>
                <a:cs typeface="Garamond"/>
              </a:rPr>
              <a:t>Total liabilities: FY26 3,282M → FY30 3,594M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FFFFFF"/>
                </a:solidFill>
                <a:latin typeface="Garamond"/>
                <a:cs typeface="Garamond"/>
              </a:rPr>
              <a:t>Total equity: FY26 4,659M → FY30 5,103M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FFFFFF"/>
                </a:solidFill>
                <a:latin typeface="Garamond"/>
                <a:cs typeface="Garamond"/>
              </a:rPr>
              <a:t>Funded debt: $0 (no term debt in model)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457200" y="3364992"/>
          <a:ext cx="11292840" cy="20299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48840"/>
                <a:gridCol w="1016000"/>
                <a:gridCol w="1016000"/>
                <a:gridCol w="1016000"/>
                <a:gridCol w="1016000"/>
                <a:gridCol w="1016000"/>
                <a:gridCol w="1016000"/>
                <a:gridCol w="1016000"/>
                <a:gridCol w="1016000"/>
                <a:gridCol w="1016000"/>
              </a:tblGrid>
              <a:tr h="289995">
                <a:tc>
                  <a:txBody>
                    <a:bodyPr/>
                    <a:lstStyle/>
                    <a:p>
                      <a:pPr algn="l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US$ M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22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23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24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25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26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27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28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29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30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</a:tr>
              <a:tr h="289995">
                <a:tc>
                  <a:txBody>
                    <a:bodyPr wrap="square"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Cash &amp; equivalents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1,155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2,244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1,984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1,807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2,393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2,825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3,317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3,874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4,497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289995">
                <a:tc>
                  <a:txBody>
                    <a:bodyPr wrap="square"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Inventories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1,447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1,324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1,442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1,701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1,585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1,608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1,632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1,657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1,681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  <a:tr h="289995">
                <a:tc>
                  <a:txBody>
                    <a:bodyPr wrap="square"/>
                    <a:lstStyle/>
                    <a:p>
                      <a:pPr algn="l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Total assets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5,607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7,092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7,603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8,457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7,941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8,124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8,310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8,502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8,697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289995">
                <a:tc>
                  <a:txBody>
                    <a:bodyPr wrap="square"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Total liabilities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2,458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2,860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3,279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3,495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3,282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3,357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3,434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3,513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3,594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  <a:tr h="289995">
                <a:tc>
                  <a:txBody>
                    <a:bodyPr wrap="square"/>
                    <a:lstStyle/>
                    <a:p>
                      <a:pPr algn="l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Total equity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3,149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4,232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4,324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4,962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4,659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4,766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4,876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4,988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5,103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289998">
                <a:tc>
                  <a:txBody>
                    <a:bodyPr wrap="square"/>
                    <a:lstStyle/>
                    <a:p>
                      <a:pPr algn="l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Funded debt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0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0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0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0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0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0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0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0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0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457200" y="5413248"/>
          <a:ext cx="11292840" cy="868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91640"/>
                <a:gridCol w="4800600"/>
                <a:gridCol w="4800600"/>
              </a:tblGrid>
              <a:tr h="124097">
                <a:tc>
                  <a:txBody>
                    <a:bodyPr/>
                    <a:lstStyle/>
                    <a:p>
                      <a:pPr algn="l"/>
                      <a:r>
                        <a:rPr sz="7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Line item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Hist source (22–25)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Fcst source, Scenarios col G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</a:tr>
              <a:tr h="124097"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Cash &amp; equivalents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10-K BS, Cash &amp; equivalents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Scenarios!G163:G167 (pitch bridge cash roll-forward)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124097"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Inventories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10-K BS, Inventories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Scenarios!G80:G84 (NWC schedule)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  <a:tr h="124097"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Total assets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10-K BS, Total assets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Scenarios!G168:G172 (FY25 TA × rev growth)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124097"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Total liabilities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10-K BS, Total liabilities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Scenarios!G173:G177 (FY25 TL × rev growth)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  <a:tr h="124097"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Total equity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10-K BS, Total equity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Scenarios!G178:G182 (FY25 TE × rev growth)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124098"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Funded debt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10-K BS, Long-term debt ($0)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Model assumption, $0 (no term debt)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594360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0" y="201168"/>
            <a:ext cx="630936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0" bIns="0" rIns="762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Financials | Cash Flow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66928"/>
            <a:ext cx="1138428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Operating FCF (DCF input) vs financing: historical 10-K vs base case (US$ M)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89611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1384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>
                <a:solidFill>
                  <a:srgbClr val="8C8C8C"/>
                </a:solidFill>
                <a:latin typeface="Garamond"/>
                <a:cs typeface="Garamond"/>
              </a:rPr>
              <a:t>Buybacks: col G = $500M/yr fixed (Scenarios assumptions).  Hist = 10-K. Forecast (26–30) = DCF Scenarios pitch-bridge block, col G (base case only). Per-row model refs shown under line items.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510528"/>
            <a:ext cx="8229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16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024128"/>
            <a:ext cx="5532120" cy="2240280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HISTORICALS (FY2022–FY2025) | SEC 10-K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1000" b="0" i="0">
                <a:solidFill>
                  <a:srgbClr val="262626"/>
                </a:solidFill>
                <a:latin typeface="Garamond"/>
                <a:cs typeface="Garamond"/>
              </a:rPr>
              <a:t>Cash from operations: FY22 966M → FY25 1,602M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1000" b="0" i="0">
                <a:solidFill>
                  <a:srgbClr val="262626"/>
                </a:solidFill>
                <a:latin typeface="Garamond"/>
                <a:cs typeface="Garamond"/>
              </a:rPr>
              <a:t>D&amp;A (add-back): FY22 292M → FY25 496M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1000" b="0" i="0">
                <a:solidFill>
                  <a:srgbClr val="262626"/>
                </a:solidFill>
                <a:latin typeface="Garamond"/>
                <a:cs typeface="Garamond"/>
              </a:rPr>
              <a:t>Capital expenditures: FY25 (681) outflow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1000" b="0" i="0">
                <a:solidFill>
                  <a:srgbClr val="262626"/>
                </a:solidFill>
                <a:latin typeface="Garamond"/>
                <a:cs typeface="Garamond"/>
              </a:rPr>
              <a:t>Free cash flow: FY25 922M (CFO − capex)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1000" b="0" i="0">
                <a:solidFill>
                  <a:srgbClr val="262626"/>
                </a:solidFill>
                <a:latin typeface="Garamond"/>
                <a:cs typeface="Garamond"/>
              </a:rPr>
              <a:t>Share repurchases (CFF): FY25 (1,178) outflow</a:t>
            </a:r>
          </a:p>
        </p:txBody>
      </p:sp>
      <p:sp>
        <p:nvSpPr>
          <p:cNvPr id="9" name="Rectangle 8"/>
          <p:cNvSpPr/>
          <p:nvPr/>
        </p:nvSpPr>
        <p:spPr>
          <a:xfrm>
            <a:off x="6126480" y="1024128"/>
            <a:ext cx="5532120" cy="224028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1100" b="1" i="0">
                <a:solidFill>
                  <a:srgbClr val="FFC72C"/>
                </a:solidFill>
                <a:latin typeface="Garamond"/>
                <a:cs typeface="Garamond"/>
              </a:rPr>
              <a:t>FORECAST (FY2026E–FY2030E) | base case (Scenarios col G)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1000" b="0" i="0">
                <a:solidFill>
                  <a:srgbClr val="FFFFFF"/>
                </a:solidFill>
                <a:latin typeface="Garamond"/>
                <a:cs typeface="Garamond"/>
              </a:rPr>
              <a:t>Cash from operations: FY26 1,660M → FY30 1,751M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1000" b="0" i="0">
                <a:solidFill>
                  <a:srgbClr val="FFFFFF"/>
                </a:solidFill>
                <a:latin typeface="Garamond"/>
                <a:cs typeface="Garamond"/>
              </a:rPr>
              <a:t>D&amp;A (add-back): FY26 469M → FY30 514M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1000" b="0" i="0">
                <a:solidFill>
                  <a:srgbClr val="FFFFFF"/>
                </a:solidFill>
                <a:latin typeface="Garamond"/>
                <a:cs typeface="Garamond"/>
              </a:rPr>
              <a:t>Capital expenditures: FY26 (573) → FY30 (628)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1000" b="0" i="0">
                <a:solidFill>
                  <a:srgbClr val="FFFFFF"/>
                </a:solidFill>
                <a:latin typeface="Garamond"/>
                <a:cs typeface="Garamond"/>
              </a:rPr>
              <a:t>Free cash flow: FY26 1,087M → FY30 1,123M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1000" b="0" i="0">
                <a:solidFill>
                  <a:srgbClr val="FFFFFF"/>
                </a:solidFill>
                <a:latin typeface="Garamond"/>
                <a:cs typeface="Garamond"/>
              </a:rPr>
              <a:t>Share repurchases (CFF): FY26 (500) → FY30 (500)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457200" y="3364992"/>
          <a:ext cx="11292840" cy="20299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48840"/>
                <a:gridCol w="1016000"/>
                <a:gridCol w="1016000"/>
                <a:gridCol w="1016000"/>
                <a:gridCol w="1016000"/>
                <a:gridCol w="1016000"/>
                <a:gridCol w="1016000"/>
                <a:gridCol w="1016000"/>
                <a:gridCol w="1016000"/>
                <a:gridCol w="1016000"/>
              </a:tblGrid>
              <a:tr h="338328">
                <a:tc>
                  <a:txBody>
                    <a:bodyPr/>
                    <a:lstStyle/>
                    <a:p>
                      <a:pPr algn="l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US$ M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22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23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24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25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26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27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28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29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30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</a:tr>
              <a:tr h="338328">
                <a:tc>
                  <a:txBody>
                    <a:bodyPr wrap="square"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Cash from operations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966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2,296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2,273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1,602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1,660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1,518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1,593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1,670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1,751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338328">
                <a:tc>
                  <a:txBody>
                    <a:bodyPr wrap="square"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D&amp;A (add-back)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292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379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447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496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469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480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491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502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514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  <a:tr h="338328">
                <a:tc>
                  <a:txBody>
                    <a:bodyPr wrap="square"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Capital expenditures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(639)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(652)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(689)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(681)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(573)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(587)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(600)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(614)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(628)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338328">
                <a:tc>
                  <a:txBody>
                    <a:bodyPr wrap="square"/>
                    <a:lstStyle/>
                    <a:p>
                      <a:pPr algn="l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Free cash flow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328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1,644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1,583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922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1,087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931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993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1,056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1,123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  <a:tr h="338328">
                <a:tc>
                  <a:txBody>
                    <a:bodyPr wrap="square"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Share repurchases (CFF)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(444)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(559)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(1,637)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(1,178)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(500)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(500)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(500)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(500)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(500)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457200" y="5413248"/>
          <a:ext cx="11292840" cy="868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91640"/>
                <a:gridCol w="4800600"/>
                <a:gridCol w="4800600"/>
              </a:tblGrid>
              <a:tr h="144780">
                <a:tc>
                  <a:txBody>
                    <a:bodyPr/>
                    <a:lstStyle/>
                    <a:p>
                      <a:pPr algn="l"/>
                      <a:r>
                        <a:rPr sz="7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Line item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Hist source (22–25)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Fcst source, Scenarios col G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</a:tr>
              <a:tr h="144780"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Cash from operations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10-K CF, Operating activities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Scenarios!G148:G152 (pitch bridge CFO)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144780"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D&amp;A (add-back)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10-K CF, Depreciation &amp; amortization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Scenarios!G55:G59 (D&amp;A yr 1–5)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  <a:tr h="144780"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Capital expenditures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10-K CF, Capital expenditures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Scenarios!G60:G64 (Capex yr 1–5)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144780"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Free cash flow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10-K CF, CFO − capex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Scenarios!G153:G157 (pitch bridge FCF/CFS)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  <a:tr h="144780"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Share repurchases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10-K CF, Repurchases (financing)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Scenarios!G158:G162 (G21=$500M/yr fixed)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594360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0" y="201168"/>
            <a:ext cx="630936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0" bIns="0" rIns="762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Financials | Capital Structure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66928"/>
            <a:ext cx="1138428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Cap stack and WACC build: lease-adjusted; no funded term debt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89611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1384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>
                <a:solidFill>
                  <a:srgbClr val="8C8C8C"/>
                </a:solidFill>
                <a:latin typeface="Garamond"/>
                <a:cs typeface="Garamond"/>
              </a:rPr>
              <a:t>Cap stack &amp; WACC: LULU_DCF_Valuation_Model.xlsx → WACC tab (col E). Cash/leases: FY2025 10-K.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510528"/>
            <a:ext cx="8229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17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005840"/>
            <a:ext cx="5486400" cy="25603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CAPITAL STACK (US$ M)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126480" y="1005840"/>
            <a:ext cx="5623560" cy="25603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WACC BUILD (CAPM)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457200" y="1261872"/>
          <a:ext cx="5532118" cy="1325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06040"/>
                <a:gridCol w="1463039"/>
                <a:gridCol w="1463039"/>
              </a:tblGrid>
              <a:tr h="265176">
                <a:tc>
                  <a:txBody>
                    <a:bodyPr/>
                    <a:lstStyle/>
                    <a:p>
                      <a:pPr algn="l"/>
                      <a:r>
                        <a:rPr sz="9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Component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US$ M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WACC weight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</a:tr>
              <a:tr h="265176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Market equity (price × shares)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11,138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86.1%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265176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ASC 842 operating lease liabilities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1,798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13.9%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  <a:tr h="265176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Funded debt (term loans / bonds)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0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0.0%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265176">
                <a:tc>
                  <a:txBody>
                    <a:bodyPr wrap="square"/>
                    <a:lstStyle/>
                    <a:p>
                      <a:pPr algn="l"/>
                      <a:r>
                        <a:rPr sz="90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Total capital (WACC basis)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12,936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100.0%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457200" y="2651760"/>
            <a:ext cx="5532120" cy="25603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900" b="1" i="0">
                <a:solidFill>
                  <a:srgbClr val="990000"/>
                </a:solidFill>
                <a:latin typeface="Garamond"/>
                <a:cs typeface="Garamond"/>
              </a:rPr>
              <a:t>EV BRIDGE (NOT IN WACC WEIGHTS)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457200" y="2852928"/>
          <a:ext cx="5532118" cy="7132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06040"/>
                <a:gridCol w="1463039"/>
                <a:gridCol w="1463039"/>
              </a:tblGrid>
              <a:tr h="237744">
                <a:tc>
                  <a:txBody>
                    <a:bodyPr/>
                    <a:lstStyle/>
                    <a:p>
                      <a:pPr algn="l"/>
                      <a:r>
                        <a:rPr sz="8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Component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US$ M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Note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Cash &amp; equivalents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1,807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Added back in EV → equity bridge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Net debt (leases − cash)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-9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Near net-cash; leases in WACC above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457200" y="3657600"/>
            <a:ext cx="5532120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1">
                <a:solidFill>
                  <a:srgbClr val="262626"/>
                </a:solidFill>
                <a:latin typeface="Garamond"/>
                <a:cs typeface="Garamond"/>
              </a:rPr>
              <a:t>No funded bank debt; ASC 842 store leases are the only debt equivalent (~14% WACC weight). Cash $1,807M exceeds lease debt → net-cash on a funded-debt basis.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126480" y="1234440"/>
            <a:ext cx="5623560" cy="3657600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6199632" y="1298448"/>
          <a:ext cx="5468112" cy="2148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63240"/>
                <a:gridCol w="2404872"/>
              </a:tblGrid>
              <a:tr h="238760">
                <a:tc>
                  <a:txBody>
                    <a:bodyPr/>
                    <a:lstStyle/>
                    <a:p>
                      <a:pPr algn="l"/>
                      <a:r>
                        <a:rPr sz="9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Input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Value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</a:tr>
              <a:tr h="238760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Risk-free rate (10-yr UST)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4.80%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238760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Equity risk premium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6.00%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  <a:tr h="238760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Tax rate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30.00%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238760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Beta (relevered; lease adj.)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0.84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  <a:tr h="238760">
                <a:tc>
                  <a:txBody>
                    <a:bodyPr wrap="square"/>
                    <a:lstStyle/>
                    <a:p>
                      <a:pPr algn="l"/>
                      <a:r>
                        <a:rPr sz="90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Cost of equity (CAPM)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9.86%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238760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Pre-tax Kd (lease-equivalent)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5.00%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  <a:tr h="238760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After-tax Kd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3.50%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238760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Equity / debt weight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86.1% / 13.9%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</a:tbl>
          </a:graphicData>
        </a:graphic>
      </p:graphicFrame>
      <p:sp>
        <p:nvSpPr>
          <p:cNvPr id="16" name="TextBox 15"/>
          <p:cNvSpPr txBox="1"/>
          <p:nvPr/>
        </p:nvSpPr>
        <p:spPr>
          <a:xfrm>
            <a:off x="6263640" y="3584448"/>
            <a:ext cx="5349240" cy="38404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1">
                <a:solidFill>
                  <a:srgbClr val="262626"/>
                </a:solidFill>
                <a:latin typeface="Garamond"/>
                <a:cs typeface="Garamond"/>
              </a:rPr>
              <a:t>β: Yahoo βL 0.86 → unlevered 0.76 @ D/E 0.19 → relever 0.84 @ lease D/E 0.16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126480" y="4041648"/>
            <a:ext cx="5623560" cy="804672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1700" b="1" i="0">
                <a:solidFill>
                  <a:srgbClr val="FFFFFF"/>
                </a:solidFill>
                <a:latin typeface="Garamond"/>
                <a:cs typeface="Garamond"/>
              </a:rPr>
              <a:t>WACC = 8.98%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FFFFFF"/>
                </a:solidFill>
                <a:latin typeface="Garamond"/>
                <a:cs typeface="Garamond"/>
              </a:rPr>
              <a:t>Base-case discount rate → Scenarios col G · implied price $134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" y="5285232"/>
            <a:ext cx="11292840" cy="1828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900" b="1" i="0">
                <a:solidFill>
                  <a:srgbClr val="990000"/>
                </a:solidFill>
                <a:latin typeface="Garamond"/>
                <a:cs typeface="Garamond"/>
              </a:rPr>
              <a:t>MODEL SOURCE MAP</a:t>
            </a:r>
          </a:p>
        </p:txBody>
      </p:sp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457200" y="5468112"/>
          <a:ext cx="11292840" cy="93268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94560"/>
                <a:gridCol w="9098280"/>
              </a:tblGrid>
              <a:tr h="58293">
                <a:tc>
                  <a:txBody>
                    <a:bodyPr/>
                    <a:lstStyle/>
                    <a:p>
                      <a:pPr algn="l"/>
                      <a:r>
                        <a:rPr sz="7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Line item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DCF model source (WACC tab, col E)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</a:tr>
              <a:tr h="58293"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Market equity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WACC!E10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58293"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ASC 842 operating leases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WACC!E11 (FY25 10-K)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  <a:tr h="58293"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Funded debt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WACC!E13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58293"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Total capital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WACC!E14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  <a:tr h="58293"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Cash &amp; equivalents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10-K BS, Cash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58293"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Net debt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DCF EV bridge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  <a:tr h="58293"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Risk-free rate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WACC!E3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58293"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Equity risk premium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WACC!E4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  <a:tr h="58293"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Tax rate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WACC!E5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58293"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Beta (relevered)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WACC!E25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  <a:tr h="58293"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Cost of equity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WACC!E32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58293"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Pre-tax Kd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WACC!E35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  <a:tr h="58293"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After-tax Kd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WACC!E36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58293"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Equity / debt weights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WACC!E39 / WACC!E40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  <a:tr h="58293">
                <a:tc>
                  <a:txBody>
                    <a:bodyPr wrap="square"/>
                    <a:lstStyle/>
                    <a:p>
                      <a:pPr algn="l"/>
                      <a:r>
                        <a:rPr sz="70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WACC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0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WACC!E41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594360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0" y="201168"/>
            <a:ext cx="630936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0" bIns="0" rIns="762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Valuation Summary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66928"/>
            <a:ext cx="1138428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Football field: implied share-price ranges by methodology (base case DCF)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89611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1384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>
                <a:solidFill>
                  <a:srgbClr val="8C8C8C"/>
                </a:solidFill>
                <a:latin typeface="Garamond"/>
                <a:cs typeface="Garamond"/>
              </a:rPr>
              <a:t>Source: LULU_DCF_Valuation_Model.xlsx → Comps / football field tab; geographic SOTP on FY30E base revenue mix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510528"/>
            <a:ext cx="8229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18</a:t>
            </a:r>
          </a:p>
        </p:txBody>
      </p:sp>
      <p:sp>
        <p:nvSpPr>
          <p:cNvPr id="8" name="Rectangle 7"/>
          <p:cNvSpPr/>
          <p:nvPr/>
        </p:nvSpPr>
        <p:spPr>
          <a:xfrm>
            <a:off x="3063240" y="1261872"/>
            <a:ext cx="12700" cy="3977639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834640" y="5285232"/>
            <a:ext cx="502920" cy="20116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>
                <a:solidFill>
                  <a:srgbClr val="8C8C8C"/>
                </a:solidFill>
                <a:latin typeface="Garamond"/>
                <a:cs typeface="Garamond"/>
              </a:rPr>
              <a:t>$50</a:t>
            </a:r>
          </a:p>
        </p:txBody>
      </p:sp>
      <p:sp>
        <p:nvSpPr>
          <p:cNvPr id="10" name="Rectangle 9"/>
          <p:cNvSpPr/>
          <p:nvPr/>
        </p:nvSpPr>
        <p:spPr>
          <a:xfrm>
            <a:off x="5265018" y="1261872"/>
            <a:ext cx="12700" cy="3977639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36418" y="5285232"/>
            <a:ext cx="502920" cy="20116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>
                <a:solidFill>
                  <a:srgbClr val="8C8C8C"/>
                </a:solidFill>
                <a:latin typeface="Garamond"/>
                <a:cs typeface="Garamond"/>
              </a:rPr>
              <a:t>$100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466797" y="1261872"/>
            <a:ext cx="12700" cy="3977639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238197" y="5285232"/>
            <a:ext cx="502920" cy="20116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>
                <a:solidFill>
                  <a:srgbClr val="8C8C8C"/>
                </a:solidFill>
                <a:latin typeface="Garamond"/>
                <a:cs typeface="Garamond"/>
              </a:rPr>
              <a:t>$150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668576" y="1261872"/>
            <a:ext cx="12700" cy="3977639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439976" y="5285232"/>
            <a:ext cx="502920" cy="20116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>
                <a:solidFill>
                  <a:srgbClr val="8C8C8C"/>
                </a:solidFill>
                <a:latin typeface="Garamond"/>
                <a:cs typeface="Garamond"/>
              </a:rPr>
              <a:t>$200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1399032"/>
            <a:ext cx="2514600" cy="438912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1F2A44"/>
                </a:solidFill>
                <a:latin typeface="Garamond"/>
                <a:cs typeface="Garamond"/>
              </a:rPr>
              <a:t>P / E (10–18x FY2026E)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88876" y="1417320"/>
            <a:ext cx="3390739" cy="384048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8100"/>
          <a:lstStyle/>
          <a:p>
            <a:pPr algn="l"/>
            <a:r>
              <a:rPr sz="1000" b="1" i="0">
                <a:solidFill>
                  <a:srgbClr val="1F2A44"/>
                </a:solidFill>
                <a:latin typeface="Garamond"/>
                <a:cs typeface="Garamond"/>
              </a:rPr>
              <a:t>$96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497904" y="1417320"/>
            <a:ext cx="777240" cy="38404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000" b="1" i="0">
                <a:solidFill>
                  <a:srgbClr val="1F2A44"/>
                </a:solidFill>
                <a:latin typeface="Garamond"/>
                <a:cs typeface="Garamond"/>
              </a:rPr>
              <a:t>$173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" y="2057400"/>
            <a:ext cx="2514600" cy="438912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1F2A44"/>
                </a:solidFill>
                <a:latin typeface="Garamond"/>
                <a:cs typeface="Garamond"/>
              </a:rPr>
              <a:t>EV / EBITDA (5.0–8.0x FY30E)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101694" y="2075688"/>
            <a:ext cx="2686170" cy="384048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8100"/>
          <a:lstStyle/>
          <a:p>
            <a:pPr algn="l"/>
            <a:r>
              <a:rPr sz="1000" b="1" i="0">
                <a:solidFill>
                  <a:srgbClr val="1F2A44"/>
                </a:solidFill>
                <a:latin typeface="Garamond"/>
                <a:cs typeface="Garamond"/>
              </a:rPr>
              <a:t>$119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806153" y="2075688"/>
            <a:ext cx="777240" cy="38404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000" b="1" i="0">
                <a:solidFill>
                  <a:srgbClr val="1F2A44"/>
                </a:solidFill>
                <a:latin typeface="Garamond"/>
                <a:cs typeface="Garamond"/>
              </a:rPr>
              <a:t>$180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7200" y="2715768"/>
            <a:ext cx="2514600" cy="438912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1F2A44"/>
                </a:solidFill>
                <a:latin typeface="Garamond"/>
                <a:cs typeface="Garamond"/>
              </a:rPr>
              <a:t>Geographic SOTP (FY30E; Gordon anchor)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982406" y="2734056"/>
            <a:ext cx="792640" cy="384048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8100"/>
          <a:lstStyle/>
          <a:p>
            <a:pPr algn="l"/>
            <a:r>
              <a:rPr sz="1000" b="1" i="0">
                <a:solidFill>
                  <a:srgbClr val="1F2A44"/>
                </a:solidFill>
                <a:latin typeface="Garamond"/>
                <a:cs typeface="Garamond"/>
              </a:rPr>
              <a:t>$139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793334" y="2734056"/>
            <a:ext cx="777240" cy="38404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000" b="1" i="0">
                <a:solidFill>
                  <a:srgbClr val="1F2A44"/>
                </a:solidFill>
                <a:latin typeface="Garamond"/>
                <a:cs typeface="Garamond"/>
              </a:rPr>
              <a:t>$157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7200" y="3374136"/>
            <a:ext cx="2514600" cy="438912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1F2A44"/>
                </a:solidFill>
                <a:latin typeface="Garamond"/>
                <a:cs typeface="Garamond"/>
              </a:rPr>
              <a:t>Unlevered DCF (base / Gordon g)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748512" y="3429000"/>
            <a:ext cx="38100" cy="310896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817092" y="3392424"/>
            <a:ext cx="640080" cy="38404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000" b="1" i="0">
                <a:solidFill>
                  <a:srgbClr val="1F2A44"/>
                </a:solidFill>
                <a:latin typeface="Garamond"/>
                <a:cs typeface="Garamond"/>
              </a:rPr>
              <a:t>$134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" y="4032504"/>
            <a:ext cx="2514600" cy="438912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1F2A44"/>
                </a:solidFill>
                <a:latin typeface="Garamond"/>
                <a:cs typeface="Garamond"/>
              </a:rPr>
              <a:t>52-week range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265018" y="4050791"/>
            <a:ext cx="5548482" cy="384048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8100"/>
          <a:lstStyle/>
          <a:p>
            <a:pPr algn="l"/>
            <a:r>
              <a:rPr sz="1000" b="1" i="0">
                <a:solidFill>
                  <a:srgbClr val="1F2A44"/>
                </a:solidFill>
                <a:latin typeface="Garamond"/>
                <a:cs typeface="Garamond"/>
              </a:rPr>
              <a:t>$100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831789" y="4050791"/>
            <a:ext cx="777240" cy="38404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000" b="1" i="0">
                <a:solidFill>
                  <a:srgbClr val="1F2A44"/>
                </a:solidFill>
                <a:latin typeface="Garamond"/>
                <a:cs typeface="Garamond"/>
              </a:rPr>
              <a:t>$226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265018" y="1325880"/>
            <a:ext cx="25400" cy="3886200"/>
          </a:xfrm>
          <a:prstGeom prst="rect">
            <a:avLst/>
          </a:prstGeom>
          <a:solidFill>
            <a:srgbClr val="26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7026442" y="1325880"/>
            <a:ext cx="25400" cy="3886200"/>
          </a:xfrm>
          <a:prstGeom prst="rect">
            <a:avLst/>
          </a:prstGeom>
          <a:solidFill>
            <a:srgbClr val="99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716378" y="987552"/>
            <a:ext cx="109728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buNone/>
            </a:pPr>
            <a:r>
              <a:rPr sz="850" b="1" i="0">
                <a:solidFill>
                  <a:srgbClr val="262626"/>
                </a:solidFill>
                <a:latin typeface="Garamond"/>
                <a:cs typeface="Garamond"/>
              </a:rPr>
              <a:t>Current $100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386362" y="987552"/>
            <a:ext cx="109728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buNone/>
            </a:pPr>
            <a:r>
              <a:rPr sz="850" b="1" i="0">
                <a:solidFill>
                  <a:srgbClr val="990000"/>
                </a:solidFill>
                <a:latin typeface="Garamond"/>
                <a:cs typeface="Garamond"/>
              </a:rPr>
              <a:t>Target $140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57200" y="5596128"/>
            <a:ext cx="11292840" cy="80467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12-month target $140 sits above base-case DCF $134 and inside the comps/SOTP ranges: a partial re-rating, not a return to peak multiples.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0" i="1">
                <a:solidFill>
                  <a:srgbClr val="262626"/>
                </a:solidFill>
                <a:latin typeface="Garamond"/>
                <a:cs typeface="Garamond"/>
              </a:rPr>
              <a:t>DCF row = Scenarios col G (Gordon growth). Bear $56 / bull $202 bracket scenario range from the model.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594360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0" y="201168"/>
            <a:ext cx="630936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0" bIns="0" rIns="762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Sum of the Parts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66928"/>
            <a:ext cx="1138428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Geographic segments on FY30E base revenue: EV/EBITDA spreads vs Gordon-implied exit (7.4x)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89611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1384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>
                <a:solidFill>
                  <a:srgbClr val="8C8C8C"/>
                </a:solidFill>
                <a:latin typeface="Garamond"/>
                <a:cs typeface="Garamond"/>
              </a:rPr>
              <a:t>Segment revenue: FY2025 10-K geography; FY30E scaled to base-case consolidated revenue (Scenarios col G)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510528"/>
            <a:ext cx="8229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19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457200" y="1097280"/>
          <a:ext cx="11292840" cy="2788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1865376"/>
                <a:gridCol w="1865376"/>
                <a:gridCol w="1865376"/>
                <a:gridCol w="1865376"/>
                <a:gridCol w="1865376"/>
              </a:tblGrid>
              <a:tr h="348615">
                <a:tc>
                  <a:txBody>
                    <a:bodyPr/>
                    <a:lstStyle/>
                    <a:p>
                      <a:pPr algn="l"/>
                      <a:r>
                        <a:rPr sz="9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Segment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FY30E rev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EBITDA %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FY30E EBITDA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EV/EBITDA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Segment EV ($M)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</a:tr>
              <a:tr h="348615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Americas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8,070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16.5%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1,551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6.4x–7.1x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9,924–11,010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348615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China Mainland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1,805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19.5%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410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7.9x–9.4x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3,238–3,852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  <a:tr h="348615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Rest of World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1,543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18.0%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324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7.1x–8.1x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2,297–2,621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348615">
                <a:tc>
                  <a:txBody>
                    <a:bodyPr wrap="square"/>
                    <a:lstStyle/>
                    <a:p>
                      <a:pPr algn="l"/>
                      <a:r>
                        <a:rPr sz="90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Total segment EV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11,418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/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2,284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6.8x–7.7x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15,459–17,483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  <a:tr h="348615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Corporate / HQ (no separate carve-out)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/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/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/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n/a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$0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348615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+ Cash / − lease debt (EV bridge)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/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/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/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n/a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+1,807 / −1,798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  <a:tr h="348615">
                <a:tc>
                  <a:txBody>
                    <a:bodyPr wrap="square"/>
                    <a:lstStyle/>
                    <a:p>
                      <a:pPr algn="l"/>
                      <a:r>
                        <a:rPr sz="90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Implied equity value / share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/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/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/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n/a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$139–$157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457200" y="4005072"/>
            <a:ext cx="7132320" cy="9601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  <a:buNone/>
            </a:pPr>
            <a:r>
              <a:rPr sz="1200" b="1" i="0">
                <a:solidFill>
                  <a:srgbClr val="990000"/>
                </a:solidFill>
                <a:latin typeface="Garamond"/>
                <a:cs typeface="Garamond"/>
              </a:rPr>
              <a:t>Methodology</a:t>
            </a:r>
          </a:p>
          <a:p>
            <a:pPr algn="l" indent="-152400" marL="177800">
              <a:spcBef>
                <a:spcPts val="0"/>
              </a:spcBef>
              <a:spcAft>
                <a:spcPts val="300"/>
              </a:spcAft>
              <a:buFont typeface="Garamond"/>
              <a:buChar char="•"/>
            </a:pPr>
            <a:r>
              <a:rPr sz="1050" b="0" i="0">
                <a:solidFill>
                  <a:srgbClr val="262626"/>
                </a:solidFill>
                <a:latin typeface="Garamond"/>
                <a:cs typeface="Garamond"/>
              </a:rPr>
              <a:t>Single-brand retailer: geography is the cleanest SOTP cut (Americas / China / RoW per 10-K)</a:t>
            </a:r>
          </a:p>
          <a:p>
            <a:pPr algn="l" indent="-152400" marL="177800">
              <a:spcBef>
                <a:spcPts val="0"/>
              </a:spcBef>
              <a:spcAft>
                <a:spcPts val="300"/>
              </a:spcAft>
              <a:buFont typeface="Garamond"/>
              <a:buChar char="•"/>
            </a:pPr>
            <a:r>
              <a:rPr sz="1050" b="0" i="0">
                <a:solidFill>
                  <a:srgbClr val="262626"/>
                </a:solidFill>
                <a:latin typeface="Garamond"/>
                <a:cs typeface="Garamond"/>
              </a:rPr>
              <a:t>FY30E segment revenue = FY25 geo mix × base-case consolidated FY30 revenue (Scenarios col G)</a:t>
            </a:r>
          </a:p>
          <a:p>
            <a:pPr algn="l" indent="-152400" marL="177800">
              <a:spcBef>
                <a:spcPts val="0"/>
              </a:spcBef>
              <a:spcAft>
                <a:spcPts val="300"/>
              </a:spcAft>
              <a:buFont typeface="Garamond"/>
              <a:buChar char="•"/>
            </a:pPr>
            <a:r>
              <a:rPr sz="1050" b="0" i="0">
                <a:solidFill>
                  <a:srgbClr val="262626"/>
                </a:solidFill>
                <a:latin typeface="Garamond"/>
                <a:cs typeface="Garamond"/>
              </a:rPr>
              <a:t>Segment EV/EBITDA spreads anchor to Gordon-implied exit 7.4x (selected DCF TV identity: not the 5–8x comps football-field band)</a:t>
            </a:r>
          </a:p>
          <a:p>
            <a:pPr algn="l" indent="-152400" marL="177800">
              <a:spcBef>
                <a:spcPts val="0"/>
              </a:spcBef>
              <a:spcAft>
                <a:spcPts val="300"/>
              </a:spcAft>
              <a:buFont typeface="Garamond"/>
              <a:buChar char="•"/>
            </a:pPr>
            <a:r>
              <a:rPr sz="1050" b="0" i="0">
                <a:solidFill>
                  <a:srgbClr val="262626"/>
                </a:solidFill>
                <a:latin typeface="Garamond"/>
                <a:cs typeface="Garamond"/>
              </a:rPr>
              <a:t>Americas: Gordon − 1.0x to − 0.25x (mature); China: +0.5x to +2.0x (growth); RoW: −0.25x to +0.75x</a:t>
            </a:r>
          </a:p>
          <a:p>
            <a:pPr algn="l" indent="-152400" marL="177800">
              <a:spcBef>
                <a:spcPts val="0"/>
              </a:spcBef>
              <a:spcAft>
                <a:spcPts val="300"/>
              </a:spcAft>
              <a:buFont typeface="Garamond"/>
              <a:buChar char="•"/>
            </a:pPr>
            <a:r>
              <a:rPr sz="1050" b="0" i="0">
                <a:solidFill>
                  <a:srgbClr val="262626"/>
                </a:solidFill>
                <a:latin typeface="Garamond"/>
                <a:cs typeface="Garamond"/>
              </a:rPr>
              <a:t>Consolidated base-case DCF $134 uses Gordon growth (g=2.25%); SOTP is terminal-year EBITDA triangulation only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0" y="4005072"/>
            <a:ext cx="3977639" cy="1417320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400"/>
              </a:spcAft>
              <a:buNone/>
            </a:pPr>
            <a:r>
              <a:rPr sz="1200" b="1" i="0">
                <a:solidFill>
                  <a:srgbClr val="990000"/>
                </a:solidFill>
                <a:latin typeface="Garamond"/>
                <a:cs typeface="Garamond"/>
              </a:rPr>
              <a:t>SOTP vs DCF</a:t>
            </a:r>
          </a:p>
          <a:p>
            <a:pPr algn="l">
              <a:spcBef>
                <a:spcPts val="0"/>
              </a:spcBef>
              <a:spcAft>
                <a:spcPts val="300"/>
              </a:spcAft>
              <a:buNone/>
            </a:pPr>
            <a:r>
              <a:rPr sz="1300" b="1" i="0">
                <a:solidFill>
                  <a:srgbClr val="1F2A44"/>
                </a:solidFill>
                <a:latin typeface="Garamond"/>
                <a:cs typeface="Garamond"/>
              </a:rPr>
              <a:t>SOTP range: $139–$157</a:t>
            </a:r>
          </a:p>
          <a:p>
            <a:pPr algn="l">
              <a:spcBef>
                <a:spcPts val="0"/>
              </a:spcBef>
              <a:spcAft>
                <a:spcPts val="300"/>
              </a:spcAft>
              <a:buNone/>
            </a:pPr>
            <a:r>
              <a:rPr sz="1300" b="1" i="0">
                <a:solidFill>
                  <a:srgbClr val="1F2A44"/>
                </a:solidFill>
                <a:latin typeface="Garamond"/>
                <a:cs typeface="Garamond"/>
              </a:rPr>
              <a:t>Base-case DCF: $134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950" b="0" i="0">
                <a:solidFill>
                  <a:srgbClr val="262626"/>
                </a:solidFill>
                <a:latin typeface="Garamond"/>
                <a:cs typeface="Garamond"/>
              </a:rPr>
              <a:t>Overlap is expected: SOTP applies FY30 EBITDA multiples; DCF discounts explicit FCF + Gordon growth TV.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594360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0" y="201168"/>
            <a:ext cx="630936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0" bIns="0" rIns="762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DCF Valuation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66928"/>
            <a:ext cx="1138428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Base-case unlevered DCF (Scenarios col G): Gordon growth terminal value; 7.4x is implied exit identity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89611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1384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>
                <a:solidFill>
                  <a:srgbClr val="8C8C8C"/>
                </a:solidFill>
                <a:latin typeface="Garamond"/>
                <a:cs typeface="Garamond"/>
              </a:rPr>
              <a:t>Source: LULU_DCF_Valuation_Model.xlsx → Scenarios col G + DCF tab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510528"/>
            <a:ext cx="8229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20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024128"/>
            <a:ext cx="5669280" cy="25603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BASE-CASE ASSUMPTIONS (SCENARIOS COL G)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457200" y="1261872"/>
          <a:ext cx="5623560" cy="2606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00400"/>
                <a:gridCol w="2423160"/>
              </a:tblGrid>
              <a:tr h="236912">
                <a:tc>
                  <a:txBody>
                    <a:bodyPr/>
                    <a:lstStyle/>
                    <a:p>
                      <a:pPr algn="l"/>
                      <a:r>
                        <a:rPr sz="9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Assumption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Value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</a:tr>
              <a:tr h="236912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FY2026 revenue growth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-6.1%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236912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FY2027–30 revenue growth (avg)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+2.3%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  <a:tr h="236912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Clean EBIT margin (FY26 run-rate)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13.2%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236912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Terminal EBIT margin (FY2030E)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15.5%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  <a:tr h="236912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FY26 tariff refunds (one-time)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$134.5M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236912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Cash tax rate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30%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  <a:tr h="236912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Capex % of revenue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5.5%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236912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WACC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9.0%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  <a:tr h="236912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Terminal growth (g)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2.25%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236920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Gordon-implied exit EV/EBITDA (identity)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7.4x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457200" y="3950208"/>
            <a:ext cx="5623560" cy="2286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000" b="1" i="0">
                <a:solidFill>
                  <a:srgbClr val="990000"/>
                </a:solidFill>
                <a:latin typeface="Garamond"/>
                <a:cs typeface="Garamond"/>
              </a:rPr>
              <a:t>TERMINAL VALUE | GORDON GROWTH (SELECTED)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457200" y="4187952"/>
          <a:ext cx="5623560" cy="6583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17320"/>
                <a:gridCol w="2103120"/>
                <a:gridCol w="2103120"/>
              </a:tblGrid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Method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Formula / input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FY30 TV ($M)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</a:tr>
              <a:tr h="219456">
                <a:tc>
                  <a:txBody>
                    <a:bodyPr wrap="square"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Gordon growth (selected)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FCF₅ × (1+g) / (WACC−g); g=2.25%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16,804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219456">
                <a:tc>
                  <a:txBody>
                    <a:bodyPr wrap="square"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Exit multiple (identity check)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FY30 EBITDA × 7.4x = Gordon TV ÷ EBITDA (same number)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16,804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</a:tbl>
          </a:graphicData>
        </a:graphic>
      </p:graphicFrame>
      <p:sp>
        <p:nvSpPr>
          <p:cNvPr id="12" name="Rectangle 11"/>
          <p:cNvSpPr/>
          <p:nvPr/>
        </p:nvSpPr>
        <p:spPr>
          <a:xfrm>
            <a:off x="6263640" y="1234440"/>
            <a:ext cx="5486400" cy="2331720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50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VALUATION OUTPUT (US$ M)</a:t>
            </a:r>
          </a:p>
          <a:p>
            <a:pPr>
              <a:spcAft>
                <a:spcPts val="300"/>
              </a:spcAft>
            </a:pPr>
            <a:r>
              <a:rPr sz="1050" b="0" i="0">
                <a:solidFill>
                  <a:srgbClr val="262626"/>
                </a:solidFill>
                <a:latin typeface="Garamond"/>
                <a:cs typeface="Garamond"/>
              </a:rPr>
              <a:t>PV of explicit FCF (FY26–FY30)</a:t>
            </a:r>
            <a:r>
              <a:rPr sz="1050" b="1" i="0">
                <a:solidFill>
                  <a:srgbClr val="1F2A44"/>
                </a:solidFill>
                <a:latin typeface="Garamond"/>
                <a:cs typeface="Garamond"/>
              </a:rPr>
              <a:t>  3,944</a:t>
            </a:r>
          </a:p>
          <a:p>
            <a:pPr>
              <a:spcAft>
                <a:spcPts val="300"/>
              </a:spcAft>
            </a:pPr>
            <a:r>
              <a:rPr sz="1050" b="0" i="0">
                <a:solidFill>
                  <a:srgbClr val="262626"/>
                </a:solidFill>
                <a:latin typeface="Garamond"/>
                <a:cs typeface="Garamond"/>
              </a:rPr>
              <a:t>PV of terminal value</a:t>
            </a:r>
            <a:r>
              <a:rPr sz="1050" b="1" i="0">
                <a:solidFill>
                  <a:srgbClr val="1F2A44"/>
                </a:solidFill>
                <a:latin typeface="Garamond"/>
                <a:cs typeface="Garamond"/>
              </a:rPr>
              <a:t>  10,933</a:t>
            </a:r>
          </a:p>
          <a:p>
            <a:pPr>
              <a:spcAft>
                <a:spcPts val="300"/>
              </a:spcAft>
            </a:pPr>
            <a:r>
              <a:rPr sz="1050" b="1" i="0">
                <a:solidFill>
                  <a:srgbClr val="262626"/>
                </a:solidFill>
                <a:latin typeface="Garamond"/>
                <a:cs typeface="Garamond"/>
              </a:rPr>
              <a:t>Enterprise value</a:t>
            </a:r>
            <a:r>
              <a:rPr sz="1050" b="1" i="0">
                <a:solidFill>
                  <a:srgbClr val="1F2A44"/>
                </a:solidFill>
                <a:latin typeface="Garamond"/>
                <a:cs typeface="Garamond"/>
              </a:rPr>
              <a:t>  14,876</a:t>
            </a:r>
          </a:p>
          <a:p>
            <a:pPr>
              <a:spcAft>
                <a:spcPts val="300"/>
              </a:spcAft>
            </a:pPr>
            <a:r>
              <a:rPr sz="1050" b="0" i="0">
                <a:solidFill>
                  <a:srgbClr val="262626"/>
                </a:solidFill>
                <a:latin typeface="Garamond"/>
                <a:cs typeface="Garamond"/>
              </a:rPr>
              <a:t>Plus: cash</a:t>
            </a:r>
            <a:r>
              <a:rPr sz="1050" b="1" i="0">
                <a:solidFill>
                  <a:srgbClr val="1F2A44"/>
                </a:solidFill>
                <a:latin typeface="Garamond"/>
                <a:cs typeface="Garamond"/>
              </a:rPr>
              <a:t>  1,807</a:t>
            </a:r>
          </a:p>
          <a:p>
            <a:pPr>
              <a:spcAft>
                <a:spcPts val="300"/>
              </a:spcAft>
            </a:pPr>
            <a:r>
              <a:rPr sz="1050" b="0" i="0">
                <a:solidFill>
                  <a:srgbClr val="262626"/>
                </a:solidFill>
                <a:latin typeface="Garamond"/>
                <a:cs typeface="Garamond"/>
              </a:rPr>
              <a:t>Less: lease debt (ASC 842)</a:t>
            </a:r>
            <a:r>
              <a:rPr sz="1050" b="1" i="0">
                <a:solidFill>
                  <a:srgbClr val="1F2A44"/>
                </a:solidFill>
                <a:latin typeface="Garamond"/>
                <a:cs typeface="Garamond"/>
              </a:rPr>
              <a:t>  (1,798)</a:t>
            </a:r>
          </a:p>
          <a:p>
            <a:pPr>
              <a:spcAft>
                <a:spcPts val="300"/>
              </a:spcAft>
            </a:pPr>
            <a:r>
              <a:rPr sz="1050" b="1" i="0">
                <a:solidFill>
                  <a:srgbClr val="262626"/>
                </a:solidFill>
                <a:latin typeface="Garamond"/>
                <a:cs typeface="Garamond"/>
              </a:rPr>
              <a:t>Equity value</a:t>
            </a:r>
            <a:r>
              <a:rPr sz="1050" b="1" i="0">
                <a:solidFill>
                  <a:srgbClr val="1F2A44"/>
                </a:solidFill>
                <a:latin typeface="Garamond"/>
                <a:cs typeface="Garamond"/>
              </a:rPr>
              <a:t>  14,885</a:t>
            </a:r>
          </a:p>
          <a:p>
            <a:pPr>
              <a:spcAft>
                <a:spcPts val="300"/>
              </a:spcAft>
            </a:pPr>
            <a:r>
              <a:rPr sz="1050" b="0" i="0">
                <a:solidFill>
                  <a:srgbClr val="262626"/>
                </a:solidFill>
                <a:latin typeface="Garamond"/>
                <a:cs typeface="Garamond"/>
              </a:rPr>
              <a:t>÷ Diluted shares (M)</a:t>
            </a:r>
            <a:r>
              <a:rPr sz="1050" b="1" i="0">
                <a:solidFill>
                  <a:srgbClr val="1F2A44"/>
                </a:solidFill>
                <a:latin typeface="Garamond"/>
                <a:cs typeface="Garamond"/>
              </a:rPr>
              <a:t>  111.4</a:t>
            </a:r>
          </a:p>
          <a:p>
            <a:pPr>
              <a:spcBef>
                <a:spcPts val="400"/>
              </a:spcBef>
            </a:pPr>
            <a:r>
              <a:rPr sz="1500" b="1" i="0">
                <a:solidFill>
                  <a:srgbClr val="1E7A3C"/>
                </a:solidFill>
                <a:latin typeface="Garamond"/>
                <a:cs typeface="Garamond"/>
              </a:rPr>
              <a:t>Implied value:  $134 / share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263640" y="3703320"/>
            <a:ext cx="5486400" cy="114300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300"/>
              </a:spcAft>
              <a:buNone/>
            </a:pPr>
            <a:r>
              <a:rPr sz="1050" b="1" i="0">
                <a:solidFill>
                  <a:srgbClr val="FFFFFF"/>
                </a:solidFill>
                <a:latin typeface="Garamond"/>
                <a:cs typeface="Garamond"/>
              </a:rPr>
              <a:t>TV = 73% of EV  ·  7.4x = Gordon TV ÷ FY30 EBITDA $2,284M (not a peer pick)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FFFFFF"/>
                </a:solidFill>
                <a:latin typeface="Garamond"/>
                <a:cs typeface="Garamond"/>
              </a:rPr>
              <a:t>Selected TV is Gordon growth (g). The 7.4x exit multiple is the identity check (TV ÷ FY30 EBITDA), not a peer average.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4956048"/>
            <a:ext cx="11292840" cy="2286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000" b="1" i="0">
                <a:solidFill>
                  <a:srgbClr val="990000"/>
                </a:solidFill>
                <a:latin typeface="Garamond"/>
                <a:cs typeface="Garamond"/>
              </a:rPr>
              <a:t>SENSITIVITY | IMPLIED SHARE PRICE (WACC vs TERMINAL g)</a:t>
            </a:r>
          </a:p>
        </p:txBody>
      </p:sp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457200" y="5166360"/>
          <a:ext cx="6766560" cy="960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14400"/>
                <a:gridCol w="1170432"/>
                <a:gridCol w="1170432"/>
                <a:gridCol w="1170432"/>
                <a:gridCol w="1170432"/>
                <a:gridCol w="1170432"/>
              </a:tblGrid>
              <a:tr h="160020">
                <a:tc>
                  <a:txBody>
                    <a:bodyPr/>
                    <a:lstStyle/>
                    <a:p>
                      <a:pPr algn="l"/>
                      <a:r>
                        <a:rPr sz="9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WACC \ g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1.5%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2.0%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2.25%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2.5%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3.0%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</a:tr>
              <a:tr h="160020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9.5%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$115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$121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$124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$127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$135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160020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10.0%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$108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$113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$116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$119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$125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  <a:tr h="160020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10.5%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$102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$106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$109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$111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$117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160020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11.0%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$97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$100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$103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$105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$110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  <a:tr h="160020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11.5%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$92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$95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$97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$99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$103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6" name="TextBox 15"/>
          <p:cNvSpPr txBox="1"/>
          <p:nvPr/>
        </p:nvSpPr>
        <p:spPr>
          <a:xfrm>
            <a:off x="7406640" y="5166360"/>
            <a:ext cx="4343400" cy="9601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900" b="1" i="0">
                <a:solidFill>
                  <a:srgbClr val="990000"/>
                </a:solidFill>
                <a:latin typeface="Garamond"/>
                <a:cs typeface="Garamond"/>
              </a:rPr>
              <a:t>Base-case cell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262626"/>
                </a:solidFill>
                <a:latin typeface="Garamond"/>
                <a:cs typeface="Garamond"/>
              </a:rPr>
              <a:t>WACC 9.0% × g 2.25% → $134. Grid brackets ±100bps WACC and 1.5–3.0% g.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594360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0" y="201168"/>
            <a:ext cx="630936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0" bIns="0" rIns="762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Comps Analysis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66928"/>
            <a:ext cx="1138428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Implied LULU valuation from PitchBook core athletic / apparel set (04-Sep-2026)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89611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1384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>
                <a:solidFill>
                  <a:srgbClr val="8C8C8C"/>
                </a:solidFill>
                <a:latin typeface="Garamond"/>
                <a:cs typeface="Garamond"/>
              </a:rPr>
              <a:t>PitchBook Comps Set 04-Sep-2026 (EV, TTM EBITDA); revenue/EBIT from company filings; forward P/E from consensus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510528"/>
            <a:ext cx="8229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21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005840"/>
            <a:ext cx="6583680" cy="2286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000" b="1" i="0">
                <a:solidFill>
                  <a:srgbClr val="990000"/>
                </a:solidFill>
                <a:latin typeface="Garamond"/>
                <a:cs typeface="Garamond"/>
              </a:rPr>
              <a:t>COMPARABLE COMPANIES | TRADING MULTIPLES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457200" y="1207008"/>
          <a:ext cx="6629400" cy="2331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/>
                <a:gridCol w="1200150"/>
                <a:gridCol w="1200150"/>
                <a:gridCol w="1200150"/>
                <a:gridCol w="1200150"/>
              </a:tblGrid>
              <a:tr h="259080">
                <a:tc>
                  <a:txBody>
                    <a:bodyPr/>
                    <a:lstStyle/>
                    <a:p>
                      <a:pPr algn="l"/>
                      <a:r>
                        <a:rPr sz="8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Company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EV/Rev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EV/EBITDA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EV/EBIT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P/E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</a:tr>
              <a:tr h="259080">
                <a:tc>
                  <a:txBody>
                    <a:bodyPr wrap="square"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adidas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1.51x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9.2x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18.6x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19.1x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259080">
                <a:tc>
                  <a:txBody>
                    <a:bodyPr wrap="square"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Nike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1.27x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12.7x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15.9x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18.3x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  <a:tr h="259080">
                <a:tc>
                  <a:txBody>
                    <a:bodyPr wrap="square"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Deckers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2.47x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7.9x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9.8x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12.1x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259080">
                <a:tc>
                  <a:txBody>
                    <a:bodyPr wrap="square"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Crocs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1.74x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7.8x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7.8x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10.3x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  <a:tr h="259080">
                <a:tc>
                  <a:txBody>
                    <a:bodyPr wrap="square"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Levi Strauss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1.52x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9.6x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18.1x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15.0x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259080">
                <a:tc>
                  <a:txBody>
                    <a:bodyPr wrap="square"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Kontoor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2.01x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12.8x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15.4x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18.0x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  <a:tr h="259080">
                <a:tc>
                  <a:txBody>
                    <a:bodyPr wrap="square"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Core median (ex-LULU)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1.63x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9.4x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15.7x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16.5x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259080">
                <a:tc>
                  <a:txBody>
                    <a:bodyPr wrap="square"/>
                    <a:lstStyle/>
                    <a:p>
                      <a:pPr algn="l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LULU @ $100 (current)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1.07x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4.7x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5.0x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10.4x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7269480" y="1005840"/>
            <a:ext cx="4572000" cy="2286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000" b="1" i="0">
                <a:solidFill>
                  <a:srgbClr val="990000"/>
                </a:solidFill>
                <a:latin typeface="Garamond"/>
                <a:cs typeface="Garamond"/>
              </a:rPr>
              <a:t>IMPLIED LULU VALUATION (CORE PEER MEDIAN)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7269480" y="1207008"/>
          <a:ext cx="4617720" cy="2331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97280"/>
                <a:gridCol w="1173480"/>
                <a:gridCol w="1173480"/>
                <a:gridCol w="1173480"/>
              </a:tblGrid>
              <a:tr h="466344">
                <a:tc>
                  <a:txBody>
                    <a:bodyPr/>
                    <a:lstStyle/>
                    <a:p>
                      <a:pPr algn="l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Metric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Peer med.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LULU base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Implied px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</a:tr>
              <a:tr h="466344">
                <a:tc>
                  <a:txBody>
                    <a:bodyPr wrap="square"/>
                    <a:lstStyle/>
                    <a:p>
                      <a:pPr algn="l"/>
                      <a:r>
                        <a:rPr sz="7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EV / Revenue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1.63x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$10,425M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$119–$231 (med $153)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 wrap="square"/>
                    <a:lstStyle/>
                    <a:p>
                      <a:pPr algn="l"/>
                      <a:r>
                        <a:rPr sz="7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EV / EBITDA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9.4x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$2,707M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$190–$311 (med $229)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  <a:tr h="466344">
                <a:tc>
                  <a:txBody>
                    <a:bodyPr wrap="square"/>
                    <a:lstStyle/>
                    <a:p>
                      <a:pPr algn="l"/>
                      <a:r>
                        <a:rPr sz="7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EV / EBIT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15.7x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$2,211M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$155–$369 (med $311)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 wrap="square"/>
                    <a:lstStyle/>
                    <a:p>
                      <a:pPr algn="l"/>
                      <a:r>
                        <a:rPr sz="7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P / E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16.5x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$9.61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$99–$183 (med $158)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</a:tbl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7269480" y="3657600"/>
            <a:ext cx="4617720" cy="4114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750" b="0" i="1">
                <a:solidFill>
                  <a:srgbClr val="262626"/>
                </a:solidFill>
                <a:latin typeface="Garamond"/>
                <a:cs typeface="Garamond"/>
              </a:rPr>
              <a:t>Implied EV = peer median × LULU base (cols 2–3); P/E = median × EPS (no EV). EV + cash − lease debt ÷ shares = equity/sh.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3703320"/>
            <a:ext cx="11292840" cy="21488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Peer benchmark methodology</a:t>
            </a:r>
          </a:p>
          <a:p>
            <a:pPr algn="l">
              <a:spcBef>
                <a:spcPts val="0"/>
              </a:spcBef>
              <a:spcAft>
                <a:spcPts val="600"/>
              </a:spcAft>
              <a:buNone/>
            </a:pPr>
            <a:r>
              <a:rPr sz="1000" b="0" i="0">
                <a:solidFill>
                  <a:srgbClr val="262626"/>
                </a:solidFill>
                <a:latin typeface="Garamond"/>
                <a:cs typeface="Garamond"/>
              </a:rPr>
              <a:t>Core peer set (NKE, ADS, DECK, CROX, LEVI, KTB) evaluates relative valuation using PitchBook data (04-Sep-2026). Implied equity = peer median × LULU base → EV, then + cash − ASC 842 lease debt ÷ shares.</a:t>
            </a:r>
          </a:p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Multiples confirm severe undervaluation</a:t>
            </a:r>
          </a:p>
          <a:p>
            <a:pPr algn="l">
              <a:spcBef>
                <a:spcPts val="0"/>
              </a:spcBef>
              <a:spcAft>
                <a:spcPts val="600"/>
              </a:spcAft>
              <a:buNone/>
            </a:pPr>
            <a:r>
              <a:rPr sz="1000" b="0" i="0">
                <a:solidFill>
                  <a:srgbClr val="262626"/>
                </a:solidFill>
                <a:latin typeface="Garamond"/>
                <a:cs typeface="Garamond"/>
              </a:rPr>
              <a:t>LULU trades at 1.07x EV/Revenue, 4.7x EV/EBITDA (PitchBook TTM), and 10.4x forward P/E vs core peer medians of 1.63x EV/Revenue, 9.4x EV/EBITDA, and 16.5x P/E.</a:t>
            </a:r>
          </a:p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DCF terminal valuation discount</a:t>
            </a:r>
          </a:p>
          <a:p>
            <a:pPr algn="l">
              <a:spcBef>
                <a:spcPts val="0"/>
              </a:spcBef>
              <a:spcAft>
                <a:spcPts val="600"/>
              </a:spcAft>
              <a:buNone/>
            </a:pPr>
            <a:r>
              <a:rPr sz="1000" b="0" i="0">
                <a:solidFill>
                  <a:srgbClr val="262626"/>
                </a:solidFill>
                <a:latin typeface="Garamond"/>
                <a:cs typeface="Garamond"/>
              </a:rPr>
              <a:t>Base-case DCF uses Gordon growth g = 2.25%, implying 7.4x FY30 EV/EBITDA exit multiple: well below the 9.4x peer median (right table uses TTM EBITDA).</a:t>
            </a:r>
          </a:p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Conservative target price re-rating</a:t>
            </a:r>
          </a:p>
          <a:p>
            <a:pPr algn="l">
              <a:spcBef>
                <a:spcPts val="0"/>
              </a:spcBef>
              <a:spcAft>
                <a:spcPts val="600"/>
              </a:spcAft>
              <a:buNone/>
            </a:pPr>
            <a:r>
              <a:rPr sz="1000" b="0" i="0">
                <a:solidFill>
                  <a:srgbClr val="262626"/>
                </a:solidFill>
                <a:latin typeface="Garamond"/>
                <a:cs typeface="Garamond"/>
              </a:rPr>
              <a:t>Our $134 base-case DCF and $140 12-month target (+6 vs DCF, ~4% above model fair value) reflect undervaluation with only a modest re-rating: not Nike-level multiples.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594360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0" y="201168"/>
            <a:ext cx="630936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0" bIns="0" rIns="762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Precedent Transactions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66928"/>
            <a:ext cx="1138428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Private-market context for athleisure M&amp;A: not used to imply a control premium on LULU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89611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1384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>
                <a:solidFill>
                  <a:srgbClr val="8C8C8C"/>
                </a:solidFill>
                <a:latin typeface="Garamond"/>
                <a:cs typeface="Garamond"/>
              </a:rPr>
              <a:t>Source: Wolverine IR/SEC (Sweaty Betty); Bloomberg (Gymshark); BusinessWire/Reuters (Vuori); Reuters/Forbes (Alo)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510528"/>
            <a:ext cx="8229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22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457200" y="1051560"/>
          <a:ext cx="11292834" cy="2057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17320"/>
                <a:gridCol w="1645919"/>
                <a:gridCol w="1645919"/>
                <a:gridCol w="1645919"/>
                <a:gridCol w="1645919"/>
                <a:gridCol w="1645919"/>
                <a:gridCol w="1645919"/>
              </a:tblGrid>
              <a:tr h="342900">
                <a:tc>
                  <a:txBody>
                    <a:bodyPr/>
                    <a:lstStyle/>
                    <a:p>
                      <a:pPr algn="l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Target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Year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Type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EV ($M)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EV/Rev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EV/EBITDA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Status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</a:tr>
              <a:tr h="342900">
                <a:tc>
                  <a:txBody>
                    <a:bodyPr wrap="square"/>
                    <a:lstStyle/>
                    <a:p>
                      <a:pPr algn="l"/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Sweaty Betty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2021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Closed acquisition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410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1.6x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16.0x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Closed Aug-2021; ~16x FY21E EBITDA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342900">
                <a:tc>
                  <a:txBody>
                    <a:bodyPr wrap="square"/>
                    <a:lstStyle/>
                    <a:p>
                      <a:pPr algn="l"/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Gymshark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2020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Minority growth round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1,300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5.0x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n/a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Closed Aug-2020; $1.3bn EV (minority)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  <a:tr h="342900">
                <a:tc>
                  <a:txBody>
                    <a:bodyPr wrap="square"/>
                    <a:lstStyle/>
                    <a:p>
                      <a:pPr algn="l"/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Vuori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2021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Growth investment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4,000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n/a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n/a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Closed Oct-2021; $4bn post-money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342900">
                <a:tc>
                  <a:txBody>
                    <a:bodyPr wrap="square"/>
                    <a:lstStyle/>
                    <a:p>
                      <a:pPr algn="l"/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Alo Yoga (Color Image)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2023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Unclosed sale process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10,000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5.0x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n/a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Unclosed; no deal per Reuters Jun-2026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  <a:tr h="342900">
                <a:tc>
                  <a:txBody>
                    <a:bodyPr wrap="square"/>
                    <a:lstStyle/>
                    <a:p>
                      <a:pPr algn="l"/>
                      <a:r>
                        <a:rPr sz="80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LULU (public @ $100)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n/a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Public equity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11,129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1.07x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4.7x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Trading comps only (not a premium benchmark)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457200" y="3246120"/>
            <a:ext cx="7178040" cy="21488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1050" b="1" i="0">
                <a:solidFill>
                  <a:srgbClr val="990000"/>
                </a:solidFill>
                <a:latin typeface="Garamond"/>
                <a:cs typeface="Garamond"/>
              </a:rPr>
              <a:t>Private precedent framework</a:t>
            </a:r>
          </a:p>
          <a:p>
            <a:pPr algn="l">
              <a:spcBef>
                <a:spcPts val="0"/>
              </a:spcBef>
              <a:spcAft>
                <a:spcPts val="500"/>
              </a:spcAft>
              <a:buNone/>
            </a:pPr>
            <a:r>
              <a:rPr sz="950" b="0" i="0">
                <a:solidFill>
                  <a:srgbClr val="262626"/>
                </a:solidFill>
                <a:latin typeface="Garamond"/>
                <a:cs typeface="Garamond"/>
              </a:rPr>
              <a:t>Non-Alo private transactions establish a contextual floor of what strategics and PE pay for premium athleisure. They do not imply a control premium on LULU's public stock.</a:t>
            </a:r>
          </a:p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1050" b="1" i="0">
                <a:solidFill>
                  <a:srgbClr val="990000"/>
                </a:solidFill>
                <a:latin typeface="Garamond"/>
                <a:cs typeface="Garamond"/>
              </a:rPr>
              <a:t>Closed M&amp;A benchmark</a:t>
            </a:r>
          </a:p>
          <a:p>
            <a:pPr algn="l">
              <a:spcBef>
                <a:spcPts val="0"/>
              </a:spcBef>
              <a:spcAft>
                <a:spcPts val="500"/>
              </a:spcAft>
              <a:buNone/>
            </a:pPr>
            <a:r>
              <a:rPr sz="950" b="0" i="0">
                <a:solidFill>
                  <a:srgbClr val="262626"/>
                </a:solidFill>
                <a:latin typeface="Garamond"/>
                <a:cs typeface="Garamond"/>
              </a:rPr>
              <a:t>Wolverine paid $410M (~16x EBITDA, ~1.6x sales) for Sweaty Betty (2021), a concrete operating-company precedent for women's DTC activewear.</a:t>
            </a:r>
          </a:p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1050" b="1" i="0">
                <a:solidFill>
                  <a:srgbClr val="990000"/>
                </a:solidFill>
                <a:latin typeface="Garamond"/>
                <a:cs typeface="Garamond"/>
              </a:rPr>
              <a:t>Growth capital rounds</a:t>
            </a:r>
          </a:p>
          <a:p>
            <a:pPr algn="l">
              <a:spcBef>
                <a:spcPts val="0"/>
              </a:spcBef>
              <a:spcAft>
                <a:spcPts val="500"/>
              </a:spcAft>
              <a:buNone/>
            </a:pPr>
            <a:r>
              <a:rPr sz="950" b="0" i="0">
                <a:solidFill>
                  <a:srgbClr val="262626"/>
                </a:solidFill>
                <a:latin typeface="Garamond"/>
                <a:cs typeface="Garamond"/>
              </a:rPr>
              <a:t>Gymshark ($1.3B implied EV, 2020 minority stake) and Vuori ($4B post-money, 2021) show institutional demand and realistic baselines for premium DTC brands.</a:t>
            </a:r>
          </a:p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1050" b="1" i="0">
                <a:solidFill>
                  <a:srgbClr val="990000"/>
                </a:solidFill>
                <a:latin typeface="Garamond"/>
                <a:cs typeface="Garamond"/>
              </a:rPr>
              <a:t>Excluded unclosed process</a:t>
            </a:r>
          </a:p>
          <a:p>
            <a:pPr algn="l">
              <a:spcBef>
                <a:spcPts val="0"/>
              </a:spcBef>
              <a:spcAft>
                <a:spcPts val="500"/>
              </a:spcAft>
              <a:buNone/>
            </a:pPr>
            <a:r>
              <a:rPr sz="950" b="0" i="0">
                <a:solidFill>
                  <a:srgbClr val="262626"/>
                </a:solidFill>
                <a:latin typeface="Garamond"/>
                <a:cs typeface="Garamond"/>
              </a:rPr>
              <a:t>Alo's ~$10B ask (~5.0x EV/Sales) is LULU's closest yoga peer, but unclosed private asks cannot dictate actual public equity valuation.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0" y="3246120"/>
            <a:ext cx="3977639" cy="2148840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40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Valuation stack</a:t>
            </a:r>
          </a:p>
          <a:p>
            <a:pPr algn="l">
              <a:spcBef>
                <a:spcPts val="0"/>
              </a:spcBef>
              <a:spcAft>
                <a:spcPts val="300"/>
              </a:spcAft>
              <a:buNone/>
            </a:pPr>
            <a:r>
              <a:rPr sz="1200" b="1" i="0">
                <a:solidFill>
                  <a:srgbClr val="1F2A44"/>
                </a:solidFill>
                <a:latin typeface="Garamond"/>
                <a:cs typeface="Garamond"/>
              </a:rPr>
              <a:t>DCF base: $134  |  Target: $140</a:t>
            </a:r>
          </a:p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1000" b="1" i="0">
                <a:solidFill>
                  <a:srgbClr val="262626"/>
                </a:solidFill>
                <a:latin typeface="Garamond"/>
                <a:cs typeface="Garamond"/>
              </a:rPr>
              <a:t>Comps median EV/EBITDA 9.4x → ~$229/sh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1">
                <a:solidFill>
                  <a:srgbClr val="262626"/>
                </a:solidFill>
                <a:latin typeface="Garamond"/>
                <a:cs typeface="Garamond"/>
              </a:rPr>
              <a:t>Reasonably assumed ceiling from peer EV/EBITDA re-rating. Not our price target.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