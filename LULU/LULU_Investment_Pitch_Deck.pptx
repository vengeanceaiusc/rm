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 structure; no funded term debt (critical lens for levered businesses)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 Beta: Yahoo Finance Key Statistics.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553212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066800"/>
                <a:gridCol w="1066800"/>
                <a:gridCol w="106680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% of capital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Model source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Price $100 × 111.4M shares (FY25 10-K)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Current $298,724k + non-current $1,499,717k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Undrawn revolver; no term borrowings per 10-K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Equity + lease debt equivalents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 (EV offset)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Net-cash on funded debt; leases are debt-equiv in 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+ funded − cash)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Near-zero net debt — equity-funded with lease adj.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703320"/>
            <a:ext cx="5532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LULU has no funded bank debt; ASC 842 store leases are the only debt equivalent in our WACC (~14% weight). Cash exceeds lease liabilities → effectively net-cash on a funded-debt basis.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051560"/>
          <a:ext cx="562356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737360"/>
                <a:gridCol w="1737360"/>
              </a:tblGrid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Model source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FRED DGS10 → 4.8% in model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Conservative vs Damodaran implied ERP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FY2026 guidance ~30%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Observed βL (Yahoo 5Y monthly)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Yahoo Key Statistics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Unlevered βu (Hamada @ Yahoo D/E)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D/E unlever = 0.19 (Yahoo mrq)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Relevered β (FY25 lease D/E)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D/E relever = 0.16 (10-K leases / mkt cap)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rf + β × ERP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Illustrative lease borrowing cost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Kd × (1 − 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weight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Market equity / 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2667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Debt weight (leases)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Lease debt / total capital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26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We × CoE + Wd × Kd(1−T) → Scenarios col G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8.98%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126480" y="4315968"/>
            <a:ext cx="5623560" cy="5029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1F2A44"/>
                </a:solidFill>
                <a:latin typeface="Garamond"/>
                <a:cs typeface="Garamond"/>
              </a:rPr>
              <a:t>BASE-CASE 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Drives Scenarios col G discount rate and $134 implied share price. Bear/bull bracket WACC ±100bps on Scenarios tab.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