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77639"/>
            <a:ext cx="12191695" cy="54864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GLOBAL INVESTMENT SOCIETY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C72C"/>
                </a:solidFill>
                <a:latin typeface="Garamond"/>
                <a:cs typeface="Garamond"/>
              </a:rPr>
              <a:t>NASDAQ: LULU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6070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2200" b="1" i="0">
                <a:solidFill>
                  <a:srgbClr val="FFC72C"/>
                </a:solidFill>
                <a:latin typeface="Garamond"/>
                <a:cs typeface="Garamond"/>
              </a:rPr>
              <a:t>Recommendation:  OVERWEIGHT / LONG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 $100.00        Price target:  $140  (+40% upside)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buNone/>
            </a:pPr>
            <a:r>
              <a:rPr sz="1350" b="0" i="1">
                <a:solidFill>
                  <a:srgbClr val="CFD6E4"/>
                </a:solidFill>
                <a:latin typeface="Garamond"/>
                <a:cs typeface="Garamond"/>
              </a:rPr>
              <a:t>A net-cash, high-margin brand priced for terminal decline — we see a cyclical trough, not a broken business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8C8C8C"/>
                </a:solidFill>
                <a:latin typeface="Garamond"/>
                <a:cs typeface="Garamond"/>
              </a:rPr>
              <a:t>September 2026        Prepared for the GIS IR selection process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this pitch will 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1.  Investment thesis summary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2.  Situation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3.  Macro × micro overlap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4.  Market narrative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5.  Company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6.  Business model &amp; unit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7.  Industry overview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8.  Thesis I — Priced for terminal decline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9.  Thesis II — International growth engine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10. Thesis III — Elite economics &amp; capital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097280"/>
            <a:ext cx="5486400" cy="5303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11. Risks &amp; mitigants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12. Catalyst timeline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13. Financials — income statement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14. Financials — balance sheet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15. Financials — cash 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16. Capital structure &amp; WACC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17. Valuation summary (football field)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18. DCF valuation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19. Comparable companies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450" b="1" i="0">
                <a:solidFill>
                  <a:srgbClr val="1F2A44"/>
                </a:solidFill>
                <a:latin typeface="Garamond"/>
                <a:cs typeface="Garamond"/>
              </a:rPr>
              <a:t>20. Appendix — bull / bear scenarios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Overweight LULU with a $140 target on ~40% upside and an asymmetric payoff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PRICE TARGET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>
                <a:solidFill>
                  <a:srgbClr val="1F2A44"/>
                </a:solidFill>
                <a:latin typeface="Garamond"/>
                <a:cs typeface="Garamond"/>
              </a:rPr>
              <a:t>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E7A3C"/>
                </a:solidFill>
                <a:latin typeface="Garamond"/>
                <a:cs typeface="Garamond"/>
              </a:rPr>
              <a:t>+40% vs $100.00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097280"/>
            <a:ext cx="35661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RATING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>
                <a:solidFill>
                  <a:srgbClr val="1F2A44"/>
                </a:solidFill>
                <a:latin typeface="Garamond"/>
                <a:cs typeface="Garamond"/>
              </a:rPr>
              <a:t>OVERWEIGHT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8C8C8C"/>
                </a:solidFill>
                <a:latin typeface="Garamond"/>
                <a:cs typeface="Garamond"/>
              </a:rPr>
              <a:t>12-month horizon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097280"/>
            <a:ext cx="3794760" cy="1371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WHY NOW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Shares –55% off highs; ~18% single-day drop after Q2 FY2026 print (Sep 3, 2026) overshoots the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11292840" cy="3657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Three reasons to be long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1.  Priced for terminal decline — at ~3.5x EV/EBITDA and ~10x FY2026E EPS with a net-cash balance sheet, the stock embeds a permanent impairment that the business does not support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2.  International is a multi-year growth engine — China Mainland and Rest-of-World more than offset a maturing Americas and can return total revenue to low-single-digit growth (~2.3% FY27–30 in our model)</a:t>
            </a:r>
          </a:p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350" b="0" i="0">
                <a:solidFill>
                  <a:srgbClr val="262626"/>
                </a:solidFill>
                <a:latin typeface="Garamond"/>
                <a:cs typeface="Garamond"/>
              </a:rPr>
              <a:t>3.  Elite economics + accretive buybacks — FY2025 operating margin was 19.9% (last full year, not the trough); we model a 13.2% clean FY2026 run-rate (Q2 18.8% minus 560bps of tariff refunds), then add the $134.5M refund once (~15.2% reported in our IS). Diluted shares are down ~7% (128.0M → 119.1M)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1">
                <a:solidFill>
                  <a:srgbClr val="1F2A44"/>
                </a:solidFill>
                <a:latin typeface="Garamond"/>
                <a:cs typeface="Garamond"/>
              </a:rPr>
              <a:t>Base-case DCF $134; bear $56 (−44%) vs bull $202 (+102%) — downside is protected by net cash and an ~8–9% FCF yield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Situation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high-quality compounder has de-rated to value multiples after a guidance reset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10-K (FY2025, ended Feb 1, 2026) and Q2 FY2026 release (Sep 3,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happened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LULU shares fell from a 52-week high of ~$226 to ~$100, including an ~18% single-day decline following the Q2 FY2026 earnings release on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Management guided FY2026 to the first annual revenue decline in company history: net revenue of $10.35–$10.50B (−5% to −7%) and diluted EPS of $9.48–$9.73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Americas (the majority of sales) has decelerated to negative comparable sales, while tariffs and higher promotions pressure gross margin and SG&amp;A deleverages on lower volume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the business stands (FY2025, ended Feb 1, 2026)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revenue $11,102.6M (+4.9% y/y); gross profit $6,284.1M (56.6% margin); operating income $2,210.6M (19.9% margin)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Net income $1,579.2M; diluted EPS $13.26; diluted shares 119.1M (down from 128.0M in FY2022)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Balance sheet: $1,807.2M cash and no funded debt — a net-cash position that funds buybacks and international expansion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 from operations $1,602.5M; capital expenditures $680.8M → ~$0.9B free cash flow even in a decelerating year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Macro × Micro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discretionary macro air pocket collided with an Americas-specific slowdown — the stock prices both at once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FY2025 10-K (SEC EDGAR); Q2 FY2026 release (Sep 3, 2026); FRED GDPC1 (Aug 2026)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Macro (external)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Real GDP still grows ~2.1% y/y (FRED GDPC1 Q2’26 vs Q2’25) — not recession, but selective spending away from premium discretionary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Inflation and economic uncertainty weighed on Americas store traffic (10-K) — macro consumer caution shows up in micro footfall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Tariff regime: Q2 recognized $134.5M IEEPA refunds (+560 bps GM) while new tariff layers remain an overhang on sourcing costs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Athleisure competition intensifying at macro category level (Nike/adidas incumbents + Alo/Vuori/On challengers)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Micro (company-specific)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Americas comps: −3% FY2025 → −12% in Q2 FY2026; China +20% FY2025 but −6% in Q2 as the base scales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811 stores (+44 net FY2025) at ~$1,426/sq ft — still opening doors while mature-region comps turn negative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FY2026 guide: first annual revenue decline (−5% to −7%) and EPS $9.48–$9.73; Q3 guide −10% to −11%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80" b="0" i="0">
                <a:solidFill>
                  <a:srgbClr val="262626"/>
                </a:solidFill>
                <a:latin typeface="Garamond"/>
                <a:cs typeface="Garamond"/>
              </a:rPr>
              <a:t>Clean run-rate EBIT margin ~13.2% (Q2 18.8% OM minus 560 bps tariff boost) — investors who miss this overstate sustainable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051560"/>
            <a:ext cx="5486400" cy="5029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OVERLAP — WHY $100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Macro weakness maps onto LULU’s largest profit pool: Americas ~71% of FY25 revenue (10-K: 70.7%)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Tariff is simultaneously macro policy and micro P&amp;L — Q2 optics mask run-rate margin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The de-rating blends macro fear with a micro guide miss; both are largely in the price at ~10x FY26E EPS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Our edge: underwrite trough economics (13.2% → 15.5% OM), not a return to 30x earnings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International micro growth (China/RoW) is the bridge — but needs macro stability, not a free option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Market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Sentiment has capitulated — the sell-side is cutting targets into the print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sell-side research notes (Sep 2026); company guidance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What the street is saying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rating has drifted to “Hold / Reduce” with a rapidly falling target; recent cuts include Goldman Sachs and JPMorgan to $95, Morgan Stanley $93 (Underweight), Wells Fargo $95, and Bank of America to $122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Bear case: Americas saturation and negative comps, tariff-driven gross-margin pressure, SG&amp;A deleverage, and share loss to emerging brands (Alo, Vuori, On)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Our differentiated view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tape has moved from euphoria (30–40x earnings in 2023–24) to capitulation (~10x today) — expectations are now low enough that even a conservative recovery re-rates the stock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At ~3.5x EV/EBITDA the market implicitly assumes revenue and margins decline in perpetuity; our base case only needs stabilization, not a return to peak growth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Consensus is extrapolating one weak fiscal year; we underwrite the international runway and structural margins the street is discounting to zero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Company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vertically integrated, direct-to-consumer technical apparel 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Business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Founded 1998 in Vancouver; designs technical athletic apparel and accessories for yoga, training, running and everyday wear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Sells through company-operated stores, a direct e-commerce channel, and select wholesale — a predominantly DTC model that captures full retail economics and first-party data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Reports revenue by geography: Americas (majority of sales), China Mainland (fastest-growing), and Rest of World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Revenue trajectory (US$ M)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FY2022:  8,110,518   →  op. margin 16.4%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FY2023:  9,619,278   →  op. margin 22.2%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FY2024:  10,588,126   →  op. margin 23.7%</a:t>
            </a:r>
          </a:p>
          <a:p>
            <a:pPr algn="l" indent="-152400" marL="177800">
              <a:spcBef>
                <a:spcPts val="0"/>
              </a:spcBef>
              <a:spcAft>
                <a:spcPts val="4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FY2025:  11,102,600   →  op. margin 19.9%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5029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GROWTH ARCHITECTURE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Americas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Mature, high-productivity base; now negative comps — the source of the market's concern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China Mainland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Fastest-growing region (~20%+); large store and brand-awareness runway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Rest of World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>
                <a:solidFill>
                  <a:srgbClr val="262626"/>
                </a:solidFill>
                <a:latin typeface="Garamond"/>
                <a:cs typeface="Garamond"/>
              </a:rPr>
              <a:t>Early-stage in Europe and APAC; men's and international whitespace underpenetrated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Business Model &amp; 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Premium pricing plus DTC scale drives sector-leading margins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58368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Unit economics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Gross margin ~57–59% — premium, full-price selling with historically limited promotion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Operating margin ~20% (peaked ~24% in FY2024) — among the best in branded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Asset-efficient store fleet: leased footprint (right-of-use assets ~$1.6B) with high sales productivity per square foot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Cash-generative: FY2025 CFO $1,602.5M on $680.8M capex → ~$0.9B free cash flow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Competitive moats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Brand and community (ambassadors, in-store events) supporting pricing power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Product innovation and proprietary fabrics driving repeat purchase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First-party DTC data enabling assortment, pricing and inventory discipline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Scale in sourcing and a growing men's and international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051560"/>
            <a:ext cx="4434840" cy="2743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FFC72C"/>
                </a:solidFill>
                <a:latin typeface="Garamond"/>
                <a:cs typeface="Garamond"/>
              </a:rPr>
              <a:t>MARGIN PROFILE (FY2025)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Gross margin        56.6%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Operating margin   19.9%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Net margin            14.2%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FFFFFF"/>
                </a:solidFill>
                <a:latin typeface="Garamond"/>
                <a:cs typeface="Garamond"/>
              </a:rPr>
              <a:t>FCF (approx.)         ~$0.9B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Industry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Structural tailwinds favor scaled brands in a consolidating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filings; industry estimates (analyst)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Category dynamics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Global activewear / athleisure is a large (~$400B) market growing at a mid-single-digit rate, supported by health, wellness and the ongoing casualization of apparel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category is fragmented but consolidating toward brands with scale, technical product and omnichannel reach; Nike and adidas are incumbents, with Vuori, Alo and On emerging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Barriers to entry are rising: brand equity, technical fabric development, supply-chain scale and a productive retail footprint are difficult to replicate quickly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Where LULU fits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A premium, category-defining brand in technical apparel with structurally higher margins than most peers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Under-indexed internationally versus Nike/adidas — the primary multi-year growth lever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Competition is real but LULU's scale, innovation cadence and community remain differentiated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valuation already discounts a permanently shrinking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The market is paying trough multiples for a brand that still earned 19.9% operating margin in FY2025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the stock trades at ~3.5x EV/EBITDA and ~10.4x FY2026E EPS — versus a 5-year history of ~20–30x earnings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balance sheet holds $1.8B of cash and no funded debt, so nearly the entire enterprise value is covered by the operating business at a very low multiple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Our base-case DCF (WACC 9.0%, terminal growth 2.25%, terminal EBIT margin 15.5%) is in the model — bear is ~$56; downside is cushioned by net cash and FCF yield, not because bear brackets $100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To justify $100 you must assume revenue and margins fall in perpetuity; that is inconsistent with international growth and the FY2026 tariff-refund tailwind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333756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SNAPSHOT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EV / EBITDA:  3.5x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 P/E:  10.4x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FCF yield:  ~8–9%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Net cash:  $1.8B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DCF base:  $134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China and Rest-of-World offset a maturing Americas and restore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Geographic mix shift is the bridge back to low-single-digit revenue growth (~2.3% FY27–30)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China Mainland has been compounding at ~20%+ with a long runway in store count and brand awareness relative to the Americas base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Rest of World (Europe, APAC) is early-stage and under-penetrated versus global peers — an incremental multi-year contributor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As international scales, it dilutes the drag from negative Americas comps; our model returns total revenue to ~2.3% growth (Street 3Y forecast 2.26%) after the FY2026 reset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Men's and the digital channel add further optionality that the market is not paying for today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REVENUE PATH (model)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FY2025A:  $11,102.6M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FY2026E:  $10,425M (−6.1%)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FY2028E:  $10,910M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FY2030E:  $11,418M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Best-in-class margins and buybacks compound value through the trough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676656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  <a:buNone/>
            </a:pPr>
            <a:r>
              <a:rPr sz="1500" b="1" i="0">
                <a:solidFill>
                  <a:srgbClr val="990000"/>
                </a:solidFill>
                <a:latin typeface="Garamond"/>
                <a:cs typeface="Garamond"/>
              </a:rPr>
              <a:t>Even a down year throws off ~$1B of FCF that is being returned aggressively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Operating margin remains ~20% in FY2025 — far above most branded-apparel peers — with room to recover as tariffs and promotions normalize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FY2025 cash from operations was $1,602.5M; after ~$681M capex the business generated roughly $0.9B of free cash flow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The company repurchased $1.6B (FY2024) and $1.2B (FY2025) of stock; share count has fallen from 128.0M (FY2022) to 119.1M (FY2025)</a:t>
            </a:r>
          </a:p>
          <a:p>
            <a:pPr algn="l" indent="-152400" marL="177800">
              <a:spcBef>
                <a:spcPts val="0"/>
              </a:spcBef>
              <a:spcAft>
                <a:spcPts val="700"/>
              </a:spcAft>
              <a:buFont typeface="Garamond"/>
              <a:buChar char="•"/>
            </a:pPr>
            <a:r>
              <a:rPr sz="1330" b="0" i="0">
                <a:solidFill>
                  <a:srgbClr val="262626"/>
                </a:solidFill>
                <a:latin typeface="Garamond"/>
                <a:cs typeface="Garamond"/>
              </a:rPr>
              <a:t>At ~$100 per share, every dollar of buyback retires far more shares than at prior highs — highly accretive to per-share 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051560"/>
            <a:ext cx="4297680" cy="28346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CAPITAL RETURN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CFO:  $1,602.5M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capex:  $680.8M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FY2025 buyback:  $1,178.3M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350" b="1" i="0">
                <a:solidFill>
                  <a:srgbClr val="1F2A44"/>
                </a:solidFill>
                <a:latin typeface="Garamond"/>
                <a:cs typeface="Garamond"/>
              </a:rPr>
              <a:t>Shares:  128.0M → 119.1M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Risks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The bear points are real but largely discounted at today's multiple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112928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Risk  →  Mitigant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Brand fatigue / fashion risk in a core-heavy assortment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Deep product pipeline, community engagement and international whitespace diversify demand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86584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Americas comparable sales stay negative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386584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Expectations are already low; ~10x earnings provides a valuation cushion if declines moderate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Tariffs compress gross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3355848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Pricing power, sourcing diversification, and $0.86/share of FY2026 tariff refunds offset part of the hit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25112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Competition from Alo, Vuori, On and incumbents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4325112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Scale, fabric innovation, and under-penetrated men's / international segments defend share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294376"/>
            <a:ext cx="5486400" cy="8686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FX translation on a growing international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5294376"/>
            <a:ext cx="56235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Natural operational hedges and an active hedging program limit earnings volatility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Catalyst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sequence of events that closes the gap to intrinsic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Q3 FY2026 (Dec 2026)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371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Company guided revenue −10% to −11%; watch for stabilization signals and holiday traffic / China 11.11 read-through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60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2514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FY2026 year-end (early 2027)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514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First full year lapping the reset; tariff refunds and cost actions support EPS versus lowered expectations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03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05840" y="3657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3657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Margin inflection as promotions/tariffs anniversary; continued accretive buybacks compound per-share value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201168" cy="201168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4800600"/>
            <a:ext cx="2651760" cy="9601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FY2027–FY2028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800600"/>
            <a:ext cx="786384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Total revenue returns to growth as international scales — the trigger for multiple re-rating toward peers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 &amp; bull operating forecast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→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→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→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→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→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→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base FY26 10,425M → FY30 11,418M; bull FY26 10,658M → FY30 13,456M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base FY26 6,035M → FY30 6,463M; bull FY26 6,129M → FY30 7,737M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base FY26 1,511M → FY30 1,770M; bull FY26 1,680M → FY30 2,557M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base FY26 14.5% → FY30 15.5%; bull FY26 15.8% → FY30 19.0%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base FY26 1,089M → FY30 1,256M; bull FY26 1,242M → FY30 1,859M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base FY26 $9.55 → FY30 $12.93; bull FY26 $10.89 → FY30 $19.14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10,658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11,298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11,976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12,694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13,456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6,886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7,299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7,737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1,765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2,006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15.6%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16.8%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17.9%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19.0%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9.55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9.65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11.88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10.66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13.98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11.75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16.39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19.14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22–25 = FY2022–25 historical; 26B/26U = FY2026 base (G) / bull (H); same for 27–30. Bear in Appendix.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 &amp; bull funded growth — all FY26–30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→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→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→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→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→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FY22–FY25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base FY26 2,470M → FY30 4,864M; bull FY26 2,142M → FY30 3,639M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base FY26 1,538M → FY30 1,635M; bull FY26 1,572M → FY30 1,927M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base FY26 8,892M → FY30 12,067M; bull FY26 9,091M → FY30 14,221M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base FY26 3,279M → FY30 3,586M; bull FY26 3,352M → FY30 4,226M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base FY26 5,613M → FY30 8,481M; bull FY26 5,738M → FY30 9,995M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base $0; bull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2,985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4,180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3,639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1,538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1,716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1,927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8,892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9,091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9,584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10,153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10,343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11,354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11,170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12,067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14,221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3,552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3,429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3,764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3,507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3,989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3,586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4,226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5,613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5,738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6,231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6,601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6,914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7,590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7,663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8,716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9,995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Same BS line items as 10-K. Bull cash = FY25 cash + cumulative (FCF + buybacks).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—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 — historical 10-K vs base &amp; bull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Forecast: base = Scenarios col G (3-statement); bull = Scenarios col H. Historicals per FY2025 10-K. Each row uses the same metric definition across periods.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24128"/>
            <a:ext cx="5532120" cy="224028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(FY2022–FY2025) —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→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→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24128"/>
            <a:ext cx="5532120" cy="22402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(FY2026E–FY2030E) — base (G) vs bull (H)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base FY26 1,736M → FY30 1,812M; bull FY26 1,820M → FY30 2,385M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base FY26 469M → FY30 514M; bull FY26 480M → FY30 606M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base FY26 (573) → FY30 (628); bull FY26 (480) → FY30 (606)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base FY26 1,163M → FY30 1,184M; bull FY26 1,340M → FY30 1,779M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base FY26 (500) → FY30 (500); bull FY26 (1,005) → FY30 (1,335)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364992"/>
          <a:ext cx="11292828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  <a:gridCol w="653142"/>
              </a:tblGrid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30B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30U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1,732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2,151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2,385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571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606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(480)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(539)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(606)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1,163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1,340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1,015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1,232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1,077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1,397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1,118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1,184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(1,005)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(923)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(1,048)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(1,185)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(500)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(1,335)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9284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8C8C8C"/>
                </a:solidFill>
                <a:latin typeface="Garamond"/>
                <a:cs typeface="Garamond"/>
              </a:rPr>
              <a:t>FCF rows tie to DCF unlevered FCF. Share repurchases are financing (CFF) — shown for 10-K / 3-statement comparability and cash bridge; they do not change DCF implied price (basic share count).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Capital Structure &amp; WACC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 lease-adjusted capital structure drives a ~9.0% discount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5669280" cy="5120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50" b="1" i="0">
                <a:solidFill>
                  <a:srgbClr val="990000"/>
                </a:solidFill>
                <a:latin typeface="Garamond"/>
                <a:cs typeface="Garamond"/>
              </a:rPr>
              <a:t>Capital structure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No funded debt; an undrawn revolving credit facility provides liquidity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$1,807.2M cash and equivalents — a net-cash position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Market EV at ~$100 is ~$9.3B (~3.5× FY25 EBITDA); intrinsic DCF enterprise value is ~$15B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We relever Yahoo 5Y β (0.86) at FY25 ASC 842 lease debt ÷ market cap (~0.16 D/E) → β used ≈ 0.84. Damodaran Retail β (0.95) is shown for reference only.</a:t>
            </a:r>
          </a:p>
          <a:p>
            <a:pPr algn="l" indent="-152400" marL="177800">
              <a:spcBef>
                <a:spcPts val="0"/>
              </a:spcBef>
              <a:spcAft>
                <a:spcPts val="600"/>
              </a:spcAft>
              <a:buFont typeface="Garamond"/>
              <a:buChar char="•"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Capital returned via buybacks (no dividend); FY2025 repurchases $1,178.3M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097280"/>
            <a:ext cx="5349240" cy="42062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8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Risk-free rate (10-yr UST)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4.8%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risk premium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6.0%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Beta (relevered; lease adj.)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0.84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Garamond"/>
                <a:cs typeface="Garamond"/>
              </a:rPr>
              <a:t>Cost of equity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9.9%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Lease-debt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14%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Equity weight</a:t>
            </a: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      86%</a:t>
            </a:r>
          </a:p>
          <a:p>
            <a:pPr>
              <a:spcBef>
                <a:spcPts val="4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WACC = 9.0%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Multiple methods converge above the current price — target $140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and comps models; multiples are analyst ranges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361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P / E (10–18x FY2026E)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54674" y="1554480"/>
            <a:ext cx="348338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6345" y="15544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219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EV / EBITDA (4.5–7.5x)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95165" y="2240280"/>
            <a:ext cx="2759562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3016" y="22402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(bear – bull)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5125" y="2926080"/>
            <a:ext cx="6604855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268" y="29260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593592"/>
            <a:ext cx="237744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35629" y="3611880"/>
            <a:ext cx="5700080" cy="41148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l"/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3998" y="3611880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5629" y="1417320"/>
            <a:ext cx="25400" cy="310896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45178" y="1417320"/>
            <a:ext cx="25400" cy="31089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95549" y="45262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05098" y="47548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21208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We set a 12-month target of $140 — above the Gordon DCF of $134, for a partial re-rating toward historical multiples — implying ~40% upside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262626"/>
                </a:solidFill>
                <a:latin typeface="Garamond"/>
                <a:cs typeface="Garamond"/>
              </a:rPr>
              <a:t>The P/E low end (~$96) sits near today's price, showing how little recovery is required for the stock to work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Base-case unlevered DCF yields ~$134 per share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(from scratch); FY2025 cash &amp; share count per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Base-case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growth (FY26 → FY30)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−6.1% → +2.3%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margin (FY26 → FY30)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13.2% clean → 15.5% (+$134.5M FY26)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5.5% blend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990000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1463040"/>
            <a:ext cx="5349240" cy="27432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25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explicit FCF (FY26–FY30)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3,944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10,933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14,876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1,807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14,885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      111.4</a:t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112928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300" b="1" i="0">
                <a:solidFill>
                  <a:srgbClr val="990000"/>
                </a:solidFill>
                <a:latin typeface="Garamond"/>
                <a:cs typeface="Garamond"/>
              </a:rPr>
              <a:t>Sensitivity — implied share price (WACC vs terminal growth)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4892040"/>
          <a:ext cx="69494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8240"/>
                <a:gridCol w="1158240"/>
                <a:gridCol w="1158240"/>
                <a:gridCol w="1158240"/>
                <a:gridCol w="1158240"/>
                <a:gridCol w="115824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>
                    <a:solidFill>
                      <a:srgbClr val="FFC7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Comparable Companies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PitchBook pubcomps are the current tape; Alo still has no EV/EBITDA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PitchBook Comps Set 04-Sep-2026 (EV/EBITDA = daily EV / TTM EBITDA); Alo ask $10bn / Forbes ~$2bn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3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45969"/>
                <a:gridCol w="2045969"/>
                <a:gridCol w="2045969"/>
                <a:gridCol w="2045969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($000)</a:t>
                      </a:r>
                    </a:p>
                  </a:txBody>
                  <a:tcPr anchor="ctr">
                    <a:solidFill>
                      <a:srgbClr val="1F2A4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lululemon (LULU)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11,890,440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2,548,084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 (NKE)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58,972,350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4,647,000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 (ADS)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35,661,944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3,857,684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 (DECK)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10,555,510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1,329,439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 (CROX)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7,153,911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922,278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 (LEVI)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9,422,753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976,700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 (KTB)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5,236,269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407,521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(private)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n.a.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n.m.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—</a:t>
                      </a:r>
                    </a:p>
                  </a:txBody>
                  <a:tcPr anchor="ctr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754880"/>
            <a:ext cx="1129284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50" b="1" i="0">
                <a:solidFill>
                  <a:srgbClr val="990000"/>
                </a:solidFill>
                <a:latin typeface="Garamond"/>
                <a:cs typeface="Garamond"/>
              </a:rPr>
              <a:t>Read-through — we do not average these for terminal value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PitchBook core mean (ex-UAA, ex-WSM/MOV/LZB) is the current athletic/apparel tape. UAA has negative EBITDA so it is out of the average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Selected TV is the Gordon identity (~7.4x FY30 EBITDA at base WACC/g). A 2.25% g year is not today’s NKE 12.7x or WSM 15.4x</a:t>
            </a:r>
          </a:p>
          <a:p>
            <a:pPr algn="l" indent="-152400" marL="177800">
              <a:spcBef>
                <a:spcPts val="0"/>
              </a:spcBef>
              <a:spcAft>
                <a:spcPts val="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EV/EBITDA is still n.a. Implied 5.0x is EV/Sales on an unclosed $10bn ask — not in this PitchBook set and not the TV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Appendix — Bull / Bear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Asymmetric payoff: limited downside, substantial upside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GIS DCF model (scenario tab)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86868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BEAR   $56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−44% vs $100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−9%; growth stays negative (−1% avg FY28–30)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12.0%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11.0%; terminal growth 1.5%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Americas decline persists; share loss continues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703320" cy="8686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BASE   $134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+34% vs $100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−6.1%; then +2.3% (Street 3Y forecast)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Clean EBIT margin 13.2% → 15.5%; +$134.5M refund in FY26 only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9.0%; terminal growth 2.25%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International offsets a stabilizing Americas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703320" cy="8686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Garamond"/>
                <a:cs typeface="Garamond"/>
              </a:rPr>
              <a:t>BULL   $202</a:t>
            </a:r>
          </a:p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FFFFFF"/>
                </a:solidFill>
                <a:latin typeface="Garamond"/>
                <a:cs typeface="Garamond"/>
              </a:rPr>
              <a:t>+102% vs $100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2194560"/>
            <a:ext cx="3703320" cy="3291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FY2026 revenue −4%; +6% avg FY27–30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Terminal EBIT margin 19.0%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WACC 9.5%; terminal growth 3.0%</a:t>
            </a:r>
          </a:p>
          <a:p>
            <a:pPr algn="l" indent="-152400" marL="177800">
              <a:spcBef>
                <a:spcPts val="0"/>
              </a:spcBef>
              <a:spcAft>
                <a:spcPts val="8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Margin recovery toward peak; brand re-accelerates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69280"/>
            <a:ext cx="112928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1">
                <a:solidFill>
                  <a:srgbClr val="1F2A44"/>
                </a:solidFill>
                <a:latin typeface="Garamond"/>
                <a:cs typeface="Garamond"/>
              </a:rPr>
              <a:t>Probability-weighted value (25% / 50% / 25%) ≈ $131 — the risk/reward skews decisively to the upside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59436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0" y="201168"/>
            <a:ext cx="630936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 rIns="762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Sources &amp; Disclaimer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66928"/>
            <a:ext cx="11384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Data provenance and standard research disclaimer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89611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1384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>
                <a:solidFill>
                  <a:srgbClr val="8C8C8C"/>
                </a:solidFill>
                <a:latin typeface="Garamond"/>
                <a:cs typeface="Garamond"/>
              </a:rPr>
              <a:t>Source: company SEC filings (Form 10-K, CIK 0001397187)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10528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24128"/>
            <a:ext cx="11292840" cy="5394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Sources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Historical financials: lululemon athletica inc. Forms 10-K via SEC EDGAR (CIK 0001397187); FY2025 fiscal year ended February 1,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Q2 FY2026 results and FY2026 guidance: company earnings release dated September 3,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Market data (price, shares, beta): public market sources as of early September 2026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Projections, DCF and comparable-company analysis: GIS Investment Research models, built from scratch for this assignment</a:t>
            </a:r>
          </a:p>
          <a:p>
            <a:pPr algn="l" indent="-152400" marL="177800">
              <a:spcBef>
                <a:spcPts val="0"/>
              </a:spcBef>
              <a:spcAft>
                <a:spcPts val="500"/>
              </a:spcAft>
              <a:buFont typeface="Garamond"/>
              <a:buChar char="•"/>
            </a:pPr>
            <a:r>
              <a:rPr sz="1250" b="0" i="0">
                <a:solidFill>
                  <a:srgbClr val="262626"/>
                </a:solidFill>
                <a:latin typeface="Garamond"/>
                <a:cs typeface="Garamond"/>
              </a:rPr>
              <a:t>Alo Yoga: Reuters 2023 Moelis ask ~$10bn (no deal announced, Reuters 2026) and Forbes Color Image sales nearly $2bn. No page prints EV/EBITDA; implied 5.0x is EV/Sales, not the FY30 exit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400" b="1" i="0">
                <a:solidFill>
                  <a:srgbClr val="990000"/>
                </a:solidFill>
                <a:latin typeface="Garamond"/>
                <a:cs typeface="Garamond"/>
              </a:rPr>
              <a:t>Disclaimer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8C8C8C"/>
                </a:solidFill>
                <a:latin typeface="Garamond"/>
                <a:cs typeface="Garamond"/>
              </a:rPr>
              <a:t>This presentation is prepared for educational purposes as part of the Global Investment Society selection process and does not constitute investment advice or a recommendation to buy or sell any security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