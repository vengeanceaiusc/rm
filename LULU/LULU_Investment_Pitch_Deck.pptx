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you will be focusing on during this pitch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5532120" cy="4791455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1. Table of Contents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2. Situation Overview and Current Investment Setup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3. Market Narrative and Analyst Sentiment Surrounding the Stock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4. Investment Thesis Summary and Target Price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5. Geographic Segments and Revenue Breakdown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6. Business Model Unit Economics and Competitive Moats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7. Industry Overview — Trends and Structure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8. Industry Overview — Barriers to Entry and Profitability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9. Investment Thesis I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10. Investment Thesis II: Partial Margin Recovery &amp; Brand Loyalty Floor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11. Investment Thesis III: Geographic Growth Divergence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170432"/>
            <a:ext cx="5532120" cy="4791455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12. Risk &amp; Mitigants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13. Timeline of Recovery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14. Financials | Income Statement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15. Financials | Balance Sheet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16. Financials | Cash Flow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17. Financials | Capital Structure &amp; WACC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18. Valuation Summary (Football Field)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19. Sum of the Parts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20. DCF Valuation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21. Comps Analysis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22. Precedent Transactions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outlines why this investment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 pushing Lululemon down to roughly 100 dollars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 digit growth the market capitulated over a guidance cut of 5 to 7 percent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 rate operating margins of 13.2 percent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Model: LULUMODEL18.xlsx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breaks down current market sentiment and exactly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aggressively cut 2026 revenue guidance to 10.35 billion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 as the consensus price target was slashed from 176 dollars to 136 dollars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ignore the durable competitive advantage we see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MarketBeat: Morgan Stanley Issues Pessimistic Forecast for lululemon athletica: https://www.marketbeat.com/instant-alerts/analyst-morgan-stanley-issues-pessimistic-forecast-for-lululemon-athletica-nasdaq-lulu-stock-price-2026-09-04/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Simply Wall St: lululemon athletica Stock Analysis: https://simplywall.st/stocks/us/consumer-durables/nasdaq-lulu/lululemon-athletica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GuruFocus: LULU Reiterates by BTIG - Rating Maintained at Neutral: 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breaks down our actual 133 dollar base case target price and the three core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398678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Our discounted cash flow valuation generates a base case implied share price of 133.64 dollars representing a 33.6 percent upside from current levels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The first pillar is profitability because adjusting out the tariff refunds reveals LULU still maintains a highly resilient 13.2 percent clean run-rate operating margin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The second pillar is our mathematically sound 9.0 percent WACC which strictly bounds our 2.3 percent long-term revenue growth assumption [3]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Finally international expansion remains the crucial growth engine as 4 percent growth in China Mainland easily offsets the temporary North American stagnation [4]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(Base Case Implied Value): LULUMODEL18_3.xlsx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Earnings Release (13.2% Margin Calc):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(WACC &amp; Revenue Drivers): LULUMODEL18_3.xlsx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Lululemon Q2 FY2026 Earnings Release (International Growth): 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outlines Lululemon's geographic segments and revenue breakdown while detailing why China growth offsets temporary US declines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Lululemon generated 11.1 billion dollars in total revenue with Americas contributing 7.85 billion dollars or 70.68 percent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 percent due to temporary cyclical macro pressure rather than structural brand degradation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China Mainland surged 20 percent to 1.75 billion dollars proving high growth international expansion easily offsets US temporary weakness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Lululemon FY2025 Form 10-K (Segment Revenue and Percentages):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FY2025 Form 10-K (Americas Comparable Sales):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(China Mainland Growth &amp; Revenue Driver): LULUMODEL18.xlsx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analyzes Lululemon's unit economics and competitive moats that protect its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Lululemon sustains a 56.6 percent gross margin providing a massive competitive moat against retail price competition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 with direct-to-consumer EBIT margins hitting 23.6 percent without retail occupancy drag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1,426 dollars per square foot and an 18.6 percent EBIT margin establishing high capital efficiency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Margin): LULUMODEL18_6.xlsx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Provided Valuation Model (E-commerce EBIT Margin Driver): LULUMODEL18_6.xlsx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(Store EBIT Margin &amp; SPSF): LULUMODEL18_6.xlsx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explores the ongoing athleisure industry trends including market fragmentation and the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I argue the global athleisure market remains highly fragmented meaning most players lack a durable competitive advantage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 protecting global champions from temporary cyclical noise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Lululemon mathematically proves its moat by generating a 30.25 percent ROE far outpacing the 6.81 percent industry median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Market.us Media (Athleisure Market Fragmentation): https://media.market.us/athleisure-industry-statistics/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(Premium Athleisure Trends): https://www.fortunebusinessinsights.com/athleisure-market-110642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FinanceCharts (Lululemon ROE &amp; Retail Median): https://www.financecharts.com/stocks/LULU/growth/roe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dissects capital efficiency metrics comparing Lululemon's gross margin directly against legacy apparel competitors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Lululemon commands a 56.6 percent gross margin far exceeding traditional athletic apparel peers like Nike and Under Armour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a 43 percent margin while Under Armour hovers around 46 percent reflecting their wholesale dependence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this structural margin compression and forms an impenetrable economic moat against industry price wars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 Assumptions): LULUMODEL18.xlsx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Investing.com (Nike &amp; Under Armour Historical Gross Margins): https://www.investing.com/pro/NYSE:NKE/explorer/gp_margin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ProAnalyst LULU Market Report (Competitor Margins &amp; DTC Moat): https://lulu.proanalyst.ai/business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outlines the core contrarian investment thesis utilizing numerical evidence from the LULUMODEL18.xlsx file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The 2026 price drop exceeding 50% has left Lululemon critically undervalued despite durable cash flows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Its premium Direct-to-Consumer revenue mix protects a massive 54.9% adjusted gross margin, mathematically justifying my intrinsic valuation thesis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Furthermore, even with Americas growth stagnating, sheer cash flow generation creates a robust intrinsic valuation buffer, where a conservative 2.25% terminal growth rate still yields over 30% upside to our $133.64 target price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https://everythingmoney.com/blog/lululemon-is-collapsing-burry-s-biggest-bet-4334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DCF Terminal Value &amp; Valuation Summary Schedule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II: Partial Margin Recovery &amp; Brand Loyalty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details how partial margin recovery supported by core brand loyalty still drives a highly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398678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FY24 showing prior peak earnings power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Our valuation assumes a floor built on resilient baseline brand loyalty, proving Lululemon does not need to remain the hottest viral trend 100% of the time to sustain a 13.2% trough margin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just 15.5% EBIT margin by FY30 still yields $133.64 per share [3]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This proves returning to peak COVID profitability is completely unnecessary to unlock substantial market upside [4]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 / SEC EDGAR Form 10-K (FY24 Peak Margins)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Clean Run-Rate EBIT Margin &amp; Brand Royalty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Base Case DCF Valuation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Discounted Cash Flow Valuation Summary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examines how Lululemon's top-line projections rely disproportionately on Chinese market expansion to conceal domestic North American stagnation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The revenue build reveals Americas facing near-term contraction with -4.0% comps in FY26 flatlining at a terminal 2.0% growth rate by FY30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To offset this domestic anchor, the model relies entirely on disproportionate FY26–FY30 Chinese footprint expansion, averaging 16 new stores annually versus just 6 domestically, and sustained double-digit (10.2% average) comp growth to overcome clear Americas expansion drawbacks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Consequently, if the Chinese consumer softens, this model's core top-line projections will not be optimal enough to meet our target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Americas FY26-FY30 Comparable Sales Growth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FY26 Store Openings &amp; Mainland China Revenue Build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Revenue Drivers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This slide evaluates core downside risks and demonstrates how share repurchases compound EPS to drive share price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China deceleration risks a $56.00 bear floor, but $45.64 cumulative cash per share recovers 45% of entry price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Slashed CapEx saves $360M annually by relying on online e-commerce's 23.6% EBIT margin plus $101.5M inventory releases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Deploying $500M annually into buybacks retires 18.7 million shares, compounding EPS to $13.36 to support our target price of $133.64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Bear Case DCF Valuation Summary / https://www.barrons.com/articles/lululemon-stock-earnings-guidance-a7a7c5c0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CapEx &amp; E-Commerce Channel EBIT Assumptions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Share Repurchase &amp; EPS Accretion Schedule / https://corporate.lululemon.com/newsroom/press-releases/2026/09-03-2026-210528733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170432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80844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$134.5M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91256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 13.8% (+60 bps) as promotional headwinds anniversary, while 75% UFCF buybacks compound EPS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FFC72C"/>
                </a:solidFill>
                <a:latin typeface="Garamond"/>
                <a:cs typeface="Garamond"/>
              </a:rPr>
              <a:t>2028 (FY2027–FY2028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4201668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Accelerating international store scaling (+12% China comps) offsets Americas softness (-4%), driving overall revenue recovery and valuation re-rating toward $133.64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Scenarios &amp; Revenue Drivers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NOPAT Bridge &amp; Scenarios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Scenarios &amp; Unlevered Free Cash Flow Schedule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Revenue Drivers &amp; DCF Valuation Summary / https://stockanalysis.com/stocks/lulu/forecast/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Forecast: LULU_DCF_Valuation_Model.xlsx → Scenarios col G. EPS = NI ÷ diluted shares after $500M/yr repurchases (DCF $134 still uses 111.4M day-one basic shares).  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→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→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→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→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→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→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→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→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→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→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→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FY26 $9.55 → FY30 $12.93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89995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9.55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9.65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10.66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11.75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12.93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413248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(Revenue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× Scenarios!G30:G34 (rev × GM%)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(EBIT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OI ÷ revenue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÷ Scenarios!G25:G29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Scenarios!G143:G147 (pitch bridge NI)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 ÷ buyback-adjusted shares ($500M/yr; Scenarios!G188:G192)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BS forecast: cash roll-forward includes $500M/yr buybacks; equity scales with revenue (buyback-driven equity reduction shown via CF / IS share count, not TE line).  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→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→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→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→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→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FY22–FY25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2,393M → FY30 4,497M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→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→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→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→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89995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3,874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7,941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8,310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8,502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8,697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413248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Scenarios!G163:G167 (pitch bridge cash roll-forward)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Scenarios!G80:G84 (NWC schedule)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Scenarios!G168:G172 (FY25 TA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Scenarios!G173:G177 (FY25 TL × rev growth)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Scenarios!G178:G182 (FY25 TE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Long-term debt ($0)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assumption, $0 (no term debt)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Buybacks: $500M/yr fixed (Scenarios col G). Cash roll-forward = prior cash + FCF − buybacks.  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→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→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→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→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→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1,087M →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(500) → FY30 (500)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413248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478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Operating activities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Scenarios!G148:G152 (pitch bridge CFO)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Depreciation &amp; amortization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Scenarios!G55:G59 (D&amp;A yr 1–5)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Scenarios!G60:G64 (Capex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CFO − capex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Scenarios!G153:G157 (pitch bridge FCF/CFS)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Repurchases (financing)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Scenarios!G158:G162 (G21=$500M/yr fixed)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Cap stack &amp; WACC: LULU_DCF_Valuation_Model.xlsx → WACC tab (col E). Cash/leases: FY2025 10-K.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5486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005840"/>
            <a:ext cx="562356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261872"/>
          <a:ext cx="5532118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51760"/>
            <a:ext cx="55321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52928"/>
          <a:ext cx="5532118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 → equity bridge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657600"/>
            <a:ext cx="5532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 → net-cash on a funded-debt basis.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234440"/>
            <a:ext cx="5623560" cy="3657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298448"/>
          <a:ext cx="5468112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84448"/>
            <a:ext cx="53492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→ unlevered 0.76 @ D/E 0.19 →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4041648"/>
            <a:ext cx="5623560" cy="804672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 → Scenarios col G · implied price $134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28523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5468112"/>
          <a:ext cx="1129284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098280"/>
              </a:tblGrid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→ Comps / football field tab; geographic SOTP on FY30E base revenue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(10–18x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1676" y="1417320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(5.0–8.0x FY30E)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44494" y="2075688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5206" y="2734056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8180" y="3191256"/>
            <a:ext cx="76809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818" y="4050791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6378" y="987552"/>
            <a:ext cx="1097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362" y="987552"/>
            <a:ext cx="1097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$134 and inside the comps/SOTP ranges: a partial re-rating, not a return to peak multiples.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G (Gordon growth). Bear $56 / bull $202 bracket scenario range from the model.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Segment revenue: FY2025 10-K geography; FY30E scaled to base-case consolidated revenue (Scenarios col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6.4x–7.1x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9,924–11,010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7.9x–9.4x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3,238–3,852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7.1x–8.1x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2,297–2,621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6.8x–7.7x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15,459–17,483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$139–$157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5–8x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$134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$139–$157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G):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→ Scenarios col G + DCF tab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56692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61872"/>
          <a:ext cx="5623560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FY2027–30 revenue growth (avg)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$134.5M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103120"/>
                <a:gridCol w="2103120"/>
              </a:tblGrid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(FY26–FY30)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3,944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14,876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14,885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56048"/>
            <a:ext cx="1129284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166360"/>
          <a:ext cx="676656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92024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92024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92024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06640" y="5166360"/>
            <a:ext cx="434340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→ $134. Grid brackets ±100bps WACC and 1.5–3.0% 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PitchBook Comps Set 04-Sep-2026 (EV, TTM EBITDA); revenue/EBIT from company filings; forward P/E from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65836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662940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005840"/>
            <a:ext cx="4572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207008"/>
          <a:ext cx="461772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Peer med.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$119–$231 (med $153)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$190–$311 (med $229)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$155–$369 (med $311)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$99–$183 (med $158)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657600"/>
            <a:ext cx="46177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2–3); P/E = median × EPS (no EV). EV + cash − lease debt ÷ shares = equity/sh.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03320"/>
            <a:ext cx="1129284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 → EV, then + cash − ASC 842 lease debt ÷ shares.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$134 base-case DCF and $140 12-month target (+6 vs DCF, ~4% above model fair value) reflect undervaluation with only a modest re-rating: not Nike-level multiples.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489204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Wolverine IR/SEC (Sweaty Betty); Bloomberg (Gymshark); BusinessWire/Reuters (Vuori); Reuters/Forbes (Alo)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51560"/>
          <a:ext cx="11292834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Aug-2021; ~16x FY21E EBITDA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Aug-2020; $1.3bn EV (minority)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Oct-2021; $4bn post-money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Unclosed; no deal per Reuters Jun-2026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Trading comps only (not a premium benchmark)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246120"/>
            <a:ext cx="717804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246120"/>
            <a:ext cx="3977639" cy="2148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stack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base: $134  |  Target: $140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262626"/>
                </a:solidFill>
                <a:latin typeface="Garamond"/>
                <a:cs typeface="Garamond"/>
              </a:rPr>
              <a:t>Comps median EV/EBITDA 9.4x → ~$229/sh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>
                <a:solidFill>
                  <a:srgbClr val="262626"/>
                </a:solidFill>
                <a:latin typeface="Garamond"/>
                <a:cs typeface="Garamond"/>
              </a:rPr>
              <a:t>Reasonably assumed ceiling from peer EV/EBITDA re-rating. Not our price target.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