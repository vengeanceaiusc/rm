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GIS base-case operating forecast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Projections = GIS base case (Scenarios column G); historicals per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Reported figures from Forms 10-K; FY2025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Revenue grew $8,111M → $11,103M; operating margin peaked 23.7% (FY24), still 19.9% in FY25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Diluted EPS rose $6.68 → $13.26; share count fell 128.0M → 119.1M via buybacks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1417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FFC72C"/>
                </a:solidFill>
                <a:latin typeface="Garamond"/>
                <a:cs typeface="Garamond"/>
              </a:rPr>
              <a:t>BASE-CASE FORECAST (FY2026E–FY2030E) — Scenarios col G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FY26 revenue 10,425M (−6.1% guide); then +2.3%/yr — same path as DCF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Clean EBIT margin 13.2% → 15.5%; FY26 includes $134.5M IEEPA refund (reported OM 14.5%)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EPS trough $9.55 (FY26E) → $12.93 (FY30E); not bull/bear — GIS base only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578608"/>
          <a:ext cx="11292839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221377"/>
                <a:gridCol w="1221377"/>
                <a:gridCol w="1221377"/>
                <a:gridCol w="1221377"/>
                <a:gridCol w="1221377"/>
                <a:gridCol w="1221377"/>
                <a:gridCol w="1221377"/>
              </a:tblGrid>
              <a:tr h="48593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8593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8593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8593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8593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8593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859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9.55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10.66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053328"/>
            <a:ext cx="112928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Table shows FY26 / FY28 / FY30; full five-year path in LULU_3_Statement_Model.xlsx. Bull ($202) and bear ($56) scenarios are in the Appendix only.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reported history vs base-case funded growth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Projections = GIS base case (Scenarios column G); historicals per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No funded debt in any historical year; FY25 cash $1,807M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Total assets $6,841M; shareholders’ equity $3,896M at FY25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Lease-backed retail footprint (ROU assets) — balance sheet already a downside cushion at ~10x earnings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1417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FFC72C"/>
                </a:solidFill>
                <a:latin typeface="Garamond"/>
                <a:cs typeface="Garamond"/>
              </a:rPr>
              <a:t>BASE-CASE FORECAST (FY2026E–FY2030E) — 3-statement model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Cash grows 2,470M → 4,864M while funding $500M/yr buybacks; debt stays $0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WC drivers (% of revenue / COGS) roll forward; cash is the balancing plug on the CFS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Total assets reach 12,067M; equity 8,481M — leverage-free compounding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578608"/>
          <a:ext cx="11292839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221377"/>
                <a:gridCol w="1221377"/>
                <a:gridCol w="1221377"/>
                <a:gridCol w="1221377"/>
                <a:gridCol w="1221377"/>
                <a:gridCol w="1221377"/>
                <a:gridCol w="1221377"/>
              </a:tblGrid>
              <a:tr h="48593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8593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4,864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8593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1,538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8593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8,892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10,343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12,067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8593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8593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6,914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8,481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859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053328"/>
            <a:ext cx="112928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Projections tie to Scenarios col G for rev / margin / capex; BS detail per integrated 3-statement workbook (not DCF exit multiples).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Historical capital return vs base-case trough FCF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Projections = GIS base case (Scenarios column G); historicals per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FY25 CFO $1,603M; capex ($681M) → ~$922M FCF despite revenue deceleration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Aggressive buybacks: ($1,637M) FY24, ($1,178M) FY25 — returned most excess cash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Historicals = reported CFS lines; no model overlay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1417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FFC72C"/>
                </a:solidFill>
                <a:latin typeface="Garamond"/>
                <a:cs typeface="Garamond"/>
              </a:rPr>
              <a:t>BASE-CASE FORECAST (FY2026E–FY2030E) — Scenarios col G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FCF holds &gt;$1B in the reset year: $1,163M FY26E → $1,184M FY30E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Capex 5.5% blend (Scenarios); D&amp;A ~4.5% of revenue — same drivers as DCF UFCF build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Buybacks ($500M)/yr in model — conservative vs FY24–25; SBC flows through equity, not CFS cash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578608"/>
          <a:ext cx="11292839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221377"/>
                <a:gridCol w="1221377"/>
                <a:gridCol w="1221377"/>
                <a:gridCol w="1221377"/>
                <a:gridCol w="1221377"/>
                <a:gridCol w="1221377"/>
                <a:gridCol w="1221377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1,163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1,077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053328"/>
            <a:ext cx="112928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Free cash flow = CFO + capex (capex shown negative). DCF repurchase schedule uses 75% of UFCF — deck uses 3-statement $500M/yr assumption.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lease-adjusted capital structure drives a ~9.0%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Market EV at ~$100 is ~$9.3B (~3.5× FY25 EBITDA); intrinsic DCF enterprise value is ~$15B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We relever Yahoo 5Y β (0.86) at FY25 ASC 842 lease debt ÷ market cap (~0.16 D/E) → β used ≈ 0.84. Damodaran Retail β (0.95) is shown for reference only.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Beta (relevered; lease adj.)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0.84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9.9%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Lease-debt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14%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86%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9.0%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95165" y="2240280"/>
            <a:ext cx="275956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3016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5125" y="2926080"/>
            <a:ext cx="6604855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68268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Gordon DCF of $134,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~$134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3,944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10,933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14,876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14,885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PitchBook pubcomps are the current tape; Alo still has no EV/EBITDA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PitchBook Comps Set 04-Sep-2026 (EV/EBITDA = daily EV / TTM EBITDA); Alo ask $10bn / Forbes ~$2bn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3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11,890,440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2,548,084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58,972,350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4,647,000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35,661,944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3,857,684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10,555,510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1,329,439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 (CROX)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7,153,911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922,278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 (LEVI)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9,422,753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976,700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 (KTB)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5,236,269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407,521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(private)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n.a.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PitchBook core mean (ex-UAA, ex-WSM/MOV/LZB) is the current athletic/apparel tape. UAA has negative EBITDA so it is out of the average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the Gordon identity (~7.4x FY30 EBITDA at base WACC/g). A 2.25% g year is not today’s NKE 12.7x or WSM 15.4x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EV/EBITDA is still n.a. Implied 5.0x is EV/Sales on an unclosed $10bn ask — not in this PitchBook set and not the TV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