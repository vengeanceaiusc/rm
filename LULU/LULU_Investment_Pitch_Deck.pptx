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 focus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Guidance reset compresses the multiple; operating base case still intact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Shares trade near $100 following the Q2 FY26 guidance revision (~$100.61 last sale)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FY26 revenue guide: -5% to -7% vs. prior double-digit growth trajectory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Americas: ~flat comps and ~6 net store openings/yr (FY26–FY30 base); China: ~10.2% comps and ~16 openings/yr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Clean run-rate EBIT margin: 13.2% (FY25 10-K baseline)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1. TIKR — post-earnings price action (Sep 2026)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2. Lululemon Q2 FY26 earnings supplement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3. unbeiesgbar_final.xlsx, Revenue Drivers &amp; Scenarios (base case)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4. unbeiesgbar_final.xlsx, Scenarios tab; FY2025 Form 10-K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Consensus de-rated; estimates lag revised FY26 outlook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cut estimates after FY26 revenue guide of ~$10.35B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Consensus target moved from ~$176 to ~$136 (Simply Wall St aggregate)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BTIG maintained Neutral; near-term caution, limited change to long-run margin 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1. MarketBeat — Morgan Stanley estimate revision (Sep 2026)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2. Simply Wall St — LULU consensus target history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3. GuruFocus — BTIG rating reiteration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 DCF $133.52; 12-month target $140 on modest multiple re-rating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Base-case DCF: $133.52/sh (+33.5% vs. ~$100 spot); 12-mo target $140.00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FY26–FY30 avg EBIT margin ~14.4%; path from 13.2% clean margin to 15.5% by FY30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Lease-adjusted WACC 9.0%; revenue CAGR 2.3% in base case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FY25 China segment +29% y/y vs. flat Americas; model offsets US softness via China comps/openings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1. unbeiesgbar_final.xlsx, DCF valuation summary (base case)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2. unbeiesgbar_final.xlsx, Scenarios — EBIT margin path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3. unbeiesgbar_final.xlsx, WACC &amp; Revenue Drivers tabs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4. Lululemon Q2 FY26 earnings release (segment growth)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segment growth offsets Americas cyclical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FY25 revenue $11.1B; Americas $7.85B (70.7% of total)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-3% (FY25 10-K); cyclical, not structural share loss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$1.75B segment revenue; +20% FY25 comparable sales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1. FY2025 Form 10-K — segment revenue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2. FY2025 Form 10-K — Americas comparable sales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3. unbeiesgbar_final.xlsx, Revenue Drivers — China Mainland build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DTC mix and store productivity support margin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Gross margin 56.6% (FY25 base case)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EBIT margin 23.6% (no retail occupancy load)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stores: $1,426/sq ft; 18.6% EBIT margin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1. unbeiesgbar_final.xlsx, Scenarios — gross margin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2. unbeiesgbar_final.xlsx, Revenue Drivers — e-commerce margin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3. unbeiesgbar_final.xlsx, Revenue Drivers — store productivity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Fragmented athleisure; premium segment retains entry barriers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Global athleisure remains fragmented; scale and brand equity concentrated in leaders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Premium segment: higher barriers vs. mass athletic wholesale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 ROE 30.25% vs. ~6.81% apparel median (FinanceCharts)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1. Market.us — athleisure market structure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2. Fortune Business Insights — premium athleisure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3. FinanceCharts — LULU ROE vs. retail median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LULU gross margin premium vs. wholesale-heavy peers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 gross margin 56.6% vs. Nike ~43% and Under Armour ~46%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Wholesale mix structurally caps peer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DTC scale limits promotional margin erosion vs. mass-market peers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1. unbeiesgbar_final.xlsx, gross margin assumption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2. Investing.com — NKE / UAA historical gross margin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3. ProAnalyst — LULU competitive positioning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Share price dislocation vs. normalized cash generation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2026 drawdown &gt;50% from 52-wk high; spot ~$100 vs. base intrinsic ~$133.52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DTC mix supports ~54.9% adjusted gross margin in base case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2.25% terminal growth still implies &gt;30% upside to $133.52 base value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1. Everything Money — 2026 price dislocation (context)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2. Lululemon Q2 FY26 earnings release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3. unbeiesgbar_final.xlsx, DCF terminal value &amp; valuation summary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Recovery to 15.5% FY30 EBIT not required to reach base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Peak EBIT margin 23.7% (FY24 10-K); not required for base case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Base case floors at 13.2% clean EBIT; brand retention supports trough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15.5% FY30 EBIT margin → $133.52/sh in base DCF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Full reversion to COVID-era peak margins not in base case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1. unbeiesgbar_final.xlsx &amp; FY2024 Form 10-K — peak margins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2. unbeiesgbar_final.xlsx, Scenarios — clean run-rate EBIT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3. unbeiesgbar_final.xlsx, DCF valuation summary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4. unbeiesgbar_final.xlsx, DCF — margin sensitivity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Top-line bridge relies on China offsetting flat Americas comps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Americas: -4.0% comps FY26; terminal 2.0% by FY30 (base case)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China: ~16 gross openings/yr vs. ~6 Americas; ~10.2% avg comps (14% → 7% FY26–FY30)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slowdown is primary risk to base-case revenue path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1. unbeiesgbar_final.xlsx, Revenue Drivers — Americas comps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2. unbeiesgbar_final.xlsx, Revenue Drivers — China store &amp; comp assumptions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3. unbeiesgbar_final.xlsx, Scenarios — consolidated revenue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Bear floor $56; FCF and buybacks support per-share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Bear-case DCF floor ~$56/sh; cumulative cash ~$45.64/sh (~45% of entry)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CapEx fades 7.0% → 5.5% of revenue; 23.6% e-commerce EBIT supports FCF if China comps soften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$750M/yr repurchases → ~32.9M shares retired; base EPS ~$14.58 by FY30 schedule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1. unbeiesgbar_final.xlsx, Scenarios bear case; Barron's — guide context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2. unbeiesgbar_final.xlsx, DCF capex &amp; NWC; Q2 FY26 supplement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3. unbeiesgbar_final.xlsx, DCF share repurchase schedule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Recovery path: guide trough → margin stabilization → re-rating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Q3 laps guidance trough; China Double 11 supports holiday traffic baseline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First full-year post-reset; $134.5M IEEPA tariff refunds and SG&amp;A actions support EPS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EBIT margin ~13.8% (+60 bps); $750M buybacks → EPS ~$10.10 (base schedule)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(FY2027–FY2028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~17 net stores FY27; +12%/+10% comps FY27–FY28 offset Americas -4% FY26 comp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1. unbeiesgbar_final.xlsx, Scenarios &amp; Revenue Drivers; Q2 FY26 supplement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2. unbeiesgbar_final.xlsx, Scenarios &amp; NOPAT reconciliation; Q2 FY26 supplement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3. unbeiesgbar_final.xlsx, Scenarios &amp; DCF FCF bridge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4. unbeiesgbar_final.xlsx, Revenue Drivers &amp; DCF summary; StockAnalysis consensus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Forecast: unbeiesgbar_final.xlsx, Scenarios &amp; DCF tabs. EPS reflects net income / diluted shares after $750M/yr repurchases.  Historical: FY2022-FY2025 Form 10-K. Forecast: unbeiesgbar_final.xlsx, Scenarios tab (base case). Line-item sources in table below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unbeiesgbar_final.xlsx base case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Scenarios —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gross margin on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Scenarios —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/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EBIT /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Scenarios —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DCF — EPS (post buyback)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Balance sheet forecast: unbeiesgbar_final.xlsx. Cash roll-forward net of $750M/yr buybacks.  Historical: FY2022-FY2025 Form 10-K. Forecast: unbeiesgbar_final.xlsx, Scenarios tab (base case). Line-item sources in table below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unbeiesgbar_final.xlsx base case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to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Scenarios — cash roll-forward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Scenarios — NWC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Scenarios — balance sheet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Scenarios — balance sheet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Scenarios — balance sheet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FCF = CFO less capex (unbeiesgbar_final.xlsx, DCF tab). Buybacks: $750M/yr fixed in base case.  Historical: FY2022-FY2025 Form 10-K. Forecast: unbeiesgbar_final.xlsx, Scenarios tab (base case). Line-item sources in table below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unbeiesgbar_final.xlsx base case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1,086M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Scenarios — CFO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Scenarios — D&amp;A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Scenarios — capex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-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DCF — unlevered FCF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Scenarios — $750M/yr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Cap stack &amp; WACC: unbeiesgbar_final.xlsx, WACC tab (col E). Cash/leases: FY2025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767328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 (unbeiesgbar_final.xlsx, WACC tab) · implied price $133.52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26864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809744"/>
          <a:ext cx="553212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37560"/>
              </a:tblGrid>
              <a:tr h="94052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Cap stack 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Source (unbeiesgbar_final.xlsx)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WACC — 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WACC — ASC 842 leases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WACC — 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WACC — 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6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199632" y="4809744"/>
          <a:ext cx="5468112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73552"/>
              </a:tblGrid>
              <a:tr h="98755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Source (unbeiesgbar_final.xlsx)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WACC — 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WACC — 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WACC — 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WACC — relevered beta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WACC — 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WACC — 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WACC — 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unbeiesgbar_final.xlsx, WACC — equity weight / unbeiesgbar_final.xlsx, WACC —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7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unbeiesgbar_final.xlsx, WACC — summary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unbeiesgbar_final.xlsx,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$133.52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Base-case DCF (unbeiesgbar_final.xlsx): Gordon growth terminal. Bear $54 / bull $208 from Scenarios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Segment revenue: FY2025 Form 10-K; FY30E from unbeiesgbar_final.xlsx, Scenarios base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geographic mix applied to unbeiesgbar_final.xlsx consolidated FY30 base revenue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$133.52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$133.52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(unbeiesgbar_final.xlsx): Gordon growth TV; 7.4x implied exit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unbeiesgbar_final.xlsx, DCF &amp; Scenarios tabs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28041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3,930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14,862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14,871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$133.52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74%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30352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9751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vs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30352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$133.52. Grid brackets ±100bps WACC and 1.5-3.0% 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4.1x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$133.52 base-case DCF and $140 12-month target (+6 vs DCF, ~5%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$133.52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