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mid-single-digit growth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(~14.5% reported).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$124; bear $66 (−34%) vs bull $227 (+127%)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10.5% from FRED 4.77% rf, terminal growth 2.25%, terminal EBIT margin 15.5%) is in the model — bear case still brackets the current price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mid-single-digit revenue growth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$10,942M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$11,451M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results with our base-case forecast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10,845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11,730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6,642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1,853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15.40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FY2026E reported OM 15.2% = clean ~13.9% (56.5% GM − 42.5% SG&amp;A) plus $134.5M IEEPA refund (~+1.3 ppt). DCF uses the Q2 clean 13.2% run-rate as its trough.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net-cash balance sheet underpins downside protection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2,375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5,648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8,946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10,728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12,888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9,303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No funded debt and a growing cash balance fund buybacks and international expansion — the core of our margin of safety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Durable free cash flow through the trough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2,068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(730)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Free cash flow stays around $1B+ even in the FY2026 reset year, comfortably funding continued repurchases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~100% equity, net-cash structure drives a ~10.5%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Enterprise value ≈ equity value less cash; ~$9.3B EV at ~$100 per share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use Damodaran’s unlevered Retail (Special Lines) beta of 0.95 because LULU has no debt, so βu = βe. Company 5Y is 0.86 and is not used.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(unlev. retail; no debt)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0.95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10.5%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100%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10.5%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1836" y="2240280"/>
            <a:ext cx="3302427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2552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480" y="2926080"/>
            <a:ext cx="6695333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2101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conservative Gordon DCF of $124,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~$124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3,732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8,316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12,048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13,856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$124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$122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$132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(~6.0x).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$66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−34%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11.5%;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$124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+24%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10.5%;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$227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+127%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$155 — the risk/reward skews decisively to the upside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