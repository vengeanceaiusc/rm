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low-single-digit growth (~2.3% FY27–30 in our model)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 (10-K: 70.7%)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low-single-digit revenue growth (~2.3% FY27–30)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$10,910M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$11,418M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FY26 $9776.90 → FY30 $11279.95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revenue · Fcst: Scenarios!G25:G29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Gross profit · Fcst: Scenarios!G25:G29 × Scenarios!G30:G34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Operating income · Fcst: Scenarios!G45:G49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OI ÷ revenue · Fcst: 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income · Fcst: Scenarios!G143:G147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Diluted EPS · Fcst: Scenarios!G183:G187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9776.90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9484.51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10059.72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10657.96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11279.95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Scenarios!G183:G187 (pitch bridge EPS)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All forecast lines: LULU_DCF_Valuation_Model.xlsx → Scenarios tab → pitch deck bridge block (col G).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Cash · Fcst: Scenarios!G163:G167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Inventories · Fcst: Scenarios!G80:G84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assets · Fcst: Scenarios!G168:G172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liabilities · Fcst: Scenarios!G173:G177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equity · Fcst: Scenarios!G178:G182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Debt ($0) · Fcst: Model — $0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 —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BS forecast: Scenarios pitch bridge (cash waterfall + FY25 BS × revenue growth), col 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 —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· Fcst: Scenarios!G148:G152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D&amp;A · Fcst: Scenarios!G55:G59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Capex · Fcst: Scenarios!G60:G64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− capex · Fcst: Scenarios!G153:G157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Buybacks · Fcst: Scenarios!G158:G162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Buybacks: col G = $500M/yr fixed (Scenarios assumptions).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lease-adjusted capital structure drives a ~9.0%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Market EV at ~$100 is ~$9.3B (~3.5× FY25 EBITDA); intrinsic DCF enterprise value is ~$15B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We relever Yahoo 5Y β (0.86) at FY25 ASC 842 lease debt ÷ market cap (~0.16 D/E) → β used ≈ 0.84. Damodaran Retail β (0.95) is shown for reference only.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4.8%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Beta (relevered; lease adj.)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0.84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9.9%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Lease-debt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14%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86%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9.0%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95165" y="2240280"/>
            <a:ext cx="275956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3016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5125" y="2926080"/>
            <a:ext cx="6604855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68268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above the Gordon DCF of $134, for a partial re-rating toward historical multiples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~$134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13.2% clean → 15.5% (+$134.5M FY26)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3,944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10,933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14,876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14,885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PitchBook pubcomps are the current tape; Alo still has no EV/EBITDA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PitchBook Comps Set 04-Sep-2026 (EV/EBITDA = daily EV / TTM EBITDA); Alo ask $10bn / Forbes ~$2bn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3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11,890,440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2,548,084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58,972,350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4,647,000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35,661,944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3,857,684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10,555,510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1,329,439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 (CROX)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7,153,911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922,278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 (LEVI)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9,422,753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976,700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 (KTB)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5,236,269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407,521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(private)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n.a.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n.m.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 — we do not average these for terminal value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PitchBook core mean (ex-UAA, ex-WSM/MOV/LZB) is the current athletic/apparel tape. UAA has negative EBITDA so it is out of the average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Selected TV is the Gordon identity (~7.4x FY30 EBITDA at base WACC/g). A 2.25% g year is not today’s NKE 12.7x or WSM 15.4x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EV/EBITDA is still n.a. Implied 5.0x is EV/Sales on an unclosed $10bn ask — not in this PitchBook set and not the TV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