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table of contents detailing the overarching financial roadmap for my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First we will analyze the recent cyclical selloff to 100 dollars and why this price action demands a market re-evaluation. Next we dissect the NOPAT bridge and revenue drivers to expose durable cash flows hidden beneath headline noise. Then we evaluate our mathematically sound 9 percent WACC and DCF scenarios which justify my overweight thesis. Finally we review our football field valuation and comparable analysis implying a massive margin of safety for investors.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2026 Financial Supplement: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Spreadsheet: LULUMODEL18.xlsx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carrying just $1.78 billion in long-term debt against $8.53 billion in total assets provides immense strategic flexibility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from peak COVID levels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permanently reset lower to a 13.2% run-rate trough in FY26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model projections rely entirely on FY2026 store openings skewing to China (+20 openings) versus mature Americas (+8 openings) alongside aggressive +14.0% comp sales growth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mathematically break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75% UFCF into buybacks retires 28 million shares, compounding EPS to $14.93 to elevate share price to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milestones from Q3 FY2026 trough through FY2027–FY2028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170432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180844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3191256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292608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4201668"/>
            <a:ext cx="822960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