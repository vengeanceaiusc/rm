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—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Sum of the parts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DCF valuation (base case)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Comps analysis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21. Precedent transactions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22.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revenue · Fcst: Scenarios!G25:G29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Gross profit · Fcst: Scenarios!G25:G29 × Scenarios!G30:G34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Operating income · Fcst: Scenarios!G45:G49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OI ÷ revenue · Fcst: 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Net income · Fcst: Scenarios!G143:G147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IS — Diluted EPS · Fcst: Scenarios!G183:G187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 —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 —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Cash · Fcst: Scenarios!G163:G167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Inventories · Fcst: Scenarios!G80:G84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assets · Fcst: Scenarios!G168:G172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liabilities · Fcst: Scenarios!G173:G177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3958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Total equity · Fcst: Scenarios!G178:G182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396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BS — Debt ($0) · Fcst: Model — 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 —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· Fcst: Scenarios!G148:G152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D&amp;A · Fcst: Scenarios!G55:G59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Capex · Fcst: Scenarios!G60:G64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CFO − capex · Fcst: Scenarios!G153:G157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7795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  <a:p>
                      <a:pPr algn="l"/>
                      <a:r>
                        <a:rPr sz="650" b="0" i="1">
                          <a:solidFill>
                            <a:srgbClr val="8C8C8C"/>
                          </a:solidFill>
                          <a:latin typeface="Garamond"/>
                          <a:cs typeface="Garamond"/>
                        </a:rPr>
                        <a:t>Hist: 10-K CF — Buybacks · Fcst: Scenarios!G158:G162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87568"/>
          <a:ext cx="1129284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 —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 —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 —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566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8897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493008"/>
            <a:ext cx="5532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 —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 — implied share-price ranges by methodology (base case DCF; bear/bull in appendix)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2228" y="3392424"/>
            <a:ext cx="7315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0658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2082" y="5321808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 —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${_d(V['bear'])} / bull ${_d(V['bull'])} bracket scenarios are in the appendix.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 —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 —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 —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 —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 —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tab; bear/bull scenarios in 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—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—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lululemon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1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127759"/>
                <a:gridCol w="1127759"/>
                <a:gridCol w="1127759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365760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 &amp; read-through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set: LULU, NKE, ADS, DECK, CROX, LEVI, KTB — PitchBook daily EV / TTM EBITDA (04-Sep-2026); revenue &amp; EBIT from latest company filings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EV/Revenue on FY2026E revenue; EV/EBITDA &amp; EV/EBIT on FY2025 (TTM anchor); P/E on FY2026E EPS ($9.61 mid-guide) — then EV → equity via cash &amp; ASC 842 leases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 and 10.4x forward P/E vs core medians 1.63x / 16.5x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DCF terminal value uses Gordon growth (g = 2.25%) — the ~7.4x exit multiple is FY30 EBITDA × identity check only, not the peer median (~9x EV/EBITDA)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$134 sits between comps-implied ranges; target $140 = partial re-rating toward peer medians, not full NKE multiple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reference for athleisure M&amp;A / take-private angle (no closed LULU-scale precedent)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Reuters (Oct-2023 Moelis process; Jun-2026 update); Forbes Color Image sales 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5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92807"/>
                <a:gridCol w="1892807"/>
                <a:gridCol w="1892807"/>
                <a:gridCol w="1892807"/>
                <a:gridCol w="1892807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EV/Revenue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 / premium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— Reuters Jun-2026: no deal announced; IPO or ; +367% vs LULU EV/Sales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(current @ $100)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— trough multiple vs private ask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2606040"/>
            <a:ext cx="1129284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M&amp;A / take-private read-through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No directly comparable public take-private of LULU-scale athletic apparel. Alo is the best private-market reference; premium is EV/Sales vs LULU at current price.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Alo Yoga (Color Image): 2023 Moelis process at ~$10bn EV on ~$2bn Forbes-est. parent sales → ~5.0x EV/Revenue. No EBITDA print; deal never closed (Reuters Jun-2026 still exploring IPO/sale)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At $100, LULU trades ~1.1x EV/Revenue on FY2026E revenue — ~367% below the Alo ask multiple on a like-for-like sales basis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Implied control premium: if a strategic paid Alo-like ~5x EV/Sales on LULU FY26E revenue, equity value would be ~$52bn vs ~$11bn today — illustrative only; LULU is already public with liquid float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No directly comparable precedent for a $10bn+ athletic-apparel take-private; comps analysis (prior slide) and DCF remain primary valuation anchors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50749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