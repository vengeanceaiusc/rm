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Pitch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Cyclical dislocation at ~$100 sets up a contrarian overweight case grounded in cash flows, DCF, and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Guidance Shock: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Post-cut panic drove LULU to ~$100 despite a long track record of double-digit revenue growth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NOPAT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Revenue and margin drivers isolate durable cash generation beneath headline volatility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Valuation Stack: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9.0% WACC base-case DCF anchors $133.64 target with bear/bull brackets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Risk / Reward: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Football field and comps frame asymmetric re-rating vs. downside floor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created a cyclical entry; fundamentals remain intact at double-digit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Post-Cut Trough: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guidance cut catalyzed a ~50% drawdown to ~$100/share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Disproportionate Reaction: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penalized 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5–7%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revenue guide cut vs. historical double-digit CAGR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Cash Flow Durability: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Clean run-rate operating margin holds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post tariff adjustments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Positioning: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Setup favors long-duration holders into FY27–FY28 estimate stabilization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Sentiment &amp; Street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capitulated on guidance; price targets cut sharply while balance-sheet quality was ignored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Morgan Stanley: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Cut 2026 revenue outlook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$10.35B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a sharply negative post-release stance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Consensus PT Reset: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target reduced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$176 → $136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as cyclical fears dominated the narrative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 Holdouts: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BTIG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underscores tactical caution, not structural brand impairment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Contrarian Window: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Sentiment trough historically precedes multi-quarter estimate stabilization [2][3]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 — Morgan Stanley pessimistic LULU forecast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 — LULU consensus price target history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BTIG Neutral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Thesis &amp; Price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$133.64 base DCF supports overweight; margins, WACC discipline, and China offset Americas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Base Case Target: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DCF implies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+33.6%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~$100) on published assumptions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 — Margin Quality: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clean run-rate EBIT after normalizing tariff refunds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 — Discount Rate: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9.0% WACC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caps terminal growth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III — Geo Mix: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+4%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Mainland growth offsets near-term North America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LULUMODEL18_3.xlsx — base-case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https://corporate.lululemon.com/~/media/Files/L/Lululemon/investors/results-center/q2-2026-financial-supplement.pdf — 13.2% margin bridge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LULUMODEL18_3.xlsx —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https://corporate.lululemon.com/~/media/Files/L/Lululemon/investors/results-center/q2-2026-financial-supplement.pdf — international segment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Revenue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Americas still ~71% of revenue, but China growth provides the offset to domestic comp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Scale: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$11.1B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FY25 revenue; Americas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$7.85B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70.7%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mix)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Pressure: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Comparable sales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cyclical macro, not structural brand erosion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Offset: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Mainland China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validating international growth engine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Model 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FY26–30 build leans on China store adds and comps to bridge Americas drag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FY2025 10-K segment disclosure: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FY2025 10-K Americas comparable sales: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China Mainland revenue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Unit Economics &amp;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DTC mix sustains best-in-class margins and capital efficiency vs. wholesale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Gross Margin Moat: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structural premium vs. athletic apparel peers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E-Commerce Economics: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e-commerce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Store Productivity: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$1,426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sales per sq. ft.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18.6%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store EBIT margin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Capital Efficiency: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High-margin, asset-light mix supports FCF conversion through the cycle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LULUMODEL18_6.xlsx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LULUMODEL18_6.xlsx — e-commerce EBIT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LULUMODEL18_6.xlsx — store EBIT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Structure &amp;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 TAM with premium barriers; scale winners compound ROE through cycles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Market Structure: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 — few operators earn durable excess returns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Premium Barriers: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Brand, DTC scale, and product IP protect leaders from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ROE Proof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30.3% ROE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retail median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6.8%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Cyclical drawdowns in premium leaders historically precede estimate recovery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— athleisure fragmentation data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— premium athleisure trends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Peer Margin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LULU's DTC-led margin stack sits 10–14 pts above legacy wholesale athletic brands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LULU Gross Margin: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premium pricing power and mix discipline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Nike Benchmark: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wholesale dependence compresses unit economics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Under Armour: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distribution model limits pricing leverage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Moat Conclusion: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scale blocks structural margin compression seen at wholesale peers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— NKE &amp; UA historical gross margins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— LULU DTC moat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I: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Price dislocation vs. cash-flow durability and balance-sheet optionality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Drawdown Magnitude: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&gt;50%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2026 selloff leaves shares mispriced vs. normalized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Margin Defense: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54.9%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adjusted gross margin on premium DTC mix supports intrinsic value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Balance Sheet: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$1.78B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long-term debt vs.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$8.53B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total assets — ample strategic flexibility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Entry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~$100 entry offers asymmetric upside into FY27 margin normalization [1][2]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Everything Money — LULU drawdown analysis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release: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LULU long-term debt &amp; capital 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II: Margin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Partial margin recovery — not peak COVID profitability — still drives compelling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Peak Reference: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FY24 EBIT margin peaked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establishes prior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Trough Assumption: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Model resets FY26 run-rate EBIT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conservative floor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Recovery Path: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FY30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15.5%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still yields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case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Insight: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peaks is not required for material upside [3][4]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FY2024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clean run-rate EBIT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base-case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III: Geo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acceleration to offset Americas comp contraction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Drag: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comps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terminal growth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Lever: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openings skew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 China / +8 Americas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+14.0%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comps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International scaling must carry consolidated growth through FY28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Risk: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China consumer slowdown breaks core top-line assumptions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Americas FY26–FY30 comp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FY26 store openings &amp; China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Bear-case floor defined; buybacks and CapEx discipline compound EPS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Downside: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$56/sh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floor;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$45.64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cumulative cash/sh recovers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45%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CapEx Flex: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Reduced CapEx saves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$360M/yr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; e-commerce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EBIT +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$101.5M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inventory release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Buyback Engine: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UFCF to repurchases retires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28M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shares — EPS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$14.93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Price Recovery: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EPS accretion supports re-rating toward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bear-case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CapEx &amp; e-commerce EBIT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share repurchase &amp; EPS accretion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Recovery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Q3 FY26 trough through FY28 re-rating: margin repair, buybacks, and international comp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Q3 FY26 Trough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70432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laps guidance trough; China Double 11 confirms holiday traffic floor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FY26 Year-End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180844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$134.5M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tariff refunds + SG&amp;A actions protect EPS through reset year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FY27 Inflection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3191256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Operating margin to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13.8%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(+60 bps);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75%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UFCF buybacks compound EPS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FY28 Re-Rating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201668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China comps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+12%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offset Americas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-4%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; valuation converges on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Scenarios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NOPAT bridge &amp; scenarios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UFCF schedule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