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54864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977639"/>
            <a:ext cx="12191695" cy="54864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640080"/>
            <a:ext cx="10515600" cy="12801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2000" b="1" i="0">
                <a:solidFill>
                  <a:srgbClr val="FFC72C"/>
                </a:solidFill>
                <a:latin typeface="Garamond"/>
                <a:cs typeface="Garamond"/>
              </a:rPr>
              <a:t>GLOBAL INVESTMENT SOCIETY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Investment Research Division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468880"/>
            <a:ext cx="10515600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4000" b="1" i="0">
                <a:solidFill>
                  <a:srgbClr val="FFFFFF"/>
                </a:solidFill>
                <a:latin typeface="Garamond"/>
                <a:cs typeface="Garamond"/>
              </a:rPr>
              <a:t>lululemon athletica inc.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C72C"/>
                </a:solidFill>
                <a:latin typeface="Garamond"/>
                <a:cs typeface="Garamond"/>
              </a:rPr>
              <a:t>NASDAQ: LULU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206240"/>
            <a:ext cx="10607040" cy="2011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2200" b="1" i="0">
                <a:solidFill>
                  <a:srgbClr val="FFC72C"/>
                </a:solidFill>
                <a:latin typeface="Garamond"/>
                <a:cs typeface="Garamond"/>
              </a:rPr>
              <a:t>Recommendation:  OVERWEIGHT / LONG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700" b="0" i="0">
                <a:solidFill>
                  <a:srgbClr val="FFFFFF"/>
                </a:solidFill>
                <a:latin typeface="Garamond"/>
                <a:cs typeface="Garamond"/>
              </a:rPr>
              <a:t>Current price:  $100.00        Price target:  $140  (+40% upside)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buNone/>
            </a:pPr>
            <a:r>
              <a:rPr sz="1350" b="0" i="1">
                <a:solidFill>
                  <a:srgbClr val="CFD6E4"/>
                </a:solidFill>
                <a:latin typeface="Garamond"/>
                <a:cs typeface="Garamond"/>
              </a:rPr>
              <a:t>A net-cash, high-margin brand priced for terminal decline. We see a cyclical trough, not a broken business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8C8C8C"/>
                </a:solidFill>
                <a:latin typeface="Garamond"/>
                <a:cs typeface="Garamond"/>
              </a:rPr>
              <a:t>September 2026        Prepared for the GIS IR selection process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Table of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What this pitch will cover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097280"/>
            <a:ext cx="5486400" cy="5303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1.  Financial roadmap (table of contents)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2.  Situation overview &amp; investment setup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3.  Market narrative &amp; analyst sentiment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4.  Investment thesis summary &amp; target price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5.  Geographic segments &amp; revenue breakdown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6.  Business model &amp; unit economics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7.  Industry overview | trends &amp; structure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8.  Industry overview | barriers &amp; profitability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9.  Investment thesis I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10. Investment thesis II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11. Investment thesis III | geographic growth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097280"/>
            <a:ext cx="5486400" cy="5303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12. Risks &amp; mitigants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13. Catalyst timeline (recovery)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14. Financials | income statement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15. Financials | balance sheet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16. Financials | cash flow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17. Financials | capital structure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18. Valuation summary (football field)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19. Sum of the parts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20. DCF valuation (base case)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21. Comps analysis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22. Precedent transactions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Table of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Overarching financial roadmap for the Lululemon investment pitch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92840" cy="4343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First we analyze the recent cyclical selloff to ~$100 and why this price action demands a market re-evaluation.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Next we dissect the NOPAT bridge and revenue drivers to expose durable cash flows hidden beneath headline noise.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Then we evaluate our mathematically sound ~9% WACC and DCF scenarios, which justify our overweight thesis.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Finally we review our football-field valuation and comparable analysis, implying a substantial margin of safety for investors.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32120"/>
            <a:ext cx="11292840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0"/>
              </a:spcAft>
              <a:buFont typeface="Garamond"/>
              <a:buChar char="•"/>
            </a:pPr>
            <a:r>
              <a:rPr sz="750" b="1" i="0">
                <a:solidFill>
                  <a:srgbClr val="262626"/>
                </a:solidFill>
                <a:latin typeface="Garamond"/>
                <a:cs typeface="Garamond"/>
              </a:rPr>
              <a:t>[1] TIKR LULU Stock Crashed 17%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650" b="0" i="1">
                <a:solidFill>
                  <a:srgbClr val="8C8C8C"/>
                </a:solidFill>
                <a:latin typeface="Garamond"/>
                <a:cs typeface="Garamond"/>
              </a:rPr>
              <a:t>https://www.tikr.com/blog/lululemon-stock-crashed-17-on-friday-the-guidance-cut-was-the-real-story</a:t>
            </a:r>
          </a:p>
          <a:p>
            <a:pPr algn="l" indent="-152400" marL="177800">
              <a:spcBef>
                <a:spcPts val="0"/>
              </a:spcBef>
              <a:spcAft>
                <a:spcPts val="0"/>
              </a:spcAft>
              <a:buFont typeface="Garamond"/>
              <a:buChar char="•"/>
            </a:pPr>
            <a:r>
              <a:rPr sz="750" b="1" i="0">
                <a:solidFill>
                  <a:srgbClr val="262626"/>
                </a:solidFill>
                <a:latin typeface="Garamond"/>
                <a:cs typeface="Garamond"/>
              </a:rPr>
              <a:t>[2] Lululemon Q2 FY2026 Financial Supplement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650" b="0" i="1">
                <a:solidFill>
                  <a:srgbClr val="8C8C8C"/>
                </a:solidFill>
                <a:latin typeface="Garamond"/>
                <a:cs typeface="Garamond"/>
              </a:rPr>
              <a:t>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0"/>
              </a:spcAft>
              <a:buFont typeface="Garamond"/>
              <a:buChar char="•"/>
            </a:pPr>
            <a:r>
              <a:rPr sz="750" b="1" i="0">
                <a:solidFill>
                  <a:srgbClr val="262626"/>
                </a:solidFill>
                <a:latin typeface="Garamond"/>
                <a:cs typeface="Garamond"/>
              </a:rPr>
              <a:t>[3] GIS valuation model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650" b="0" i="1">
                <a:solidFill>
                  <a:srgbClr val="8C8C8C"/>
                </a:solidFill>
                <a:latin typeface="Garamond"/>
                <a:cs typeface="Garamond"/>
              </a:rPr>
              <a:t>LULU_DCF_Valuation_Model.xlsx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Situation Overview &amp; Current Investment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Why this opportunity exists and the historical financial context driving the current setup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4434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The recent guidance cut triggered a massive cyclical panic, pushing Lululemon down to roughly $100 [1].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Despite historically compounding double-digit growth, the market capitulated over a guidance cut of 5% to 7% [2].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Lululemon still retains durable cash flows with clean run-rate operating margins of 13.2% [3].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32120"/>
            <a:ext cx="11292840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0"/>
              </a:spcAft>
              <a:buFont typeface="Garamond"/>
              <a:buChar char="•"/>
            </a:pPr>
            <a:r>
              <a:rPr sz="750" b="1" i="0">
                <a:solidFill>
                  <a:srgbClr val="262626"/>
                </a:solidFill>
                <a:latin typeface="Garamond"/>
                <a:cs typeface="Garamond"/>
              </a:rPr>
              <a:t>[1] TIKR LULU Stock Crashed 17%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650" b="0" i="1">
                <a:solidFill>
                  <a:srgbClr val="8C8C8C"/>
                </a:solidFill>
                <a:latin typeface="Garamond"/>
                <a:cs typeface="Garamond"/>
              </a:rPr>
              <a:t>https://www.tikr.com/blog/lululemon-stock-crashed-17-on-friday-the-guidance-cut-was-the-real-story</a:t>
            </a:r>
          </a:p>
          <a:p>
            <a:pPr algn="l" indent="-152400" marL="177800">
              <a:spcBef>
                <a:spcPts val="0"/>
              </a:spcBef>
              <a:spcAft>
                <a:spcPts val="0"/>
              </a:spcAft>
              <a:buFont typeface="Garamond"/>
              <a:buChar char="•"/>
            </a:pPr>
            <a:r>
              <a:rPr sz="750" b="1" i="0">
                <a:solidFill>
                  <a:srgbClr val="262626"/>
                </a:solidFill>
                <a:latin typeface="Garamond"/>
                <a:cs typeface="Garamond"/>
              </a:rPr>
              <a:t>[2] Lululemon Q2 FY2026 Guidance / Supplement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650" b="0" i="1">
                <a:solidFill>
                  <a:srgbClr val="8C8C8C"/>
                </a:solidFill>
                <a:latin typeface="Garamond"/>
                <a:cs typeface="Garamond"/>
              </a:rPr>
              <a:t>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0"/>
              </a:spcAft>
              <a:buFont typeface="Garamond"/>
              <a:buChar char="•"/>
            </a:pPr>
            <a:r>
              <a:rPr sz="750" b="1" i="0">
                <a:solidFill>
                  <a:srgbClr val="262626"/>
                </a:solidFill>
                <a:latin typeface="Garamond"/>
                <a:cs typeface="Garamond"/>
              </a:rPr>
              <a:t>[3] GIS valuation model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650" b="0" i="1">
                <a:solidFill>
                  <a:srgbClr val="8C8C8C"/>
                </a:solidFill>
                <a:latin typeface="Garamond"/>
                <a:cs typeface="Garamond"/>
              </a:rPr>
              <a:t>LULU_DCF_Valuation_Model.xlsx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Market Narrative &amp; Analyst Sentiment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Current market sentiment and what analysts are saying about the recent guidance cut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4434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Morgan Stanley issued a highly pessimistic forecast after management cut FY2026 revenue guidance to ~$10.35B [1].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Analysts are paralyzed by cyclical fears; consensus price targets were slashed from ~$176 to ~$136 [2].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Firms like BTIG maintain neutral ratings due to short-term turbulence but underweight the durable competitive advantage we see [3].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32120"/>
            <a:ext cx="11292840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0"/>
              </a:spcAft>
              <a:buFont typeface="Garamond"/>
              <a:buChar char="•"/>
            </a:pPr>
            <a:r>
              <a:rPr sz="750" b="1" i="0">
                <a:solidFill>
                  <a:srgbClr val="262626"/>
                </a:solidFill>
                <a:latin typeface="Garamond"/>
                <a:cs typeface="Garamond"/>
              </a:rPr>
              <a:t>[1] Morgan Stanley pessimistic forecast (MarketBeat)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650" b="0" i="1">
                <a:solidFill>
                  <a:srgbClr val="8C8C8C"/>
                </a:solidFill>
                <a:latin typeface="Garamond"/>
                <a:cs typeface="Garamond"/>
              </a:rPr>
              <a:t>https://www.marketbeat.com/instant-alerts/analyst-morgan-stanley-issues-pessimistic-forecast-for-lululemon-athletica-nasdaq-lulu-stock-price-2026-09-04/</a:t>
            </a:r>
          </a:p>
          <a:p>
            <a:pPr algn="l" indent="-152400" marL="177800">
              <a:spcBef>
                <a:spcPts val="0"/>
              </a:spcBef>
              <a:spcAft>
                <a:spcPts val="0"/>
              </a:spcAft>
              <a:buFont typeface="Garamond"/>
              <a:buChar char="•"/>
            </a:pPr>
            <a:r>
              <a:rPr sz="750" b="1" i="0">
                <a:solidFill>
                  <a:srgbClr val="262626"/>
                </a:solidFill>
                <a:latin typeface="Garamond"/>
                <a:cs typeface="Garamond"/>
              </a:rPr>
              <a:t>[2] Simply Wall St LULU stock analysis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650" b="0" i="1">
                <a:solidFill>
                  <a:srgbClr val="8C8C8C"/>
                </a:solidFill>
                <a:latin typeface="Garamond"/>
                <a:cs typeface="Garamond"/>
              </a:rPr>
              <a:t>https://simplywall.st/stocks/us/consumer-durables/nasdaq-lulu/lululemon-athletica</a:t>
            </a:r>
          </a:p>
          <a:p>
            <a:pPr algn="l" indent="-152400" marL="177800">
              <a:spcBef>
                <a:spcPts val="0"/>
              </a:spcBef>
              <a:spcAft>
                <a:spcPts val="0"/>
              </a:spcAft>
              <a:buFont typeface="Garamond"/>
              <a:buChar char="•"/>
            </a:pPr>
            <a:r>
              <a:rPr sz="750" b="1" i="0">
                <a:solidFill>
                  <a:srgbClr val="262626"/>
                </a:solidFill>
                <a:latin typeface="Garamond"/>
                <a:cs typeface="Garamond"/>
              </a:rPr>
              <a:t>[3] BTIG neutral reiteration (GuruFocus)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650" b="0" i="1">
                <a:solidFill>
                  <a:srgbClr val="8C8C8C"/>
                </a:solidFill>
                <a:latin typeface="Garamond"/>
                <a:cs typeface="Garamond"/>
              </a:rPr>
              <a:t>https://www.gurufocus.com/news/9068272/lulu-reiterates-by-btig-rating-maintained-at-neutral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Summary &amp; Target Price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Base-case DCF $134 (34.0% upside) and three pillars supporting our overweight recommendation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51560"/>
            <a:ext cx="3291840" cy="12344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BASE CASE DCF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800" b="1" i="0">
                <a:solidFill>
                  <a:srgbClr val="1F2A44"/>
                </a:solidFill>
                <a:latin typeface="Garamond"/>
                <a:cs typeface="Garamond"/>
              </a:rPr>
              <a:t>$134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E7A3C"/>
                </a:solidFill>
                <a:latin typeface="Garamond"/>
                <a:cs typeface="Garamond"/>
              </a:rPr>
              <a:t>+34.0% vs $100</a:t>
            </a:r>
          </a:p>
        </p:txBody>
      </p:sp>
      <p:sp>
        <p:nvSpPr>
          <p:cNvPr id="9" name="Rectangle 8"/>
          <p:cNvSpPr/>
          <p:nvPr/>
        </p:nvSpPr>
        <p:spPr>
          <a:xfrm>
            <a:off x="3931920" y="1051560"/>
            <a:ext cx="3291840" cy="12344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12-MONTH TARGET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800" b="1" i="0">
                <a:solidFill>
                  <a:srgbClr val="1F2A44"/>
                </a:solidFill>
                <a:latin typeface="Garamond"/>
                <a:cs typeface="Garamond"/>
              </a:rPr>
              <a:t>$140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OVERWEIGHT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06640" y="1051560"/>
            <a:ext cx="4343400" cy="123444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WACC (base case)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400" b="1" i="0">
                <a:solidFill>
                  <a:srgbClr val="FFFFFF"/>
                </a:solidFill>
                <a:latin typeface="Garamond"/>
                <a:cs typeface="Garamond"/>
              </a:rPr>
              <a:t>9.0%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Bounds 2.3% LT revenue growth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423160"/>
            <a:ext cx="11292840" cy="2971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Our discounted cash flow valuation generates a base-case implied share price of $134.00, representing 34.0% upside from current levels [1].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Profitability: adjusting out tariff refunds reveals LULU still maintains a highly resilient 13.2% clean run-rate operating margin [2].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Our 9.0% WACC strictly bounds our 2.3% long-term revenue growth assumption in the model [3].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International expansion remains the crucial growth engine; China Mainland growth offsets temporary North American stagnation [4].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532120"/>
            <a:ext cx="11292840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0"/>
              </a:spcAft>
              <a:buFont typeface="Garamond"/>
              <a:buChar char="•"/>
            </a:pPr>
            <a:r>
              <a:rPr sz="750" b="1" i="0">
                <a:solidFill>
                  <a:srgbClr val="262626"/>
                </a:solidFill>
                <a:latin typeface="Garamond"/>
                <a:cs typeface="Garamond"/>
              </a:rPr>
              <a:t>[1] GIS valuation model (base-case implied value)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650" b="0" i="1">
                <a:solidFill>
                  <a:srgbClr val="8C8C8C"/>
                </a:solidFill>
                <a:latin typeface="Garamond"/>
                <a:cs typeface="Garamond"/>
              </a:rPr>
              <a:t>LULU_DCF_Valuation_Model.xlsx</a:t>
            </a:r>
          </a:p>
          <a:p>
            <a:pPr algn="l" indent="-152400" marL="177800">
              <a:spcBef>
                <a:spcPts val="0"/>
              </a:spcBef>
              <a:spcAft>
                <a:spcPts val="0"/>
              </a:spcAft>
              <a:buFont typeface="Garamond"/>
              <a:buChar char="•"/>
            </a:pPr>
            <a:r>
              <a:rPr sz="750" b="1" i="0">
                <a:solidFill>
                  <a:srgbClr val="262626"/>
                </a:solidFill>
                <a:latin typeface="Garamond"/>
                <a:cs typeface="Garamond"/>
              </a:rPr>
              <a:t>[2] Lululemon Q2 FY2026 supplement (13.2% margin calc)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650" b="0" i="1">
                <a:solidFill>
                  <a:srgbClr val="8C8C8C"/>
                </a:solidFill>
                <a:latin typeface="Garamond"/>
                <a:cs typeface="Garamond"/>
              </a:rPr>
              <a:t>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0"/>
              </a:spcAft>
              <a:buFont typeface="Garamond"/>
              <a:buChar char="•"/>
            </a:pPr>
            <a:r>
              <a:rPr sz="750" b="1" i="0">
                <a:solidFill>
                  <a:srgbClr val="262626"/>
                </a:solidFill>
                <a:latin typeface="Garamond"/>
                <a:cs typeface="Garamond"/>
              </a:rPr>
              <a:t>[3] GIS valuation model (WACC &amp; revenue drivers)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650" b="0" i="1">
                <a:solidFill>
                  <a:srgbClr val="8C8C8C"/>
                </a:solidFill>
                <a:latin typeface="Garamond"/>
                <a:cs typeface="Garamond"/>
              </a:rPr>
              <a:t>LULU_DCF_Valuation_Model.xlsx</a:t>
            </a:r>
          </a:p>
          <a:p>
            <a:pPr algn="l" indent="-152400" marL="177800">
              <a:spcBef>
                <a:spcPts val="0"/>
              </a:spcBef>
              <a:spcAft>
                <a:spcPts val="0"/>
              </a:spcAft>
              <a:buFont typeface="Garamond"/>
              <a:buChar char="•"/>
            </a:pPr>
            <a:r>
              <a:rPr sz="750" b="1" i="0">
                <a:solidFill>
                  <a:srgbClr val="262626"/>
                </a:solidFill>
                <a:latin typeface="Garamond"/>
                <a:cs typeface="Garamond"/>
              </a:rPr>
              <a:t>[4] Lululemon Q2 FY2026 supplement (international growth)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650" b="0" i="1">
                <a:solidFill>
                  <a:srgbClr val="8C8C8C"/>
                </a:solidFill>
                <a:latin typeface="Garamond"/>
                <a:cs typeface="Garamond"/>
              </a:rPr>
              <a:t>https://corporate.lululemon.com/~/media/Files/L/Lululemon/investors/results-center/q2-2026-financial-supplement.pdf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Geographic Segments &amp; Revenue Breakdown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Why China growth offsets temporary US declines in the revenue mix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4434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Lululemon generated $11.1B in total revenue; Americas contributed $7.85B, or 70.7% of sales [1].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Americas comparable sales fell 3% due to temporary cyclical macro pressure rather than structural brand degradation [2].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China Mainland surged 20% to $1.75B, proving high-growth international expansion can offset US temporary weakness [3].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32120"/>
            <a:ext cx="11292840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0"/>
              </a:spcAft>
              <a:buFont typeface="Garamond"/>
              <a:buChar char="•"/>
            </a:pPr>
            <a:r>
              <a:rPr sz="750" b="1" i="0">
                <a:solidFill>
                  <a:srgbClr val="262626"/>
                </a:solidFill>
                <a:latin typeface="Garamond"/>
                <a:cs typeface="Garamond"/>
              </a:rPr>
              <a:t>[1] Lululemon FY2025 segment revenue (10-K / supplement)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650" b="0" i="1">
                <a:solidFill>
                  <a:srgbClr val="8C8C8C"/>
                </a:solidFill>
                <a:latin typeface="Garamond"/>
                <a:cs typeface="Garamond"/>
              </a:rPr>
              <a:t>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0"/>
              </a:spcAft>
              <a:buFont typeface="Garamond"/>
              <a:buChar char="•"/>
            </a:pPr>
            <a:r>
              <a:rPr sz="750" b="1" i="0">
                <a:solidFill>
                  <a:srgbClr val="262626"/>
                </a:solidFill>
                <a:latin typeface="Garamond"/>
                <a:cs typeface="Garamond"/>
              </a:rPr>
              <a:t>[2] Americas comparable sales (10-K)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650" b="0" i="1">
                <a:solidFill>
                  <a:srgbClr val="8C8C8C"/>
                </a:solidFill>
                <a:latin typeface="Garamond"/>
                <a:cs typeface="Garamond"/>
              </a:rPr>
              <a:t>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0"/>
              </a:spcAft>
              <a:buFont typeface="Garamond"/>
              <a:buChar char="•"/>
            </a:pPr>
            <a:r>
              <a:rPr sz="750" b="1" i="0">
                <a:solidFill>
                  <a:srgbClr val="262626"/>
                </a:solidFill>
                <a:latin typeface="Garamond"/>
                <a:cs typeface="Garamond"/>
              </a:rPr>
              <a:t>[3] GIS valuation model (China Mainland growth)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650" b="0" i="1">
                <a:solidFill>
                  <a:srgbClr val="8C8C8C"/>
                </a:solidFill>
                <a:latin typeface="Garamond"/>
                <a:cs typeface="Garamond"/>
              </a:rPr>
              <a:t>LULU_DCF_Valuation_Model.xlsx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Business Model, Unit Economics &amp; Competitive Moats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Unit economics and competitive moats that protect long-term market leadership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4434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Lululemon sustains a 56.6% gross margin, providing a massive competitive moat against retail price competition [1].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E-commerce unit economics remain elite, with direct-to-consumer EBIT margins hitting 23.6% without retail occupancy drag [2].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Company-operated stores generate $1,426 per square foot and an 18.6% EBIT margin, establishing high capital efficiency [3].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32120"/>
            <a:ext cx="11292840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0"/>
              </a:spcAft>
              <a:buFont typeface="Garamond"/>
              <a:buChar char="•"/>
            </a:pPr>
            <a:r>
              <a:rPr sz="750" b="1" i="0">
                <a:solidFill>
                  <a:srgbClr val="262626"/>
                </a:solidFill>
                <a:latin typeface="Garamond"/>
                <a:cs typeface="Garamond"/>
              </a:rPr>
              <a:t>[1] GIS valuation model (gross margin)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650" b="0" i="1">
                <a:solidFill>
                  <a:srgbClr val="8C8C8C"/>
                </a:solidFill>
                <a:latin typeface="Garamond"/>
                <a:cs typeface="Garamond"/>
              </a:rPr>
              <a:t>LULU_DCF_Valuation_Model.xlsx</a:t>
            </a:r>
          </a:p>
          <a:p>
            <a:pPr algn="l" indent="-152400" marL="177800">
              <a:spcBef>
                <a:spcPts val="0"/>
              </a:spcBef>
              <a:spcAft>
                <a:spcPts val="0"/>
              </a:spcAft>
              <a:buFont typeface="Garamond"/>
              <a:buChar char="•"/>
            </a:pPr>
            <a:r>
              <a:rPr sz="750" b="1" i="0">
                <a:solidFill>
                  <a:srgbClr val="262626"/>
                </a:solidFill>
                <a:latin typeface="Garamond"/>
                <a:cs typeface="Garamond"/>
              </a:rPr>
              <a:t>[2] GIS valuation model (e-commerce EBIT margin)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650" b="0" i="1">
                <a:solidFill>
                  <a:srgbClr val="8C8C8C"/>
                </a:solidFill>
                <a:latin typeface="Garamond"/>
                <a:cs typeface="Garamond"/>
              </a:rPr>
              <a:t>LULU_DCF_Valuation_Model.xlsx</a:t>
            </a:r>
          </a:p>
          <a:p>
            <a:pPr algn="l" indent="-152400" marL="177800">
              <a:spcBef>
                <a:spcPts val="0"/>
              </a:spcBef>
              <a:spcAft>
                <a:spcPts val="0"/>
              </a:spcAft>
              <a:buFont typeface="Garamond"/>
              <a:buChar char="•"/>
            </a:pPr>
            <a:r>
              <a:rPr sz="750" b="1" i="0">
                <a:solidFill>
                  <a:srgbClr val="262626"/>
                </a:solidFill>
                <a:latin typeface="Garamond"/>
                <a:cs typeface="Garamond"/>
              </a:rPr>
              <a:t>[3] GIS valuation model (store EBIT margin &amp; SPSF)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650" b="0" i="1">
                <a:solidFill>
                  <a:srgbClr val="8C8C8C"/>
                </a:solidFill>
                <a:latin typeface="Garamond"/>
                <a:cs typeface="Garamond"/>
              </a:rPr>
              <a:t>LULU_DCF_Valuation_Model.xlsx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Industry Overview | Trends &amp;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Athleisure industry trends including market fragmentation and barriers to entry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4434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The global athleisure market remains highly fragmented; most players lack a durable competitive advantage [1].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The premium segment maintains high barriers to entry, protecting global champions from temporary cyclical noise [2].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Lululemon proves its moat by generating ~30% ROE, far outpacing the ~7% industry median [3].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32120"/>
            <a:ext cx="11292840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0"/>
              </a:spcAft>
              <a:buFont typeface="Garamond"/>
              <a:buChar char="•"/>
            </a:pPr>
            <a:r>
              <a:rPr sz="750" b="1" i="0">
                <a:solidFill>
                  <a:srgbClr val="262626"/>
                </a:solidFill>
                <a:latin typeface="Garamond"/>
                <a:cs typeface="Garamond"/>
              </a:rPr>
              <a:t>[1] Market.us athleisure industry statistics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650" b="0" i="1">
                <a:solidFill>
                  <a:srgbClr val="8C8C8C"/>
                </a:solidFill>
                <a:latin typeface="Garamond"/>
                <a:cs typeface="Garamond"/>
              </a:rPr>
              <a:t>https://media.market.us/athleisure-industry-statistics/</a:t>
            </a:r>
          </a:p>
          <a:p>
            <a:pPr algn="l" indent="-152400" marL="177800">
              <a:spcBef>
                <a:spcPts val="0"/>
              </a:spcBef>
              <a:spcAft>
                <a:spcPts val="0"/>
              </a:spcAft>
              <a:buFont typeface="Garamond"/>
              <a:buChar char="•"/>
            </a:pPr>
            <a:r>
              <a:rPr sz="750" b="1" i="0">
                <a:solidFill>
                  <a:srgbClr val="262626"/>
                </a:solidFill>
                <a:latin typeface="Garamond"/>
                <a:cs typeface="Garamond"/>
              </a:rPr>
              <a:t>[2] Fortune Business Insights premium athleisure trends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650" b="0" i="1">
                <a:solidFill>
                  <a:srgbClr val="8C8C8C"/>
                </a:solidFill>
                <a:latin typeface="Garamond"/>
                <a:cs typeface="Garamond"/>
              </a:rPr>
              <a:t>https://www.fortunebusinessinsights.com/athleisure-market-110642</a:t>
            </a:r>
          </a:p>
          <a:p>
            <a:pPr algn="l" indent="-152400" marL="177800">
              <a:spcBef>
                <a:spcPts val="0"/>
              </a:spcBef>
              <a:spcAft>
                <a:spcPts val="0"/>
              </a:spcAft>
              <a:buFont typeface="Garamond"/>
              <a:buChar char="•"/>
            </a:pPr>
            <a:r>
              <a:rPr sz="750" b="1" i="0">
                <a:solidFill>
                  <a:srgbClr val="262626"/>
                </a:solidFill>
                <a:latin typeface="Garamond"/>
                <a:cs typeface="Garamond"/>
              </a:rPr>
              <a:t>[3] FinanceCharts LULU ROE vs retail median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650" b="0" i="1">
                <a:solidFill>
                  <a:srgbClr val="8C8C8C"/>
                </a:solidFill>
                <a:latin typeface="Garamond"/>
                <a:cs typeface="Garamond"/>
              </a:rPr>
              <a:t>https://www.financecharts.com/stocks/LULU/growth/roe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Industry Overview | Barriers to Entry &amp; Profitability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Capital efficiency metrics comparing Lululemon gross margin to legacy apparel peers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4434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Lululemon commands a 56.6% gross margin, far exceeding traditional athletic apparel peers like Nike and Under Armour [1].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Nike struggles to maintain ~43% margin while Under Armour hovers around ~46%, reflecting wholesale dependence [2].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Lululemon's direct-to-consumer scale prevents structural margin compression and forms an economic moat against industry price wars [3].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32120"/>
            <a:ext cx="11292840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0"/>
              </a:spcAft>
              <a:buFont typeface="Garamond"/>
              <a:buChar char="•"/>
            </a:pPr>
            <a:r>
              <a:rPr sz="750" b="1" i="0">
                <a:solidFill>
                  <a:srgbClr val="262626"/>
                </a:solidFill>
                <a:latin typeface="Garamond"/>
                <a:cs typeface="Garamond"/>
              </a:rPr>
              <a:t>[1] GIS valuation model (gross margin assumptions)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650" b="0" i="1">
                <a:solidFill>
                  <a:srgbClr val="8C8C8C"/>
                </a:solidFill>
                <a:latin typeface="Garamond"/>
                <a:cs typeface="Garamond"/>
              </a:rPr>
              <a:t>LULU_DCF_Valuation_Model.xlsx</a:t>
            </a:r>
          </a:p>
          <a:p>
            <a:pPr algn="l" indent="-152400" marL="177800">
              <a:spcBef>
                <a:spcPts val="0"/>
              </a:spcBef>
              <a:spcAft>
                <a:spcPts val="0"/>
              </a:spcAft>
              <a:buFont typeface="Garamond"/>
              <a:buChar char="•"/>
            </a:pPr>
            <a:r>
              <a:rPr sz="750" b="1" i="0">
                <a:solidFill>
                  <a:srgbClr val="262626"/>
                </a:solidFill>
                <a:latin typeface="Garamond"/>
                <a:cs typeface="Garamond"/>
              </a:rPr>
              <a:t>[2] Investing.com Nike gross margin explorer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650" b="0" i="1">
                <a:solidFill>
                  <a:srgbClr val="8C8C8C"/>
                </a:solidFill>
                <a:latin typeface="Garamond"/>
                <a:cs typeface="Garamond"/>
              </a:rPr>
              <a:t>https://www.investing.com/pro/NYSE:NKE/explorer/gp_margin</a:t>
            </a:r>
          </a:p>
          <a:p>
            <a:pPr algn="l" indent="-152400" marL="177800">
              <a:spcBef>
                <a:spcPts val="0"/>
              </a:spcBef>
              <a:spcAft>
                <a:spcPts val="0"/>
              </a:spcAft>
              <a:buFont typeface="Garamond"/>
              <a:buChar char="•"/>
            </a:pPr>
            <a:r>
              <a:rPr sz="750" b="1" i="0">
                <a:solidFill>
                  <a:srgbClr val="262626"/>
                </a:solidFill>
                <a:latin typeface="Garamond"/>
                <a:cs typeface="Garamond"/>
              </a:rPr>
              <a:t>[3] ProAnalyst LULU market report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650" b="0" i="1">
                <a:solidFill>
                  <a:srgbClr val="8C8C8C"/>
                </a:solidFill>
                <a:latin typeface="Garamond"/>
                <a:cs typeface="Garamond"/>
              </a:rPr>
              <a:t>https://lulu.proanalyst.ai/business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Numerical evidence supporting intrinsic value at trough multiples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720840" cy="4343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The 2026 price drop exceeding 50% has left Lululemon critically undervalued despite durable cash flows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Premium direct-to-consumer revenue mix protects a ~55% adjusted gross margin, supporting our intrinsic valuation thesis [2].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Long-term lease obligations of ~$1.8B against $8.5B+ in total assets provide strategic flexibility alongside net-cash funded debt [3].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At ~$100 the stock trades at ~3.5x EV/EBITDA vs a 5-year history of ~20–30x earnings [1].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0" y="1051560"/>
            <a:ext cx="4434840" cy="28346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VALUATION SNAPSHOT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EV / EBITDA:  ~3.5x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FY2026E P/E:  ~10.4x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DCF base:  $134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Bear case:  $56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532120"/>
            <a:ext cx="11292840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0"/>
              </a:spcAft>
              <a:buFont typeface="Garamond"/>
              <a:buChar char="•"/>
            </a:pPr>
            <a:r>
              <a:rPr sz="750" b="1" i="0">
                <a:solidFill>
                  <a:srgbClr val="262626"/>
                </a:solidFill>
                <a:latin typeface="Garamond"/>
                <a:cs typeface="Garamond"/>
              </a:rPr>
              <a:t>[1] Everything Money / Burry LULU commentary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650" b="0" i="1">
                <a:solidFill>
                  <a:srgbClr val="8C8C8C"/>
                </a:solidFill>
                <a:latin typeface="Garamond"/>
                <a:cs typeface="Garamond"/>
              </a:rPr>
              <a:t>https://everythingmoney.com/blog/lululemon-is-collapsing-burry-s-biggest-bet-4334</a:t>
            </a:r>
          </a:p>
          <a:p>
            <a:pPr algn="l" indent="-152400" marL="177800">
              <a:spcBef>
                <a:spcPts val="0"/>
              </a:spcBef>
              <a:spcAft>
                <a:spcPts val="0"/>
              </a:spcAft>
              <a:buFont typeface="Garamond"/>
              <a:buChar char="•"/>
            </a:pPr>
            <a:r>
              <a:rPr sz="750" b="1" i="0">
                <a:solidFill>
                  <a:srgbClr val="262626"/>
                </a:solidFill>
                <a:latin typeface="Garamond"/>
                <a:cs typeface="Garamond"/>
              </a:rPr>
              <a:t>[2] Lululemon Q2 FY2026 earnings release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650" b="0" i="1">
                <a:solidFill>
                  <a:srgbClr val="8C8C8C"/>
                </a:solidFill>
                <a:latin typeface="Garamond"/>
                <a:cs typeface="Garamond"/>
              </a:rPr>
              <a:t>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0"/>
              </a:spcAft>
              <a:buFont typeface="Garamond"/>
              <a:buChar char="•"/>
            </a:pPr>
            <a:r>
              <a:rPr sz="750" b="1" i="0">
                <a:solidFill>
                  <a:srgbClr val="262626"/>
                </a:solidFill>
                <a:latin typeface="Garamond"/>
                <a:cs typeface="Garamond"/>
              </a:rPr>
              <a:t>[3] GuruFocus long-term debt &amp; lease obligations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650" b="0" i="1">
                <a:solidFill>
                  <a:srgbClr val="8C8C8C"/>
                </a:solidFill>
                <a:latin typeface="Garamond"/>
                <a:cs typeface="Garamond"/>
              </a:rPr>
              <a:t>https://www.gurufocus.com/term/long-term-debt-and-capital-lease-obligation/LULU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How modest margin recovery from peak COVID levels still drives compelling valuation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720840" cy="4343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Peak FY2024 EBIT margin reached 23.7%; our model assumes a permanent reset, not a full recovery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Historical pandemic-era peak EBIT margins reached 23.7% in FY2024, showing prior peak earnings power [1].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Our model conservatively assumes margins reset to a 13.2% run-rate trough in FY2026 [2].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A modest partial recovery to 15.5% EBIT margin by FY2030 still yields $134.00 per share [3].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Returning to peak COVID profitability is unnecessary to unlock substantial market upside [4].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0" y="1051560"/>
            <a:ext cx="4434840" cy="28346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MARGIN PATH (model)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FY2024 peak OM:  23.7%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FY2026E trough:  13.2%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FY2030E terminal:  15.5%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Base-case px:  $134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532120"/>
            <a:ext cx="11292840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0"/>
              </a:spcAft>
              <a:buFont typeface="Garamond"/>
              <a:buChar char="•"/>
            </a:pPr>
            <a:r>
              <a:rPr sz="750" b="1" i="0">
                <a:solidFill>
                  <a:srgbClr val="262626"/>
                </a:solidFill>
                <a:latin typeface="Garamond"/>
                <a:cs typeface="Garamond"/>
              </a:rPr>
              <a:t>[1] FY2024 10-K (SEC) / GIS model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650" b="0" i="1">
                <a:solidFill>
                  <a:srgbClr val="8C8C8C"/>
                </a:solidFill>
                <a:latin typeface="Garamond"/>
                <a:cs typeface="Garamond"/>
              </a:rPr>
              <a:t>https://www.sec.gov/ix?doc=/Archives/edgar/data/0001397187/000139718724000013/lulu-20240128.htm</a:t>
            </a:r>
          </a:p>
          <a:p>
            <a:pPr algn="l" indent="-152400" marL="177800">
              <a:spcBef>
                <a:spcPts val="0"/>
              </a:spcBef>
              <a:spcAft>
                <a:spcPts val="0"/>
              </a:spcAft>
              <a:buFont typeface="Garamond"/>
              <a:buChar char="•"/>
            </a:pPr>
            <a:r>
              <a:rPr sz="750" b="1" i="0">
                <a:solidFill>
                  <a:srgbClr val="262626"/>
                </a:solidFill>
                <a:latin typeface="Garamond"/>
                <a:cs typeface="Garamond"/>
              </a:rPr>
              <a:t>[2] GIS model clean run-rate EBIT assumptions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650" b="0" i="1">
                <a:solidFill>
                  <a:srgbClr val="8C8C8C"/>
                </a:solidFill>
                <a:latin typeface="Garamond"/>
                <a:cs typeface="Garamond"/>
              </a:rPr>
              <a:t>LULU_DCF_Valuation_Model.xlsx</a:t>
            </a:r>
          </a:p>
          <a:p>
            <a:pPr algn="l" indent="-152400" marL="177800">
              <a:spcBef>
                <a:spcPts val="0"/>
              </a:spcBef>
              <a:spcAft>
                <a:spcPts val="0"/>
              </a:spcAft>
              <a:buFont typeface="Garamond"/>
              <a:buChar char="•"/>
            </a:pPr>
            <a:r>
              <a:rPr sz="750" b="1" i="0">
                <a:solidFill>
                  <a:srgbClr val="262626"/>
                </a:solidFill>
                <a:latin typeface="Garamond"/>
                <a:cs typeface="Garamond"/>
              </a:rPr>
              <a:t>[3] GIS model base-case DCF summary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650" b="0" i="1">
                <a:solidFill>
                  <a:srgbClr val="8C8C8C"/>
                </a:solidFill>
                <a:latin typeface="Garamond"/>
                <a:cs typeface="Garamond"/>
              </a:rPr>
              <a:t>LULU_DCF_Valuation_Model.xlsx</a:t>
            </a:r>
          </a:p>
          <a:p>
            <a:pPr algn="l" indent="-152400" marL="177800">
              <a:spcBef>
                <a:spcPts val="0"/>
              </a:spcBef>
              <a:spcAft>
                <a:spcPts val="0"/>
              </a:spcAft>
              <a:buFont typeface="Garamond"/>
              <a:buChar char="•"/>
            </a:pPr>
            <a:r>
              <a:rPr sz="750" b="1" i="0">
                <a:solidFill>
                  <a:srgbClr val="262626"/>
                </a:solidFill>
                <a:latin typeface="Garamond"/>
                <a:cs typeface="Garamond"/>
              </a:rPr>
              <a:t>[4] GIS model DCF valuation summary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650" b="0" i="1">
                <a:solidFill>
                  <a:srgbClr val="8C8C8C"/>
                </a:solidFill>
                <a:latin typeface="Garamond"/>
                <a:cs typeface="Garamond"/>
              </a:rPr>
              <a:t>LULU_DCF_Valuation_Model.xlsx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How top-line projections rely on Chinese expansion to offset North American stagnation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720840" cy="4343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Americas contraction vs China acceleration is the central revenue tension in our model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Americas faces near-term contraction with negative comps in FY2026, flatlining toward ~2% terminal growth by FY2030 [1].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Model projections rely on FY2026 store openings skewing to China (+20) vs Americas (+8), plus aggressive China comp growth [2].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If the Chinese consumer softens, the model's core top-line projections will break [3].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0" y="1051560"/>
            <a:ext cx="4434840" cy="28346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GEO REVENUE MIX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Americas:  ~71% FY25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China:  +20% FY25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FY26 store adds:  CN &gt; US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Key risk:  China decel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532120"/>
            <a:ext cx="11292840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0"/>
              </a:spcAft>
              <a:buFont typeface="Garamond"/>
              <a:buChar char="•"/>
            </a:pPr>
            <a:r>
              <a:rPr sz="750" b="1" i="0">
                <a:solidFill>
                  <a:srgbClr val="262626"/>
                </a:solidFill>
                <a:latin typeface="Garamond"/>
                <a:cs typeface="Garamond"/>
              </a:rPr>
              <a:t>[1] GIS model Americas FY26–FY30 comp assumptions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650" b="0" i="1">
                <a:solidFill>
                  <a:srgbClr val="8C8C8C"/>
                </a:solidFill>
                <a:latin typeface="Garamond"/>
                <a:cs typeface="Garamond"/>
              </a:rPr>
              <a:t>LULU_DCF_Valuation_Model.xlsx</a:t>
            </a:r>
          </a:p>
          <a:p>
            <a:pPr algn="l" indent="-152400" marL="177800">
              <a:spcBef>
                <a:spcPts val="0"/>
              </a:spcBef>
              <a:spcAft>
                <a:spcPts val="0"/>
              </a:spcAft>
              <a:buFont typeface="Garamond"/>
              <a:buChar char="•"/>
            </a:pPr>
            <a:r>
              <a:rPr sz="750" b="1" i="0">
                <a:solidFill>
                  <a:srgbClr val="262626"/>
                </a:solidFill>
                <a:latin typeface="Garamond"/>
                <a:cs typeface="Garamond"/>
              </a:rPr>
              <a:t>[2] GIS model FY26 store openings &amp; China revenue build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650" b="0" i="1">
                <a:solidFill>
                  <a:srgbClr val="8C8C8C"/>
                </a:solidFill>
                <a:latin typeface="Garamond"/>
                <a:cs typeface="Garamond"/>
              </a:rPr>
              <a:t>LULU_DCF_Valuation_Model.xlsx</a:t>
            </a:r>
          </a:p>
          <a:p>
            <a:pPr algn="l" indent="-152400" marL="177800">
              <a:spcBef>
                <a:spcPts val="0"/>
              </a:spcBef>
              <a:spcAft>
                <a:spcPts val="0"/>
              </a:spcAft>
              <a:buFont typeface="Garamond"/>
              <a:buChar char="•"/>
            </a:pPr>
            <a:r>
              <a:rPr sz="750" b="1" i="0">
                <a:solidFill>
                  <a:srgbClr val="262626"/>
                </a:solidFill>
                <a:latin typeface="Garamond"/>
                <a:cs typeface="Garamond"/>
              </a:rPr>
              <a:t>[3] GIS model revenue drivers schedule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650" b="0" i="1">
                <a:solidFill>
                  <a:srgbClr val="8C8C8C"/>
                </a:solidFill>
                <a:latin typeface="Garamond"/>
                <a:cs typeface="Garamond"/>
              </a:rPr>
              <a:t>LULU_DCF_Valuation_Model.xlsx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Risks &amp; Mitigants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Core downside risks and how buybacks compound EPS to support recovery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990000"/>
                </a:solidFill>
                <a:latin typeface="Garamond"/>
                <a:cs typeface="Garamond"/>
              </a:rPr>
              <a:t>Risk  →  Mitigant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353312"/>
            <a:ext cx="5440680" cy="12344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China deceleration risks a $56 bear floor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80760" y="1353312"/>
            <a:ext cx="566928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Cumulative cash per share and net-cash balance recover a large portion of entry price even in bear case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706624"/>
            <a:ext cx="5440680" cy="12344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CapEx and inventory normalization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80760" y="2706624"/>
            <a:ext cx="566928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Lower CapEx and e-commerce's 23.6% EBIT margin plus working-capital releases support FCF [2]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059935"/>
            <a:ext cx="5440680" cy="12344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Share repurchases compound EPS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80760" y="4059935"/>
            <a:ext cx="566928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Deploying majority of UFCF into buybacks retires shares and supports EPS accretion toward $134 fair value [3]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5440680"/>
            <a:ext cx="11292840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0"/>
              </a:spcAft>
              <a:buFont typeface="Garamond"/>
              <a:buChar char="•"/>
            </a:pPr>
            <a:r>
              <a:rPr sz="750" b="1" i="0">
                <a:solidFill>
                  <a:srgbClr val="262626"/>
                </a:solidFill>
                <a:latin typeface="Garamond"/>
                <a:cs typeface="Garamond"/>
              </a:rPr>
              <a:t>[1] GIS bear-case DCF / Barron's guidance cut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650" b="0" i="1">
                <a:solidFill>
                  <a:srgbClr val="8C8C8C"/>
                </a:solidFill>
                <a:latin typeface="Garamond"/>
                <a:cs typeface="Garamond"/>
              </a:rPr>
              <a:t>https://www.barrons.com/articles/lululemon-stock-earnings-guidance-a7a7c5c0</a:t>
            </a:r>
          </a:p>
          <a:p>
            <a:pPr algn="l" indent="-152400" marL="177800">
              <a:spcBef>
                <a:spcPts val="0"/>
              </a:spcBef>
              <a:spcAft>
                <a:spcPts val="0"/>
              </a:spcAft>
              <a:buFont typeface="Garamond"/>
              <a:buChar char="•"/>
            </a:pPr>
            <a:r>
              <a:rPr sz="750" b="1" i="0">
                <a:solidFill>
                  <a:srgbClr val="262626"/>
                </a:solidFill>
                <a:latin typeface="Garamond"/>
                <a:cs typeface="Garamond"/>
              </a:rPr>
              <a:t>[2] GIS CapEx &amp; e-commerce EBIT assumptions / Q2 release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650" b="0" i="1">
                <a:solidFill>
                  <a:srgbClr val="8C8C8C"/>
                </a:solidFill>
                <a:latin typeface="Garamond"/>
                <a:cs typeface="Garamond"/>
              </a:rPr>
              <a:t>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0"/>
              </a:spcAft>
              <a:buFont typeface="Garamond"/>
              <a:buChar char="•"/>
            </a:pPr>
            <a:r>
              <a:rPr sz="750" b="1" i="0">
                <a:solidFill>
                  <a:srgbClr val="262626"/>
                </a:solidFill>
                <a:latin typeface="Garamond"/>
                <a:cs typeface="Garamond"/>
              </a:rPr>
              <a:t>[3] GIS share repurchase &amp; EPS accretion schedule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650" b="0" i="1">
                <a:solidFill>
                  <a:srgbClr val="8C8C8C"/>
                </a:solidFill>
                <a:latin typeface="Garamond"/>
                <a:cs typeface="Garamond"/>
              </a:rPr>
              <a:t>LULU_DCF_Valuation_Model.xlsx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Timeline of Recovery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Sequence of events that close the gap to intrinsic value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98448"/>
            <a:ext cx="3063240" cy="111556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2026 (Q3 FY2026 Trough)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0" y="1298448"/>
            <a:ext cx="8092440" cy="111556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50" b="0" i="0">
                <a:solidFill>
                  <a:srgbClr val="262626"/>
                </a:solidFill>
                <a:latin typeface="Garamond"/>
                <a:cs typeface="Garamond"/>
              </a:rPr>
              <a:t>Q3 FY2026 revenue laps guidance trough while China Double 11 sales confirm holiday store traffic floor stabilization across key markets [1]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432304"/>
            <a:ext cx="3063240" cy="111556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2027 (FY2026 Year-End)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0" y="2432304"/>
            <a:ext cx="8092440" cy="111556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50" b="0" i="0">
                <a:solidFill>
                  <a:srgbClr val="262626"/>
                </a:solidFill>
                <a:latin typeface="Garamond"/>
                <a:cs typeface="Garamond"/>
              </a:rPr>
              <a:t>First full-year reset absorbs steep prior declines while $134.5M tariff refunds and targeted SG&amp;A cost actions protect earnings per share [2]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566160"/>
            <a:ext cx="3063240" cy="111556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2027 (FY2027 Margin Inflection)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0" y="3566160"/>
            <a:ext cx="8092440" cy="111556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50" b="0" i="0">
                <a:solidFill>
                  <a:srgbClr val="262626"/>
                </a:solidFill>
                <a:latin typeface="Garamond"/>
                <a:cs typeface="Garamond"/>
              </a:rPr>
              <a:t>Operating margins expand to 13.8% (+60 bps) as promotional headwinds anniversary, while 75% UFCF buybacks compound EPS to boost sentiment [3]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700016"/>
            <a:ext cx="3063240" cy="111556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2028 (FY2027–FY2028 Multiple Re-Rating)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0" y="4700016"/>
            <a:ext cx="8092440" cy="111556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50" b="0" i="0">
                <a:solidFill>
                  <a:srgbClr val="262626"/>
                </a:solidFill>
                <a:latin typeface="Garamond"/>
                <a:cs typeface="Garamond"/>
              </a:rPr>
              <a:t>Accelerating international store scaling (+12% China comps) offsets Americas softness (-4%), driving overall revenue recovery and valuation re-rating toward $133.64 [4]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376672"/>
            <a:ext cx="11292840" cy="960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0"/>
              </a:spcAft>
              <a:buFont typeface="Garamond"/>
              <a:buChar char="•"/>
            </a:pPr>
            <a:r>
              <a:rPr sz="750" b="1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Scenarios &amp; Revenue Drivers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650" b="0" i="1">
                <a:solidFill>
                  <a:srgbClr val="8C8C8C"/>
                </a:solidFill>
                <a:latin typeface="Garamond"/>
                <a:cs typeface="Garamond"/>
              </a:rPr>
              <a:t>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0"/>
              </a:spcAft>
              <a:buFont typeface="Garamond"/>
              <a:buChar char="•"/>
            </a:pPr>
            <a:r>
              <a:rPr sz="750" b="1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NOPAT Bridge &amp; Scenarios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650" b="0" i="1">
                <a:solidFill>
                  <a:srgbClr val="8C8C8C"/>
                </a:solidFill>
                <a:latin typeface="Garamond"/>
                <a:cs typeface="Garamond"/>
              </a:rPr>
              <a:t>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0"/>
              </a:spcAft>
              <a:buFont typeface="Garamond"/>
              <a:buChar char="•"/>
            </a:pPr>
            <a:r>
              <a:rPr sz="750" b="1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Scenarios &amp; Unlevered Free Cash Flow Schedule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650" b="0" i="1">
                <a:solidFill>
                  <a:srgbClr val="8C8C8C"/>
                </a:solidFill>
                <a:latin typeface="Garamond"/>
                <a:cs typeface="Garamond"/>
              </a:rPr>
              <a:t>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0"/>
              </a:spcAft>
              <a:buFont typeface="Garamond"/>
              <a:buChar char="•"/>
            </a:pPr>
            <a:r>
              <a:rPr sz="750" b="1" i="0">
                <a:solidFill>
                  <a:srgbClr val="262626"/>
                </a:solidFill>
                <a:latin typeface="Garamond"/>
                <a:cs typeface="Garamond"/>
              </a:rPr>
              <a:t>[4] LULU_DCF_Valuation_Model.xlsx, Revenue Drivers &amp; DCF Valuation Summary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650" b="0" i="1">
                <a:solidFill>
                  <a:srgbClr val="8C8C8C"/>
                </a:solidFill>
                <a:latin typeface="Garamond"/>
                <a:cs typeface="Garamond"/>
              </a:rPr>
              <a:t>https://stockanalysis.com/stocks/lulu/forecast/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Income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Reported history (10-K) vs base-case operating forecast: FY26–30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All forecast lines: LULU_DCF_Valuation_Model.xlsx → Scenarios tab → pitch deck bridge block (col G).  Hist = 10-K. Forecast (26–30) = DCF Scenarios pitch-bridge block, col G (base case only). Per-row model refs shown under line items.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24128"/>
            <a:ext cx="5532120" cy="22402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(FY2022–FY2025)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revenue: FY22 $8,111M → FY25 $11,103M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Gross profit: FY22 4,492M → FY25 6,284M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income: FY22 1,328M → FY25 2,211M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margin %: FY22 16.4% → FY25 19.9% (peak 23.7% FY24)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income: FY22 855M → FY25 1,579M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Diluted EPS: FY22 $6.68 → FY25 $13.26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024128"/>
            <a:ext cx="5532120" cy="22402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(FY2026E–FY2030E) |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revenue: FY26 10,425M → FY30 11,418M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Gross profit: FY26 5,901M → FY30 6,463M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income: FY26 1,511M → FY30 1,770M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margin %: FY26 14.5% → FY30 15.5%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income: FY26 1,089M → FY30 1,256M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Diluted EPS: FY26 $9776.90 → FY30 $11279.95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364992"/>
          <a:ext cx="11292840" cy="20299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289995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8,111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9,619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10,588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10,425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10,665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10,910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11,161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11,418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4,492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5,609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6,271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6,284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5,901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6,036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6,175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6,317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6,463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1,328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2,133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2,506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2,211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1,469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1,666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1,770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16.4%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22.2%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23.7%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14.5%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13.8%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14.4%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15.5%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855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1,815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1,579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1,089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1,056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1,120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1,187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1,256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8999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Diluted EPS ($)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6.68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12.20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14.64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13.26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9776.90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9484.51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10059.72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10657.96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11279.95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413248"/>
          <a:ext cx="1129284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24097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(22–25)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Fcst source, Scenarios col G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Net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Scenarios!G25:G29 (Revenue yr 1–5)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Gross profit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Scenarios!G25:G29 × Scenarios!G30:G34 (rev × GM%)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Operating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Scenarios!G45:G49 (EBIT yr 1–5)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OI ÷ revenue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Scenarios!G45:G49 ÷ Scenarios!G25:G29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Net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Scenarios!G143:G147 (pitch bridge NI)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24098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Diluted EPS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Diluted EPS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Scenarios!G183:G187 (pitch bridge EPS)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Balance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Net-cash history vs base-case funded growth: FY26–30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BS forecast: Scenarios pitch bridge (cash waterfall + FY25 BS × revenue growth), col G.  Hist = 10-K. Forecast (26–30) = DCF Scenarios pitch-bridge block, col G (base case only). Per-row model refs shown under line items.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24128"/>
            <a:ext cx="5532120" cy="22402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(FY2022–FY2025)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Cash &amp; equivalents: FY22 1,155M → FY25 1,807M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Inventories: FY22 1,447M → FY25 1,701M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assets: FY22 5,607M → FY25 8,457M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liabilities: FY22 2,458M → FY25 3,495M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equity: FY22 3,149M → FY25 4,962M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Funded debt: $0 across FY22–FY25 (net-cash)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024128"/>
            <a:ext cx="5532120" cy="22402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(FY2026E–FY2030E) |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Cash &amp; equivalents: FY26 2,393M → FY30 4,497M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Inventories: FY26 1,585M → FY30 1,681M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assets: FY26 7,941M → FY30 8,697M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liabilities: FY26 3,282M → FY30 3,594M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equity: FY26 4,659M → FY30 5,103M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Funded debt: $0 (no term debt in model)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364992"/>
          <a:ext cx="11292840" cy="20299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289995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1,155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2,244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1,984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2,393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2,825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3,317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3,874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4,497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1,324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1,701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1,585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1,632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1,657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1,681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5,607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7,092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7,603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8,457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7,941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8,124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8,310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8,502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8,697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2,458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2,860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3,279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3,495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3,282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3,357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3,434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3,513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3,594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89995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3,149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4,232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4,324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4,962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4,659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4,766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4,876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4,988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5,103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8999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413248"/>
          <a:ext cx="1129284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24097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(22–25)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Fcst source, Scenarios col G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Scenarios!G163:G167 (pitch bridge cash roll-forward)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Inventories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Scenarios!G80:G84 (NWC schedule)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assets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Scenarios!G168:G172 (FY25 TA × rev growth)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liabilities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Scenarios!G173:G177 (FY25 TL × rev growth)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Scenarios!G178:G182 (FY25 TE × rev growth)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24098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Long-term debt ($0)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Model assumption, $0 (no term debt)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Cash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Operating FCF (DCF input) vs financing: historical 10-K vs base case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Buybacks: col G = $500M/yr fixed (Scenarios assumptions).  Hist = 10-K. Forecast (26–30) = DCF Scenarios pitch-bridge block, col G (base case only). Per-row model refs shown under line items.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17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24128"/>
            <a:ext cx="5532120" cy="22402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(FY2022–FY2025)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Cash from operations: FY22 966M → FY25 1,602M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D&amp;A (add-back): FY22 292M → FY25 496M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Capital expenditures: FY25 (681) outflow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Free cash flow: FY25 922M (CFO − capex)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Share repurchases (CFF): FY25 (1,178) outflow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024128"/>
            <a:ext cx="5532120" cy="22402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(FY2026E–FY2030E) |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Cash from operations: FY26 1,660M → FY30 1,751M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D&amp;A (add-back): FY26 469M → FY30 514M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Capital expenditures: FY26 (573) → FY30 (628)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Free cash flow: FY26 1,087M → FY30 1,123M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Share repurchases (CFF): FY26 (500) → FY30 (500)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364992"/>
          <a:ext cx="11292840" cy="20299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338328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2,273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1,660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1,518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1,593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1,670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1,751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 (add-back)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292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379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447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469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480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502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514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(639)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(652)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(689)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(681)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(573)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(587)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(614)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(628)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328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1,644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1,583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922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1,087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931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993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1,056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1,123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 (CFF)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(444)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(559)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(1,637)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(1,178)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413248"/>
          <a:ext cx="1129284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44780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(22–25)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Fcst source, Scenarios col G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Operating activities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Scenarios!G148:G152 (pitch bridge CFO)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 (add-back)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Depreciation &amp; amortization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Scenarios!G55:G59 (D&amp;A yr 1–5)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Capital expenditures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Scenarios!G60:G64 (Capex yr 1–5)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CFO − capex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Scenarios!G153:G157 (pitch bridge FCF/CFS)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Repurchases (financing)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Scenarios!G158:G162 (G21=$500M/yr fixed)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Capital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Cap stack and WACC build: lease-adjusted; no funded term debt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Cap stack &amp; WACC: LULU_DCF_Valuation_Model.xlsx → WACC tab (col E). Cash/leases: FY2025 10-K.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05840"/>
            <a:ext cx="54864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CAPITAL STACK (US$ M)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1005840"/>
            <a:ext cx="562356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WACC BUILD (CAPM)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261872"/>
          <a:ext cx="5532118" cy="132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Component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weight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equity (price × shares)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11,138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86.1%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ASC 842 operating lease liabilities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1,798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 (term loans / bonds)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0.0%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capital (WACC basis)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12,936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100.0%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2651760"/>
            <a:ext cx="553212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EV BRIDGE (NOT IN WACC WEIGHTS)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2852928"/>
          <a:ext cx="5532118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Component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Note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Added back in EV → equity bridge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debt (leases − cash)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-9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Near net-cash; leases in WACC above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457200" y="3657600"/>
            <a:ext cx="55321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262626"/>
                </a:solidFill>
                <a:latin typeface="Garamond"/>
                <a:cs typeface="Garamond"/>
              </a:rPr>
              <a:t>No funded bank debt; ASC 842 store leases are the only debt equivalent (~14% WACC weight). Cash $1,807M exceeds lease debt → net-cash on a funded-debt basis.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1234440"/>
            <a:ext cx="5623560" cy="3657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199632" y="1298448"/>
          <a:ext cx="5468112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3240"/>
                <a:gridCol w="2404872"/>
              </a:tblGrid>
              <a:tr h="238760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Input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3876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Risk-free rate (10-yr UST)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4.80%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risk premium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6.00%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876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30.00%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Beta (relevered; lease adj.)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0.84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8760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Cost of equity (CAPM)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9.86%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Pre-tax Kd (lease-equivalent)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876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After-tax Kd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3.50%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/ debt weight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86.1% / 13.9%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263640" y="3584448"/>
            <a:ext cx="534924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1">
                <a:solidFill>
                  <a:srgbClr val="262626"/>
                </a:solidFill>
                <a:latin typeface="Garamond"/>
                <a:cs typeface="Garamond"/>
              </a:rPr>
              <a:t>β: Yahoo βL 0.86 → unlevered 0.76 @ D/E 0.19 → relever 0.84 @ lease D/E 0.16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4041648"/>
            <a:ext cx="5623560" cy="804672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700" b="1" i="0">
                <a:solidFill>
                  <a:srgbClr val="FFFFFF"/>
                </a:solidFill>
                <a:latin typeface="Garamond"/>
                <a:cs typeface="Garamond"/>
              </a:rPr>
              <a:t>WACC = 8.98%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Base-case discount rate → Scenarios col G · implied price $134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285232"/>
            <a:ext cx="1129284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MODEL SOURCE MAP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457200" y="5468112"/>
          <a:ext cx="1129284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9098280"/>
              </a:tblGrid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DCF model source (WACC tab, col E)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ASC 842 operating leases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WACC!E11 (FY25 10-K)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capital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Cash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debt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DCF EV bridge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Risk-free rate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risk premium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Beta (relevered)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WACC!E25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Cost of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Pre-tax Kd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After-tax Kd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/ debt weights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WACC!E39 / WACC!E40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WACC!E41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Valuation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Football field: implied share-price ranges by methodology (base case DCF)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 → Comps / football field tab; geographic SOTP on FY30E base revenue mix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19</a:t>
            </a:r>
          </a:p>
        </p:txBody>
      </p:sp>
      <p:sp>
        <p:nvSpPr>
          <p:cNvPr id="8" name="Rectangle 7"/>
          <p:cNvSpPr/>
          <p:nvPr/>
        </p:nvSpPr>
        <p:spPr>
          <a:xfrm>
            <a:off x="3063240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34640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$50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65018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36418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66797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38197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$150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68576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39976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1399032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P / E (10–18x FY2026E)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88876" y="1417320"/>
            <a:ext cx="3390739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/>
          <a:lstStyle/>
          <a:p>
            <a:pPr algn="l"/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$96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97904" y="1417320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$173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2057400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EV / EBITDA (5.0–8.0x FY30E)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01694" y="2075688"/>
            <a:ext cx="2686170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/>
          <a:lstStyle/>
          <a:p>
            <a:pPr algn="l"/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$119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06153" y="2075688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$180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2715768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Geographic SOTP (FY30E; Gordon anchor)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982406" y="2734056"/>
            <a:ext cx="792640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/>
          <a:lstStyle/>
          <a:p>
            <a:pPr algn="l"/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$139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93334" y="2734056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$157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3374136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Unlevered DCF (base / Gordon g)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748512" y="3429000"/>
            <a:ext cx="38100" cy="310896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17092" y="3392424"/>
            <a:ext cx="64008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$134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032504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52-week range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265018" y="4050791"/>
            <a:ext cx="5548482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/>
          <a:lstStyle/>
          <a:p>
            <a:pPr algn="l"/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31789" y="4050791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F2A44"/>
                </a:solidFill>
                <a:latin typeface="Garamond"/>
                <a:cs typeface="Garamond"/>
              </a:rPr>
              <a:t>$226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265018" y="1325880"/>
            <a:ext cx="25400" cy="3886200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026442" y="1325880"/>
            <a:ext cx="25400" cy="388620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16378" y="987552"/>
            <a:ext cx="1097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262626"/>
                </a:solidFill>
                <a:latin typeface="Garamond"/>
                <a:cs typeface="Garamond"/>
              </a:rPr>
              <a:t>Current $100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86362" y="987552"/>
            <a:ext cx="1097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Target $140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5596128"/>
            <a:ext cx="11292840" cy="8046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12-month target $140 sits above base-case DCF $134 and inside the comps/SOTP ranges: a partial re-rating, not a return to peak multiples.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262626"/>
                </a:solidFill>
                <a:latin typeface="Garamond"/>
                <a:cs typeface="Garamond"/>
              </a:rPr>
              <a:t>DCF row = Scenarios col G (Gordon growth). Bear $56 / bull $202 bracket scenario range from the model.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Sum of the Parts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Geographic segments on FY30E base revenue: EV/EBITDA spreads vs Gordon-implied exit (7.4x)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Segment revenue: FY2025 10-K geography; FY30E scaled to base-case consolidated revenue (Scenarios col 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20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97280"/>
          <a:ext cx="11292840" cy="2788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865376"/>
                <a:gridCol w="1865376"/>
                <a:gridCol w="1865376"/>
                <a:gridCol w="1865376"/>
                <a:gridCol w="1865376"/>
              </a:tblGrid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Segment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FY30E rev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EBITDA 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FY30E EBITDA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Segment EV ($M)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Americas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8,070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6.4x–7.1x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9,924–11,010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China Mainland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19.5%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410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7.9x–9.4x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3,238–3,852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Rest of World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1,543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324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7.1x–8.1x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2,297–2,621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segment EV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11,418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2,284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6.8x–7.7x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15,459–17,483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Corporate / HQ (no separate carve-out)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 Cash / − lease debt (EV bridge)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+1,807 / −1,798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Implied equity value / share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$139–$157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005072"/>
            <a:ext cx="7132320" cy="960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Methodology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Single-brand retailer: geography is the cleanest SOTP cut (Americas / China / RoW per 10-K)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FY30E segment revenue = FY25 geo mix × base-case consolidated FY30 revenue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Segment EV/EBITDA spreads anchor to Gordon-implied exit 7.4x (selected DCF TV identity: not the 5–8x comps football-field band)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Americas: Gordon − 1.0x to − 0.25x (mature); China: +0.5x to +2.0x (growth); RoW: −0.25x to +0.75x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Consolidated base-case DCF $134 uses Gordon growth (g=2.25%); SOTP is terminal-year EBITDA triangulation only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4005072"/>
            <a:ext cx="3977639" cy="14173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SOTP vs DCF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SOTP range: $139–$157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Base-case DCF: $134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Overlap is expected: SOTP applies FY30 EBITDA multiples; DCF discounts explicit FCF + Gordon growth TV.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DCF 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Base-case unlevered DCF (Scenarios col G): Gordon growth terminal value; 7.4x is implied exit identity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 → Scenarios col G + DCF tab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566928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BASE-CASE ASSUMPTIONS (SCENARIOS COL G)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261872"/>
          <a:ext cx="5623560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423160"/>
              </a:tblGrid>
              <a:tr h="236912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Assumption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369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FY2026 revenue growth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-6.1%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69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FY2027–30 revenue growth (avg)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+2.3%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69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Clean EBIT margin (FY26 run-rate)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13.2%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69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EBIT margin (FY2030E)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15.5%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69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FY26 tariff refunds (one-time)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$134.5M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69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tax rate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69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Capex % of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69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369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growth (g)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692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Gordon-implied exit EV/EBITDA (identity)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3950208"/>
            <a:ext cx="562356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TERMINAL VALUE | GORDON GROWTH (SELECTED)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4187952"/>
          <a:ext cx="5623560" cy="658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2103120"/>
                <a:gridCol w="2103120"/>
              </a:tblGrid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Method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Formula / input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 TV ($M)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Gordon growth (selected)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FCF₅ × (1+g) / (WACC−g); g=2.25%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16,804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Exit multiple (identity check)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FY30 EBITDA × 7.4x = Gordon TV ÷ EBITDA (same number)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16,804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263640" y="1234440"/>
            <a:ext cx="5486400" cy="23317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VALUATION OUTPUT (US$ M)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PV of explicit FCF (FY26–FY30)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3,944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PV of terminal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10,933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Enterprise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14,876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Plus: cash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1,807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Less: lease debt (ASC 842)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(1,798)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Equity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14,885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÷ Diluted shares (M)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111.4</a:t>
            </a:r>
          </a:p>
          <a:p>
            <a:pPr>
              <a:spcBef>
                <a:spcPts val="400"/>
              </a:spcBef>
            </a:pPr>
            <a:r>
              <a:rPr sz="1500" b="1" i="0">
                <a:solidFill>
                  <a:srgbClr val="1E7A3C"/>
                </a:solidFill>
                <a:latin typeface="Garamond"/>
                <a:cs typeface="Garamond"/>
              </a:rPr>
              <a:t>Implied value:  $134 / share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3703320"/>
            <a:ext cx="5486400" cy="1143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050" b="1" i="0">
                <a:solidFill>
                  <a:srgbClr val="FFFFFF"/>
                </a:solidFill>
                <a:latin typeface="Garamond"/>
                <a:cs typeface="Garamond"/>
              </a:rPr>
              <a:t>TV = 73% of EV  ·  7.4x = Gordon TV ÷ FY30 EBITDA $2,284M (not a peer pick)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Selected TV is Gordon growth (g). The 7.4x exit multiple is the identity check (TV ÷ FY30 EBITDA), not a peer average.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956048"/>
            <a:ext cx="1129284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SENSITIVITY | IMPLIED SHARE PRICE (WACC vs TERMINAL g)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57200" y="5166360"/>
          <a:ext cx="6766560" cy="960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170432"/>
                <a:gridCol w="1170432"/>
                <a:gridCol w="1170432"/>
                <a:gridCol w="1170432"/>
                <a:gridCol w="1170432"/>
              </a:tblGrid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\ g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16002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6002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6002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6002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11.0%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6002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11.5%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7406640" y="5166360"/>
            <a:ext cx="4343400" cy="960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Base-case cell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WACC 9.0% × g 2.25% → $134. Grid brackets ±100bps WACC and 1.5–3.0% g.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Comps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Implied LULU valuation from PitchBook core athletic / apparel set (04-Sep-2026)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PitchBook Comps Set 04-Sep-2026 (EV, TTM EBITDA); revenue/EBIT from company filings; forward P/E from consensus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05840"/>
            <a:ext cx="658368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COMPARABLE COMPANIES | TRADING MULTIPLES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207008"/>
          <a:ext cx="662940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200150"/>
                <a:gridCol w="1200150"/>
                <a:gridCol w="1200150"/>
                <a:gridCol w="1200150"/>
              </a:tblGrid>
              <a:tr h="259080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Company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EV/Rev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P/E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5908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adidas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1.51x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9.2x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18.6x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Nike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1.27x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15.9x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18.3x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5908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Deckers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2.47x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9.8x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Crocs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1.74x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7.8x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7.8x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10.3x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5908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Levi Strauss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1.52x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9.6x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15.0x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Kontoor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2.01x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12.8x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5908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Core median (ex-LULU)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1.63x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9.4x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59080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LULU @ $100 (current)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1.07x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4.7x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10.4x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269480" y="1005840"/>
            <a:ext cx="45720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IMPLIED LULU VALUATION (CORE PEER MEDIAN)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269480" y="1207008"/>
          <a:ext cx="461772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173480"/>
                <a:gridCol w="1173480"/>
                <a:gridCol w="1173480"/>
              </a:tblGrid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Metric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Peer med.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LULU base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Implied px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1.63x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$10,425M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$119–$231 (med $153)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EBITDA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$2,707M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$190–$311 (med $229)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EBIT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$2,211M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$155–$369 (med $311)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 / 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$9.61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$99–$183 (med $158)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269480" y="3657600"/>
            <a:ext cx="461772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1">
                <a:solidFill>
                  <a:srgbClr val="262626"/>
                </a:solidFill>
                <a:latin typeface="Garamond"/>
                <a:cs typeface="Garamond"/>
              </a:rPr>
              <a:t>Implied EV = peer median × LULU base (cols 2–3); P/E = median × EPS (no EV). EV + cash − lease debt ÷ shares = equity/sh.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703320"/>
            <a:ext cx="11292840" cy="2148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Peer benchmark methodology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Core peer set (NKE, ADS, DECK, CROX, LEVI, KTB) evaluates relative valuation using PitchBook data (04-Sep-2026). Implied equity = peer median × LULU base → EV, then + cash − ASC 842 lease debt ÷ shares.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Multiples confirm severe undervaluation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LULU trades at 1.07x EV/Revenue, 4.7x EV/EBITDA (PitchBook TTM), and 10.4x forward P/E vs core peer medians of 1.63x EV/Revenue, 9.4x EV/EBITDA, and 16.5x P/E.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DCF terminal valuation discount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Base-case DCF uses Gordon growth g = 2.25%, implying 7.4x FY30 EV/EBITDA exit multiple: well below the 9.4x peer median (right table uses TTM EBITDA).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Conservative target price re-rating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Our $134 base-case DCF and $140 12-month target (+6 vs DCF, ~4% above model fair value) reflect undervaluation with only a modest re-rating: not Nike-level multiples.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Precedent Transactions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Private-market context for athleisure M&amp;A: not used to imply a control premium on LULU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Wolverine IR/SEC (Sweaty Betty); Bloomberg (Gymshark); BusinessWire/Reuters (Vuori); Reuters/Forbes (Alo)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51560"/>
          <a:ext cx="11292834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645919"/>
                <a:gridCol w="1645919"/>
                <a:gridCol w="1645919"/>
                <a:gridCol w="1645919"/>
                <a:gridCol w="1645919"/>
                <a:gridCol w="1645919"/>
              </a:tblGrid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Target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Year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Type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 ($M)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EV/Rev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Status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Sweaty Betty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acquisition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16.0x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Aug-2021; ~16x FY21E EBITDA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Gymshark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Minority growth round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1,300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Aug-2020; $1.3bn EV (minority)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Vuori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Growth investment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4,000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Oct-2021; $4bn post-money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Alo Yoga (Color Image)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Unclosed sale process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10,000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Unclosed; no deal per Reuters Jun-2026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LULU (public @ $100)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Public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11,129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1.07x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4.7x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Trading comps only (not a premium benchmark)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3246120"/>
            <a:ext cx="7178040" cy="2148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Private precedent framework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Non-Alo private transactions establish a contextual floor of what strategics and PE pay for premium athleisure. They do not imply a control premium on LULU's public stock.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Closed M&amp;A benchmark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Wolverine paid $410M (~16x EBITDA, ~1.6x sales) for Sweaty Betty (2021), a concrete operating-company precedent for women's DTC activewear.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Growth capital rounds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Gymshark ($1.3B implied EV, 2020 minority stake) and Vuori ($4B post-money, 2021) show institutional demand and realistic baselines for premium DTC brands.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Excluded unclosed process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Alo's ~$10B ask (~5.0x EV/Sales) is LULU's closest yoga peer, but unclosed private asks cannot dictate actual public equity valuation.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3246120"/>
            <a:ext cx="3977639" cy="2148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Valuation stack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DCF base: $134  |  Target: $140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00" b="1" i="0">
                <a:solidFill>
                  <a:srgbClr val="262626"/>
                </a:solidFill>
                <a:latin typeface="Garamond"/>
                <a:cs typeface="Garamond"/>
              </a:rPr>
              <a:t>Comps median EV/EBITDA 9.4x → ~$229/sh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1">
                <a:solidFill>
                  <a:srgbClr val="262626"/>
                </a:solidFill>
                <a:latin typeface="Garamond"/>
                <a:cs typeface="Garamond"/>
              </a:rPr>
              <a:t>Reasonably assumed ceiling from peer EV/EBITDA re-rating. Not our price target.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