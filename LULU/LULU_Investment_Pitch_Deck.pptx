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4846320"/>
              </a:tblGrid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4846320"/>
              </a:tblGrid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$133.52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$133.52 per share (+33.5%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Base 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FY26-FY30 EBIT Margin Path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China Mainland Growth &amp; Revenue Driver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E-commerce EBIT Margin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Store EBIT Margin &amp; SPSF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$133.52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$133.52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$55.90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$14.58, more than enough to recover our $133.52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CapEx Fade &amp; NWC Schedule / NOPAT Bridge (E-Commerce EBIT Margin)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$10.10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$133.52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6304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(revenue yrs 1-5)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x gross margin (Scenarios col C)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(EBIT yrs 1-5)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/ revenue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/ revenue (Scenarios col C)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(net income bridge)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 / diluted shares ($750M/yr buybacks)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6304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(cash roll-forward)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(NWC schedule)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1,086M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70688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</a:tr>
              <a:tr h="17068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(CFO bridge)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(D&amp;A yrs 1-5)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7068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(capex yrs 1-5)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- capex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(FCF bridge)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7068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($750M/yr buybacks)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WACC tab (col E) · 10-K cap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1945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858768"/>
            <a:ext cx="55321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C · implied price $133.52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· SOTP FY30E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$133.52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C (Gordon growth). Bear $55.90 / bull $202.17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SOTP · 10-K geo mix ·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C):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C + DCF · base WACC 9.0% g 2.25%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C)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13632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3675887"/>
          <a:ext cx="5486400" cy="493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164592"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3,930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14,862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14,871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4334256"/>
            <a:ext cx="5486400" cy="62179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01091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212080"/>
          <a:ext cx="11292840" cy="4754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95097"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5097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5097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5097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5097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PitchBook comps 04-Sep-2026 · LULU_DCF_Valuation_Model.xlsx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IR, Bloomberg, BusinessWire (precedent context 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256032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18688"/>
            <a:ext cx="690372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218688"/>
            <a:ext cx="4160520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850" b="1" i="0">
                <a:solidFill>
                  <a:srgbClr val="1F2A44"/>
                </a:solidFill>
                <a:latin typeface="Garamond"/>
                <a:cs typeface="Garamond"/>
              </a:rPr>
              <a:t>DCF base: $133.52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