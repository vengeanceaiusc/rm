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What you will be focusing on during this pitch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4791455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07008"/>
          <a:ext cx="5504688" cy="4718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5120640"/>
              </a:tblGrid>
              <a:tr h="393191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#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Slide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Table of Contents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Situation Overview and Current Investment Setup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Market Narrative and Analyst Sentiment Surrounding the Stock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Investment Thesis Summary and Target Price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Geographic Segments and Revenue Breakdown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6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Business Model Unit Economics and Competitive Moats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Industry Overview - Trends and Structure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8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Industry Overview - Barriers to Entry and Profitability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Investment Thesis I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Investment Thesis II  Partial Margin Recovery &amp; Brand Loyalty Floor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9320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Investment Thesis III: Geographic Growth Divergence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207008"/>
          <a:ext cx="5504688" cy="4718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5120640"/>
              </a:tblGrid>
              <a:tr h="393191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#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Slide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Risk &amp; Mitigants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13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Timeline of Recovery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Financials | Income Statement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15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Financials | Balance Sheet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Financials | Cash Flow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17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Financials | Capital Structure &amp; WACC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Valuation Summary (Football Field)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19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Sum of the Parts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DCF Valuation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93191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21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Comps Analysis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9320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Precedent Transactions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300" b="1" i="0">
                <a:solidFill>
                  <a:srgbClr val="FFFFFF"/>
                </a:solidFill>
                <a:latin typeface="Garamond"/>
                <a:cs typeface="Garamond"/>
              </a:rPr>
              <a:t>Situation Overview and Current Investment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outlines why this investment opportunity exists and the historical financial context driving the current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Garamond"/>
                <a:cs typeface="Garamond"/>
              </a:rPr>
              <a:t>The recent guidance cut triggered a massive cyclical panic pushing Lululemon down to roughly 100 dollars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91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91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1991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Garamond"/>
                <a:cs typeface="Garamond"/>
              </a:rPr>
              <a:t>Despite historically compounding double digit growth the market capitulated over a guidance cut of 5 to 7 percent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278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278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2278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Garamond"/>
                <a:cs typeface="Garamond"/>
              </a:rPr>
              <a:t>Near-term Americas stagnation is modeled via FY26-FY30 US averages of approximately flat same-store comps and only 6 annual gross store openings, offset by China Mainland averages of 10.2% comps and 16 gross store openings [4]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565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565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2565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262626"/>
                </a:solidFill>
                <a:latin typeface="Garamond"/>
                <a:cs typeface="Garamond"/>
              </a:rPr>
              <a:t>Lululemon still retains durable cash flows with clean run rate operating margins of 13.2 percent [3]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112928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TIKR LULU Stock Crashed 17%: https://www.tikr.com/blog/lululemon-stock-crashed-17-on-friday-the-guidance-cut-was-the-real-story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Lululemon Q2 FY2026 Guidance Release: https://corporate.lululemon.com/~/media/Files/L/Lululemon/investors/results-center/q2-2026-financial-supplement.pdf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Provided Valuation Model: LULUMODEL18.xlsx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[4] LULUMODEL18.xlsx, Revenue Drivers Schedule (Americas &amp; China comps &amp; store openings)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200" b="1" i="0">
                <a:solidFill>
                  <a:srgbClr val="FFFFFF"/>
                </a:solidFill>
                <a:latin typeface="Garamond"/>
                <a:cs typeface="Garamond"/>
              </a:rPr>
              <a:t>Market Narrative and Analyst Sentiment Surrounding the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breaks down current market sentiment and exactly what analysts are saying about the recent guidance cut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Morgan Stanley issued a highly pessimistic forecast after management aggressively cut 2026 revenue guidance to 10.35 billion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9087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9087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609087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Analysts are paralyzed by cyclical fears as the consensus price target was slashed from 176 dollars to 136 dollars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47743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47743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047743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Firms like BTIG maintain neutral ratings due to short-term turbulence but ignore the durable competitive advantage we see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04688"/>
            <a:ext cx="11292840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MarketBeat: Morgan Stanley Issues Pessimistic Forecast for lululemon athletica: https://www.marketbeat.com/instant-alerts/analyst-morgan-stanley-issues-pessimistic-forecast-for-lululemon-athletica-nasdaq-lulu-stock-price-2026-09-04/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Simply Wall St: lululemon athletica Stock Analysis: https://simplywall.st/stocks/us/consumer-durables/nasdaq-lulu/lululemon-athletica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GuruFocus: LULU Reiterates by BTIG - Rating Maintained at Neutral: https://www.gurufocus.com/news/9068272/lulu-reiterates-by-btig-rating-maintained-at-neutral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300" b="1" i="0">
                <a:solidFill>
                  <a:srgbClr val="FFFFFF"/>
                </a:solidFill>
                <a:latin typeface="Garamond"/>
                <a:cs typeface="Garamond"/>
              </a:rPr>
              <a:t>Investment Thesis Summary and Target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breaks down our $133.64 intrinsic DCF fair value, our $140 twelve-month target price, and the three core pillars supporting our overweight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Our base-case DCF yields an intrinsic fair value of $133.64 per share (+33.6% upside), supporting our 12-month target price of $140.00 as market multiples modestly re-rate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91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91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1991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The first pillar is profitability because the base case models an approximately 14.4 percent average EBIT margin across FY26-FY30 as clean margins recover from 13.2 percent toward 15.5 percent by FY30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278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278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2278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The second pillar is our mathematically sound 9.0 percent WACC which strictly bounds our 2.3 percent long-term revenue growth assumption [3]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565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565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2565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62626"/>
                </a:solidFill>
                <a:latin typeface="Garamond"/>
                <a:cs typeface="Garamond"/>
              </a:rPr>
              <a:t>Finally, international expansion remains the crucial growth engine, as FY25 China segment revenue grew approximately 29% year-over-year versus flat Americas, and modeled China growth offsets this stagnation with FY26-FY30 averages of 10.2% same-store comps and 16 annual gross store openings [4]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112928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Provided Valuation Model (Base Case Implied Value): LULUMODEL18_3.xlsx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Provided Valuation Model (FY26-FY30 EBIT Margin Path): LULUMODEL18_3.xlsx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Provided Valuation Model (WACC &amp; Revenue Drivers): LULUMODEL18_3.xlsx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[4] Lululemon Q2 FY2026 Earnings Release (International Growth): https://corporate.lululemon.com/~/media/Files/L/Lululemon/investors/results-center/q2-2026-financial-supplement.pdf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300" b="1" i="0">
                <a:solidFill>
                  <a:srgbClr val="FFFFFF"/>
                </a:solidFill>
                <a:latin typeface="Garamond"/>
                <a:cs typeface="Garamond"/>
              </a:rPr>
              <a:t>Geographic Segments and Revenue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outlines Lululemon's geographic segments and revenue breakdown while detailing why China growth offsets temporary US declines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Lululemon generated 11.1 billion dollars in total revenue with Americas contributing 7.85 billion dollars or 70.68 percent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9087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9087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609087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Americas comparable sales fell 3 percent due to temporary cyclical macro pressure rather than structural brand degradation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47743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47743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047743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China Mainland reached 1.75 billion dollars in segment revenue on +20% FY25 comparable sales growth, proving high-growth international expansion easily offsets US temporary weakness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04688"/>
            <a:ext cx="11292840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Lululemon FY2025 Form 10-K (Segment Revenue and Percentages): https://corporate.lululemon.com/~/media/Files/L/Lululemon/investors/results-center/q2-2026-financial-supplement.pdf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Lululemon FY2025 Form 10-K (Americas Comparable Sales): https://corporate.lululemon.com/~/media/Files/L/Lululemon/investors/results-center/q2-2026-financial-supplement.pdf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Provided Valuation Model (China Mainland Growth &amp; Revenue Driver): LULUMODEL18.xlsx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300" b="1" i="0">
                <a:solidFill>
                  <a:srgbClr val="FFFFFF"/>
                </a:solidFill>
                <a:latin typeface="Garamond"/>
                <a:cs typeface="Garamond"/>
              </a:rPr>
              <a:t>Business Model Unit Economics and Competitive Moats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analyzes Lululemon's unit economics and competitive moats that protect its long-term market leadership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Lululemon sustains a 56.6 percent gross margin providing a massive competitive moat against retail price competition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9087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9087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609087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E-commerce unit economics remain elite with direct-to-consumer EBIT margins hitting 23.6 percent without retail occupancy drag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47743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47743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047743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Company-operated stores generate 1,426 dollars per square foot and an 18.6 percent EBIT margin establishing high capital efficiency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04688"/>
            <a:ext cx="11292840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Provided Valuation Model (Gross Margin): LULUMODEL18_6.xlsx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Provided Valuation Model (E-commerce EBIT Margin Driver): LULUMODEL18_6.xlsx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Provided Valuation Model (Store EBIT Margin &amp; SPSF): LULUMODEL18_6.xlsx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300" b="1" i="0">
                <a:solidFill>
                  <a:srgbClr val="FFFFFF"/>
                </a:solidFill>
                <a:latin typeface="Garamond"/>
                <a:cs typeface="Garamond"/>
              </a:rPr>
              <a:t>Industry Overview - Trends and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explores the ongoing athleisure industry trends including market fragmentation and the barriers to entry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I argue the global athleisure market remains highly fragmented meaning most players lack a durable competitive advantage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9087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9087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609087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The premium segment maintains high barriers to entry protecting global champions from temporary cyclical noise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47743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47743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047743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Lululemon mathematically proves its moat by generating a 30.25 percent ROE far outpacing the 6.81 percent industry median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04688"/>
            <a:ext cx="11292840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Market.us Media (Athleisure Market Fragmentation): https://media.market.us/athleisure-industry-statistics/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Fortune Business Insights (Premium Athleisure Trends): https://www.fortunebusinessinsights.com/athleisure-market-110642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FinanceCharts (Lululemon ROE &amp; Retail Median): https://www.financecharts.com/stocks/LULU/growth/roe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200" b="1" i="0">
                <a:solidFill>
                  <a:srgbClr val="FFFFFF"/>
                </a:solidFill>
                <a:latin typeface="Garamond"/>
                <a:cs typeface="Garamond"/>
              </a:rPr>
              <a:t>Industry Overview - Barriers to Entry and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dissects capital efficiency metrics comparing Lululemon's gross margin directly against legacy apparel competitors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Lululemon commands a 56.6 percent gross margin far exceeding traditional athletic apparel peers like Nike and Under Armour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9087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9087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609087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Nike struggles to maintain a 43 percent margin while Under Armour hovers around 46 percent reflecting their wholesale dependence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47743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47743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047743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Lululemon's direct-to-consumer scale prevents this structural margin compression and forms an impenetrable economic moat against industry price wars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04688"/>
            <a:ext cx="11292840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Provided Valuation Model (Gross Margin Assumptions): LULUMODEL18.xlsx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Investing.com (Nike &amp; Under Armour Historical Gross Margins): https://www.investing.com/pro/NYSE:NKE/explorer/gp_margin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ProAnalyst LULU Market Report (Competitor Margins &amp; DTC Moat): https://lulu.proanalyst.ai/business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Investment Thesis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outlines the core contrarian investment thesis utilizing numerical evidence from the LULUMODEL18.xlsx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The 2026 price drop exceeding 50% has left Lululemon critically undervalued despite durable cash flows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9087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9087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609087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Its premium Direct-to-Consumer revenue mix protects a massive 54.9% adjusted gross margin, mathematically justifying my intrinsic valuation thesis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47743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47743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047743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Furthermore, even with Americas growth stagnating, sheer cash flow generation creates a robust intrinsic valuation buffer, where a conservative 2.25% terminal growth rate still yields over 30% upside to our $133.64 target price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04688"/>
            <a:ext cx="11292840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https://everythingmoney.com/blog/lululemon-is-collapsing-burry-s-biggest-bet-4334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https://corporate.lululemon.com/newsroom/press-releases/2026/09-03-2026-210528733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LULUMODEL18.xlsx, DCF Terminal Value &amp; Valuation Summary Schedule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200" b="1" i="0">
                <a:solidFill>
                  <a:srgbClr val="FFFFFF"/>
                </a:solidFill>
                <a:latin typeface="Garamond"/>
                <a:cs typeface="Garamond"/>
              </a:rPr>
              <a:t>Investment Thesis II  Partial Margin Recovery &amp; Brand Loyalty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details how partial margin recovery supported by core brand loyalty still drives a highly compelling 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Historical pandemic-era peak EBIT margins reached 23.7% in FY24 showing prior peak earnings power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91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91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1991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Our valuation assumes a floor built on resilient baseline brand loyalty, proving Lululemon does not need to remain the hottest viral trend 100% of the time to sustain a 13.2% trough margin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278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278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2278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A modest partial recovery to just 15.5% EBIT margin by FY30 still yields $133.64 per share [3]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56532"/>
            <a:ext cx="11292840" cy="900683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56532"/>
            <a:ext cx="54864" cy="900683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256532"/>
            <a:ext cx="10707624" cy="90068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This proves returning to peak COVID profitability is completely unnecessary to unlock substantial market upside [4]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112928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LULUMODEL18.xlsx / SEC EDGAR Form 10-K (FY24 Peak Margins)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LULUMODEL18.xlsx, Clean Run-Rate EBIT Margin &amp; Brand Royalty Assumptions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LULUMODEL18.xlsx, Base Case DCF Valuation Summary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[4] LULUMODEL18.xlsx, Discounted Cash Flow Valuation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300" b="1" i="0">
                <a:solidFill>
                  <a:srgbClr val="FFFFFF"/>
                </a:solidFill>
                <a:latin typeface="Garamond"/>
                <a:cs typeface="Garamond"/>
              </a:rPr>
              <a:t>Investment Thesis III: Geographic Growth Divergence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examines how Lululemon's top-line projections rely disproportionately on Chinese market expansion to conceal domestic North American stagnation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The revenue build reveals Americas facing near-term contraction with -4.0% comps in FY26 flatlining at a terminal 2.0% growth rate by FY30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9087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9087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609087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To offset this domestic anchor, the model assumes FY26-FY30 China footprint expansion averaging 16 gross store openings annually versus 6 in Americas, plus 10.2% average same-store comp growth (14% to 7% FY26-FY30) on existing doors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47743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47743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047743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Consequently, if the Chinese consumer softens, this model's core top-line projections will not be optimal enough to meet our target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04688"/>
            <a:ext cx="11292840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LULUMODEL18.xlsx, Americas FY26-FY30 Comparable Sales Growth Assumptions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LULUMODEL18.xlsx, FY26 Store Openings &amp; Mainland China Revenue Build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LULUMODEL18.xlsx, Revenue Drivers Schedule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Risk &amp; Mitigants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This slide evaluates core downside risks and demonstrates how share repurchases compound EPS to drive share price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170432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China deceleration risks a $56.00 bear floor, but $45.64 cumulative cash per share recovers 45% of entry price [1]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9087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9087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609087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Slashed CapEx saves $360M annually by relying on online e-commerce's 23.6% EBIT margin plus $101.5M inventory releases 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47743"/>
            <a:ext cx="11292840" cy="1310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47743"/>
            <a:ext cx="54864" cy="1310639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047743"/>
            <a:ext cx="10707624" cy="131063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262626"/>
                </a:solidFill>
                <a:latin typeface="Garamond"/>
                <a:cs typeface="Garamond"/>
              </a:rPr>
              <a:t>Deploying $750M annually into buybacks retires 32.9 million shares, compounding EPS to $14.57, more than enough to recover our $133.64 DCF-implied share price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04688"/>
            <a:ext cx="11292840" cy="8961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LULUMODEL18.xlsx, Bear Case DCF Valuation Summary / https://www.barrons.com/articles/lululemon-stock-earnings-guidance-a7a7c5c0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LULUMODEL18.xlsx, CapEx &amp; E-Commerce Channel EBIT Assumptions / https://corporate.lululemon.com/newsroom/press-releases/2026/09-03-2026-210528733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LULUMODEL18.xlsx, Share Repurchase &amp; EPS Accretion Schedule / https://corporate.lululemon.com/newsroom/press-releases/2026/09-03-2026-210528733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Timeline of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3246120" cy="955547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C72C"/>
                </a:solidFill>
                <a:latin typeface="Garamond"/>
                <a:cs typeface="Garamond"/>
              </a:rPr>
              <a:t>2026 (Q3 FY2026 Trough)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170432"/>
            <a:ext cx="7909560" cy="955547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62626"/>
                </a:solidFill>
                <a:latin typeface="Garamond"/>
                <a:cs typeface="Garamond"/>
              </a:rPr>
              <a:t>Q3 FY2026 revenue laps guidance trough while China Double 11 sales confirm holiday store traffic floor stabilization across key markets [1]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80844"/>
            <a:ext cx="3246120" cy="955547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C72C"/>
                </a:solidFill>
                <a:latin typeface="Garamond"/>
                <a:cs typeface="Garamond"/>
              </a:rPr>
              <a:t>2027 (FY2026 Year-End)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180844"/>
            <a:ext cx="7909560" cy="955547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62626"/>
                </a:solidFill>
                <a:latin typeface="Garamond"/>
                <a:cs typeface="Garamond"/>
              </a:rPr>
              <a:t>First full-year reset absorbs steep prior declines while $134.5M tariff refunds and targeted SG&amp;A cost actions protect earnings per share [2]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91256"/>
            <a:ext cx="3246120" cy="955547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C72C"/>
                </a:solidFill>
                <a:latin typeface="Garamond"/>
                <a:cs typeface="Garamond"/>
              </a:rPr>
              <a:t>2027 (FY2027 Margin Inflection)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3191256"/>
            <a:ext cx="7909560" cy="955547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62626"/>
                </a:solidFill>
                <a:latin typeface="Garamond"/>
                <a:cs typeface="Garamond"/>
              </a:rPr>
              <a:t>Operating margins expand to 13.8% (+60 bps) as promotional headwinds anniversary, while $750M annual buybacks compound EPS to $10.09 to boost sentiment [3]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1668"/>
            <a:ext cx="3246120" cy="955547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C72C"/>
                </a:solidFill>
                <a:latin typeface="Garamond"/>
                <a:cs typeface="Garamond"/>
              </a:rPr>
              <a:t>2028 (FY2027-FY2028 Multiple Re-Rating)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4201668"/>
            <a:ext cx="7909560" cy="955547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262626"/>
                </a:solidFill>
                <a:latin typeface="Garamond"/>
                <a:cs typeface="Garamond"/>
              </a:rPr>
              <a:t>China adds ~17 net stores in FY27 while +12% FY27 and +10% FY28 same-store comps offset Americas -4% FY26 comps, driving re-rating toward $133.64 [4]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112928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>
                <a:solidFill>
                  <a:srgbClr val="990000"/>
                </a:solidFill>
                <a:latin typeface="Garamond"/>
                <a:cs typeface="Garamond"/>
              </a:rPr>
              <a:t>Links &amp; Sources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[1] LULUMODEL18.xlsx, Scenarios &amp; Revenue Drivers / https://corporate.lululemon.com/newsroom/press-releases/2026/09-03-2026-210528733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[2] LULUMODEL18.xlsx, NOPAT Bridge &amp; Scenarios / https://corporate.lululemon.com/newsroom/press-releases/2026/09-03-2026-210528733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[3] LULUMODEL18.xlsx, Scenarios &amp; Unlevered Free Cash Flow Schedule / https://corporate.lululemon.com/newsroom/press-releases/2026/09-03-2026-210528733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650" b="0" i="0">
                <a:solidFill>
                  <a:srgbClr val="262626"/>
                </a:solidFill>
                <a:latin typeface="Garamond"/>
                <a:cs typeface="Garamond"/>
              </a:rPr>
              <a:t>[4] LULUMODEL18.xlsx, Revenue Drivers &amp; DCF Valuation Summary / https://stockanalysis.com/stocks/lulu/forecast/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Financials | Income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Reported history (10-K) vs base-case operating forecast: FY26-30 (US$ M)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Forecast: LULU_DCF_Valuation_Model.xlsx, Scenarios col G. EPS = NI ÷ diluted shares after $750M/yr repurchases (DCF $134 still uses 111.4M day-one basic shares).  Hist = 10-K. Forecast (26-30) = DCF Scenarios pitch-bridge block, col G (base case only). Per-row model refs shown under line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52144"/>
            <a:ext cx="5532120" cy="2121408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HISTORICALS (FY2022-FY2025) | SEC 10-K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Net revenue: FY22 $8,111M to FY25 $11,103M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Gross profit: FY22 4,492M to FY25 6,284M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Operating income: FY22 1,328M to FY25 2,211M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Operating margin %: FY22 16.4% to FY25 19.9% (peak 23.7% FY24)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Net income: FY22 855M to FY25 1,579M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Diluted EPS: FY22 $6.68 to FY25 $13.26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52144"/>
            <a:ext cx="5532120" cy="212140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FFC72C"/>
                </a:solidFill>
                <a:latin typeface="Garamond"/>
                <a:cs typeface="Garamond"/>
              </a:rPr>
              <a:t>FORECAST (FY2026E-FY2030E) | base case (Scenarios col G)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Net revenue: FY26 10,425M to FY30 11,418M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Gross profit: FY26 5,901M to FY30 6,463M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Operating income: FY26 1,511M to FY30 1,770M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Operating margin %: FY26 14.5% to FY30 15.5%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Net income: FY26 1,089M to FY30 1,256M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Diluted EPS: FY26 $9.76 to FY30 $14.57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401568"/>
          <a:ext cx="1129284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258644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US$ M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22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23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24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25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26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27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28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29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30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Net revenue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8,111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9,619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10,588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11,103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10,425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10,665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10,910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11,161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11,418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Gross profit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4,492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5,609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6,271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6,284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5,901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6,036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6,175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6,317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6,463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Operating income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1,328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2,133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2,506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2,211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1,511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1,469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1,566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1,666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1,770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Operating margin 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16.4%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22.2%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23.7%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19.9%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14.5%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13.8%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14.4%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14.9%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15.5%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Net income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855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1,550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1,815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1,579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1,089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1,056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1,120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1,187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1,256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5864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Diluted EPS ($)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6.68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12.20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14.64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13.26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9.76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10.09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11.42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12.91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14.57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5248656"/>
          <a:ext cx="1129284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4800600"/>
                <a:gridCol w="4800600"/>
              </a:tblGrid>
              <a:tr h="124097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Line item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Hist source (22-25)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Fcst source, Scenarios col G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Net revenue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IS, Net revenue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Scenarios!G25:G29 (Revenue yr 1-5)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Gross profit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IS, Gross profit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Scenarios!G25:G29 × Scenarios!G30:G34 (rev × GM%)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Operating income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IS, Operating income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Scenarios!G45:G49 (EBIT yr 1-5)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Operating margin 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IS, OI ÷ revenue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Scenarios!G45:G49 ÷ Scenarios!G25:G29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Net income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IS, Net income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Scenarios!G143:G147 (pitch bridge NI)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124098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Diluted EPS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IS, Diluted EPS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NI ÷ buyback-adjusted shares ($750M/yr; Scenarios!G188:G192)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Financials | Balance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Net-cash history vs base-case funded growth: FY26-30 (US$ M)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BS forecast: cash roll-forward includes $750M/yr buybacks; equity scales with revenue (buyback-driven equity reduction shown via CF / IS share count, not TE line).  Hist = 10-K. Forecast (26-30) = DCF Scenarios pitch-bridge block, col G (base case only). Per-row model refs shown under line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52144"/>
            <a:ext cx="5532120" cy="2121408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HISTORICALS (FY2022-FY2025) | SEC 10-K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Cash &amp; equivalents: FY22 1,155M to FY25 1,807M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Inventories: FY22 1,447M to FY25 1,701M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Total assets: FY22 5,607M to FY25 8,457M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Total liabilities: FY22 2,458M to FY25 3,495M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Total equity: FY22 3,149M to FY25 4,962M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Funded debt: $0 across FY22-FY25 (net-cash)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52144"/>
            <a:ext cx="5532120" cy="212140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FFC72C"/>
                </a:solidFill>
                <a:latin typeface="Garamond"/>
                <a:cs typeface="Garamond"/>
              </a:rPr>
              <a:t>FORECAST (FY2026E-FY2030E) | base case (Scenarios col G)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Cash &amp; equivalents: FY26 2,143M to FY30 3,247M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Inventories: FY26 1,585M to FY30 1,681M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Total assets: FY26 7,691M to FY30 7,447M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Total liabilities: FY26 3,282M to FY30 3,594M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Total equity: FY26 4,659M to FY30 5,103M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Funded debt: $0 (no term debt in model)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401568"/>
          <a:ext cx="1129284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258644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US$ M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22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23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24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25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26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27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28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29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30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Cash &amp; equivalents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1,155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2,244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1,984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1,807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2,143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2,325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2,567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2,874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3,247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Inventories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1,447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1,324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1,442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1,701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1,585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1,608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1,632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1,657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1,681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Total assets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5,607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7,092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7,603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8,457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7,691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7,624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7,560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7,502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7,447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Total liabilities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2,458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2,860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3,279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3,495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3,282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3,357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3,434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3,513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3,594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5864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Total equity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3,149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4,232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4,324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4,962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4,659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4,766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4,876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4,988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5,103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5864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Funded debt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5248656"/>
          <a:ext cx="1129284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4800600"/>
                <a:gridCol w="4800600"/>
              </a:tblGrid>
              <a:tr h="124097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Line item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Hist source (22-25)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Fcst source, Scenarios col G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Cash &amp; equivalents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BS, Cash &amp; equivalents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Scenarios!G163:G167 (pitch bridge cash roll-forward)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Inventories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BS, Inventories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Scenarios!G80:G84 (NWC schedule)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Total assets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BS, Total assets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Scenarios!G168:G172 (FY25 TA × rev growth)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Total liabilities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BS, Total liabilities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Scenarios!G173:G177 (FY25 TL × rev growth)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124097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Total equity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BS, Total equity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Scenarios!G178:G182 (FY25 TE × rev growth)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124098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Funded debt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BS, Long-term debt ($0)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Model assumption, $0 (no term debt)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Financials |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Operating FCF (DCF input) vs financing: historical 10-K vs base case (US$ M)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Buybacks: $750M/yr fixed (Scenarios col G). Cash roll-forward = prior cash + FCF − buybacks.  Hist = 10-K. Forecast (26-30) = DCF Scenarios pitch-bridge block, col G (base case only). Per-row model refs shown under line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52144"/>
            <a:ext cx="5532120" cy="2121408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HISTORICALS (FY2022-FY2025) | SEC 10-K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1000" b="0" i="0">
                <a:solidFill>
                  <a:srgbClr val="262626"/>
                </a:solidFill>
                <a:latin typeface="Garamond"/>
                <a:cs typeface="Garamond"/>
              </a:rPr>
              <a:t>Cash from operations: FY22 966M to FY25 1,602M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1000" b="0" i="0">
                <a:solidFill>
                  <a:srgbClr val="262626"/>
                </a:solidFill>
                <a:latin typeface="Garamond"/>
                <a:cs typeface="Garamond"/>
              </a:rPr>
              <a:t>D&amp;A (add-back): FY22 292M to FY25 496M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1000" b="0" i="0">
                <a:solidFill>
                  <a:srgbClr val="262626"/>
                </a:solidFill>
                <a:latin typeface="Garamond"/>
                <a:cs typeface="Garamond"/>
              </a:rPr>
              <a:t>Capital expenditures: FY25 (681) outflow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1000" b="0" i="0">
                <a:solidFill>
                  <a:srgbClr val="262626"/>
                </a:solidFill>
                <a:latin typeface="Garamond"/>
                <a:cs typeface="Garamond"/>
              </a:rPr>
              <a:t>Free cash flow: FY25 922M (CFO − capex)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1000" b="0" i="0">
                <a:solidFill>
                  <a:srgbClr val="262626"/>
                </a:solidFill>
                <a:latin typeface="Garamond"/>
                <a:cs typeface="Garamond"/>
              </a:rPr>
              <a:t>Share repurchases (CFF): FY25 (1,178) outflow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52144"/>
            <a:ext cx="5532120" cy="212140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FFC72C"/>
                </a:solidFill>
                <a:latin typeface="Garamond"/>
                <a:cs typeface="Garamond"/>
              </a:rPr>
              <a:t>FORECAST (FY2026E-FY2030E) | base case (Scenarios col G)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1000" b="0" i="0">
                <a:solidFill>
                  <a:srgbClr val="FFFFFF"/>
                </a:solidFill>
                <a:latin typeface="Garamond"/>
                <a:cs typeface="Garamond"/>
              </a:rPr>
              <a:t>Cash from operations: FY26 1,660M to FY30 1,751M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1000" b="0" i="0">
                <a:solidFill>
                  <a:srgbClr val="FFFFFF"/>
                </a:solidFill>
                <a:latin typeface="Garamond"/>
                <a:cs typeface="Garamond"/>
              </a:rPr>
              <a:t>D&amp;A (add-back): FY26 469M to FY30 514M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1000" b="0" i="0">
                <a:solidFill>
                  <a:srgbClr val="FFFFFF"/>
                </a:solidFill>
                <a:latin typeface="Garamond"/>
                <a:cs typeface="Garamond"/>
              </a:rPr>
              <a:t>Capital expenditures: FY26 (573) to FY30 (628)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1000" b="0" i="0">
                <a:solidFill>
                  <a:srgbClr val="FFFFFF"/>
                </a:solidFill>
                <a:latin typeface="Garamond"/>
                <a:cs typeface="Garamond"/>
              </a:rPr>
              <a:t>Free cash flow: FY26 1,087M to FY30 1,123M</a:t>
            </a:r>
          </a:p>
          <a:p>
            <a:pPr algn="l" indent="-152400" marL="177800">
              <a:spcBef>
                <a:spcPts val="0"/>
              </a:spcBef>
              <a:spcAft>
                <a:spcPts val="100"/>
              </a:spcAft>
              <a:buFont typeface="Garamond"/>
              <a:buChar char="•"/>
            </a:pPr>
            <a:r>
              <a:rPr sz="1000" b="0" i="0">
                <a:solidFill>
                  <a:srgbClr val="FFFFFF"/>
                </a:solidFill>
                <a:latin typeface="Garamond"/>
                <a:cs typeface="Garamond"/>
              </a:rPr>
              <a:t>Share repurchases (CFF): FY26 (750) to FY30 (750)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401568"/>
          <a:ext cx="1129284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US$ M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22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23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24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25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26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27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28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29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30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Cash from operations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966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2,296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2,273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1,602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1,660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1,518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1,593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1,670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1,751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D&amp;A (add-back)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292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379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447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496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469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480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491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502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514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Capital expenditures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(639)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(652)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(689)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(681)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(573)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(587)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(600)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(614)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(628)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Free cash flow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328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1,644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1,583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922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1,087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931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993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1,056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1,123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Share repurchases (CFF)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(444)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(559)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(1,637)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(1,178)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(750)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(750)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(750)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(750)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(750)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5248656"/>
          <a:ext cx="1129284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4800600"/>
                <a:gridCol w="4800600"/>
              </a:tblGrid>
              <a:tr h="144780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Line item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Hist source (22-25)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Fcst source, Scenarios col G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144780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Cash from operations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CF, Operating activities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Scenarios!G148:G152 (pitch bridge CFO)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144780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D&amp;A (add-back)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CF, Depreciation &amp; amortization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Scenarios!G55:G59 (D&amp;A yr 1-5)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144780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Capital expenditures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CF, Capital expenditures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Scenarios!G60:G64 (Capex yr 1-5)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144780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Free cash flow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CF, CFO − capex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Scenarios!G153:G157 (pitch bridge FCF/CFS)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144780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Share repurchases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CF, Repurchases (financing)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Scenarios!G158:G162 (G21=$750M/yr fixed)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Financials | Capital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Cap stack and WACC build: lease-adjusted; no funded term debt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Cap stack &amp; WACC: LULU_DCF_Valuation_Model.xlsx, WACC tab (col E). Cash/leases: FY2025 10-K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33856"/>
            <a:ext cx="548640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CAPITAL STACK (US$ 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133856"/>
            <a:ext cx="56235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WACC BUILD (CAPM)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53312"/>
          <a:ext cx="5532118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1463039"/>
                <a:gridCol w="1463039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Component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US$ M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WACC weight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Market equity (price × shares)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11,138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86.1%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ASC 842 operating lease liabilities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1,798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13.9%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Funded debt (term loans / bonds)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0.0%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Total capital (WACC basis)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12,936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100.0%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2615184"/>
            <a:ext cx="553212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990000"/>
                </a:solidFill>
                <a:latin typeface="Garamond"/>
                <a:cs typeface="Garamond"/>
              </a:rPr>
              <a:t>EV BRIDGE (NOT IN WACC WEIGHTS)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816352"/>
          <a:ext cx="5532118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1463039"/>
                <a:gridCol w="1463039"/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Component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US$ M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Note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Cash &amp; equivalents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1,807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Added back in EV, equity bridge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Net debt (leases − cash)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-9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Near net-cash; leases in WACC above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3767328"/>
            <a:ext cx="5532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1">
                <a:solidFill>
                  <a:srgbClr val="262626"/>
                </a:solidFill>
                <a:latin typeface="Garamond"/>
                <a:cs typeface="Garamond"/>
              </a:rPr>
              <a:t>No funded bank debt; ASC 842 store leases are the only debt equivalent (~14% WACC weight). Cash $1,807M exceeds lease debt, net-cash on a funded-debt basis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5623560" cy="3227832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99632" y="1426464"/>
          <a:ext cx="5468112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04872"/>
              </a:tblGrid>
              <a:tr h="22555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Input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Value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Risk-free rate (10-yr UST)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4.80%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Equity risk premium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6.00%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Tax rate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30.00%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Beta (relevered; lease adj.)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0.84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Cost of equity (CAPM)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9.86%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Pre-tax Kd (lease-equivalent)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5.00%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After-tax Kd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3.50%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Equity / debt weight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86.1% / 13.9%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63640" y="3547872"/>
            <a:ext cx="534924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1">
                <a:solidFill>
                  <a:srgbClr val="262626"/>
                </a:solidFill>
                <a:latin typeface="Garamond"/>
                <a:cs typeface="Garamond"/>
              </a:rPr>
              <a:t>β: Yahoo βL 0.86 to unlevered 0.76 @ D/E 0.19 to relever 0.84 @ lease D/E 0.16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785615"/>
            <a:ext cx="5623560" cy="768096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Garamond"/>
                <a:cs typeface="Garamond"/>
              </a:rPr>
              <a:t>WACC = 8.98%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Base-case discount rate: Scenarios col G · implied price $134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26864"/>
            <a:ext cx="112928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990000"/>
                </a:solidFill>
                <a:latin typeface="Garamond"/>
                <a:cs typeface="Garamond"/>
              </a:rPr>
              <a:t>MODEL SOURCE MAP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4809744"/>
          <a:ext cx="5532120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337560"/>
              </a:tblGrid>
              <a:tr h="94052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Cap stack line item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DCF model source (WACC tab, col E)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94052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Market equity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WACC!E10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94052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ASC 842 operating leases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WACC!E11 (FY25 10-K)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94052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Funded debt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WACC!E13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94052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Total capital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WACC!E14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94052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Cash &amp; equivalents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10-K BS, Cash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94056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Net debt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DCF EV bridge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199632" y="4809744"/>
          <a:ext cx="5468112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73552"/>
              </a:tblGrid>
              <a:tr h="98755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WACC input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DCF model source (WACC tab, col E)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98755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Risk-free rate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98755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Equity risk premium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98755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Tax rate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98755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Beta (relevered)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WACC!E25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98755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Cost of equity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WACC!E32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98755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Pre-tax Kd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WACC!E35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98755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After-tax Kd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WACC!E36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98755"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Equity / debt weights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WACC!E39 / WACC!E40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98757">
                <a:tc>
                  <a:txBody>
                    <a:bodyPr wrap="square"/>
                    <a:lstStyle/>
                    <a:p>
                      <a:pPr algn="l"/>
                      <a:r>
                        <a:rPr sz="7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WACC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WACC!E41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Valuation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Football field: implied share-price ranges by methodology (base case DCF)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Source: LULU_DCF_Valuation_Model.xlsx, Comps / football field tab; geographic SOTP on FY30E base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261872"/>
            <a:ext cx="12700" cy="3977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5285232"/>
            <a:ext cx="5029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$50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65018" y="1261872"/>
            <a:ext cx="12700" cy="3977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36418" y="5285232"/>
            <a:ext cx="5029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$100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66797" y="1261872"/>
            <a:ext cx="12700" cy="3977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8197" y="5285232"/>
            <a:ext cx="5029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$150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68576" y="1261872"/>
            <a:ext cx="12700" cy="3977639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39976" y="5285232"/>
            <a:ext cx="5029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$200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399032"/>
            <a:ext cx="25146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1F2A44"/>
                </a:solidFill>
                <a:latin typeface="Garamond"/>
                <a:cs typeface="Garamond"/>
              </a:rPr>
              <a:t>P / E (10-18x FY2026E)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8876" y="1417320"/>
            <a:ext cx="3390739" cy="384048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1676" y="1417320"/>
            <a:ext cx="420624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F2A44"/>
                </a:solidFill>
                <a:latin typeface="Garamond"/>
                <a:cs typeface="Garamond"/>
              </a:rPr>
              <a:t>$96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7904" y="1417320"/>
            <a:ext cx="7772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F2A44"/>
                </a:solidFill>
                <a:latin typeface="Garamond"/>
                <a:cs typeface="Garamond"/>
              </a:rPr>
              <a:t>$173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057400"/>
            <a:ext cx="25146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1F2A44"/>
                </a:solidFill>
                <a:latin typeface="Garamond"/>
                <a:cs typeface="Garamond"/>
              </a:rPr>
              <a:t>EV / EBITDA (5.0-8.0x FY30E)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1694" y="2075688"/>
            <a:ext cx="2686170" cy="384048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44494" y="2075688"/>
            <a:ext cx="420624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F2A44"/>
                </a:solidFill>
                <a:latin typeface="Garamond"/>
                <a:cs typeface="Garamond"/>
              </a:rPr>
              <a:t>$119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6153" y="2075688"/>
            <a:ext cx="7772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F2A44"/>
                </a:solidFill>
                <a:latin typeface="Garamond"/>
                <a:cs typeface="Garamond"/>
              </a:rPr>
              <a:t>$180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715768"/>
            <a:ext cx="25146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1F2A44"/>
                </a:solidFill>
                <a:latin typeface="Garamond"/>
                <a:cs typeface="Garamond"/>
              </a:rPr>
              <a:t>Geographic SOTP (FY30E; Gordon anchor)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82406" y="2734056"/>
            <a:ext cx="792640" cy="384048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5206" y="2734056"/>
            <a:ext cx="420624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F2A44"/>
                </a:solidFill>
                <a:latin typeface="Garamond"/>
                <a:cs typeface="Garamond"/>
              </a:rPr>
              <a:t>$139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3334" y="2734056"/>
            <a:ext cx="7772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F2A44"/>
                </a:solidFill>
                <a:latin typeface="Garamond"/>
                <a:cs typeface="Garamond"/>
              </a:rPr>
              <a:t>$157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374136"/>
            <a:ext cx="25146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1F2A44"/>
                </a:solidFill>
                <a:latin typeface="Garamond"/>
                <a:cs typeface="Garamond"/>
              </a:rPr>
              <a:t>Unlevered DCF (base / Gordon 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48512" y="3429000"/>
            <a:ext cx="38100" cy="310896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8180" y="3191256"/>
            <a:ext cx="768096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F2A44"/>
                </a:solidFill>
                <a:latin typeface="Garamond"/>
                <a:cs typeface="Garamond"/>
              </a:rPr>
              <a:t>$134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032504"/>
            <a:ext cx="25146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1F2A44"/>
                </a:solidFill>
                <a:latin typeface="Garamond"/>
                <a:cs typeface="Garamond"/>
              </a:rPr>
              <a:t>52-week range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65018" y="4050791"/>
            <a:ext cx="5548482" cy="384048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7818" y="4050791"/>
            <a:ext cx="420624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F2A44"/>
                </a:solidFill>
                <a:latin typeface="Garamond"/>
                <a:cs typeface="Garamond"/>
              </a:rPr>
              <a:t>$100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1789" y="4050791"/>
            <a:ext cx="7772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F2A44"/>
                </a:solidFill>
                <a:latin typeface="Garamond"/>
                <a:cs typeface="Garamond"/>
              </a:rPr>
              <a:t>$226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65018" y="1325880"/>
            <a:ext cx="25400" cy="3886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26442" y="1325880"/>
            <a:ext cx="25400" cy="38862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6378" y="1115568"/>
            <a:ext cx="109728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262626"/>
                </a:solidFill>
                <a:latin typeface="Garamond"/>
                <a:cs typeface="Garamond"/>
              </a:rPr>
              <a:t>Current $100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6362" y="1115568"/>
            <a:ext cx="109728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990000"/>
                </a:solidFill>
                <a:latin typeface="Garamond"/>
                <a:cs typeface="Garamond"/>
              </a:rPr>
              <a:t>Target $140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596128"/>
            <a:ext cx="11292840" cy="8046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12-month target $140 sits above base-case DCF $134 and inside the comps/SOTP ranges: a partial re-rating, not a return to peak multiples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262626"/>
                </a:solidFill>
                <a:latin typeface="Garamond"/>
                <a:cs typeface="Garamond"/>
              </a:rPr>
              <a:t>DCF row = Scenarios col G (Gordon growth). Bear $56 / bull $202 bracket scenario range from the model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Sum of the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Geographic segments on FY30E base revenue: EV/EBITDA spreads vs Gordon-implied exit (7.4x)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Segment revenue: FY2025 10-K geography; FY30E scaled to base-case consolidated revenue (Scenarios col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97280"/>
          <a:ext cx="1129284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865376"/>
                <a:gridCol w="1865376"/>
                <a:gridCol w="1865376"/>
                <a:gridCol w="1865376"/>
                <a:gridCol w="1865376"/>
              </a:tblGrid>
              <a:tr h="348615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Segment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FY30E rev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EBITDA %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FY30E EBITDA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EV/EBITDA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Segment EV ($M)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Americas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8,070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16.5%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1,551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6.4x-7.1x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9,924-11,010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China Mainland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1,805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19.5%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410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7.9x-9.4x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3,238-3,852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Rest of World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1,543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18.0%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324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7.1x-8.1x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2,297-2,621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Total segment EV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11,418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/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2,284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6.8x-7.7x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15,459-17,483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Corporate / HQ (no separate carve-out)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/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/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/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+ Cash / − lease debt (EV bridge)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/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/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/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+1,807 / −1,798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Implied equity value / share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/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/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/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$139-$157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005072"/>
            <a:ext cx="7132320" cy="1691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200" b="1" i="0">
                <a:solidFill>
                  <a:srgbClr val="990000"/>
                </a:solidFill>
                <a:latin typeface="Garamond"/>
                <a:cs typeface="Garamond"/>
              </a:rPr>
              <a:t>Methodology</a:t>
            </a:r>
          </a:p>
          <a:p>
            <a:pPr algn="l" indent="-152400" marL="177800">
              <a:spcBef>
                <a:spcPts val="0"/>
              </a:spcBef>
              <a:spcAft>
                <a:spcPts val="300"/>
              </a:spcAft>
              <a:buFont typeface="Garamond"/>
              <a:buChar char="•"/>
            </a:pPr>
            <a:r>
              <a:rPr sz="1050" b="0" i="0">
                <a:solidFill>
                  <a:srgbClr val="262626"/>
                </a:solidFill>
                <a:latin typeface="Garamond"/>
                <a:cs typeface="Garamond"/>
              </a:rPr>
              <a:t>Single-brand retailer: geography is the cleanest SOTP cut (Americas / China / RoW per 10-K)</a:t>
            </a:r>
          </a:p>
          <a:p>
            <a:pPr algn="l" indent="-152400" marL="177800">
              <a:spcBef>
                <a:spcPts val="0"/>
              </a:spcBef>
              <a:spcAft>
                <a:spcPts val="300"/>
              </a:spcAft>
              <a:buFont typeface="Garamond"/>
              <a:buChar char="•"/>
            </a:pPr>
            <a:r>
              <a:rPr sz="1050" b="0" i="0">
                <a:solidFill>
                  <a:srgbClr val="262626"/>
                </a:solidFill>
                <a:latin typeface="Garamond"/>
                <a:cs typeface="Garamond"/>
              </a:rPr>
              <a:t>FY30E segment revenue = FY25 geo mix × base-case consolidated FY30 revenue (Scenarios col G)</a:t>
            </a:r>
          </a:p>
          <a:p>
            <a:pPr algn="l" indent="-152400" marL="177800">
              <a:spcBef>
                <a:spcPts val="0"/>
              </a:spcBef>
              <a:spcAft>
                <a:spcPts val="300"/>
              </a:spcAft>
              <a:buFont typeface="Garamond"/>
              <a:buChar char="•"/>
            </a:pPr>
            <a:r>
              <a:rPr sz="1050" b="0" i="0">
                <a:solidFill>
                  <a:srgbClr val="262626"/>
                </a:solidFill>
                <a:latin typeface="Garamond"/>
                <a:cs typeface="Garamond"/>
              </a:rPr>
              <a:t>Segment EV/EBITDA spreads anchor to Gordon-implied exit 7.4x (selected DCF TV identity: not the 5-8x comps football-field band)</a:t>
            </a:r>
          </a:p>
          <a:p>
            <a:pPr algn="l" indent="-152400" marL="177800">
              <a:spcBef>
                <a:spcPts val="0"/>
              </a:spcBef>
              <a:spcAft>
                <a:spcPts val="300"/>
              </a:spcAft>
              <a:buFont typeface="Garamond"/>
              <a:buChar char="•"/>
            </a:pPr>
            <a:r>
              <a:rPr sz="1050" b="0" i="0">
                <a:solidFill>
                  <a:srgbClr val="262626"/>
                </a:solidFill>
                <a:latin typeface="Garamond"/>
                <a:cs typeface="Garamond"/>
              </a:rPr>
              <a:t>Americas: Gordon − 1.0x to − 0.25x (mature); China: +0.5x to +2.0x (growth); RoW: −0.25x to +0.75x</a:t>
            </a:r>
          </a:p>
          <a:p>
            <a:pPr algn="l" indent="-152400" marL="177800">
              <a:spcBef>
                <a:spcPts val="0"/>
              </a:spcBef>
              <a:spcAft>
                <a:spcPts val="300"/>
              </a:spcAft>
              <a:buFont typeface="Garamond"/>
              <a:buChar char="•"/>
            </a:pPr>
            <a:r>
              <a:rPr sz="1050" b="0" i="0">
                <a:solidFill>
                  <a:srgbClr val="262626"/>
                </a:solidFill>
                <a:latin typeface="Garamond"/>
                <a:cs typeface="Garamond"/>
              </a:rPr>
              <a:t>Consolidated base-case DCF $134 uses Gordon growth (g=2.25%); SOTP is terminal-year EBITDA triangulation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4005072"/>
            <a:ext cx="3977639" cy="141732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>
                <a:solidFill>
                  <a:srgbClr val="990000"/>
                </a:solidFill>
                <a:latin typeface="Garamond"/>
                <a:cs typeface="Garamond"/>
              </a:rPr>
              <a:t>SOTP vs DCF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300" b="1" i="0">
                <a:solidFill>
                  <a:srgbClr val="1F2A44"/>
                </a:solidFill>
                <a:latin typeface="Garamond"/>
                <a:cs typeface="Garamond"/>
              </a:rPr>
              <a:t>SOTP range: $139-$157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300" b="1" i="0">
                <a:solidFill>
                  <a:srgbClr val="1F2A44"/>
                </a:solidFill>
                <a:latin typeface="Garamond"/>
                <a:cs typeface="Garamond"/>
              </a:rPr>
              <a:t>Base-case DCF: $134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262626"/>
                </a:solidFill>
                <a:latin typeface="Garamond"/>
                <a:cs typeface="Garamond"/>
              </a:rPr>
              <a:t>Overlap is expected: SOTP applies FY30 EBITDA multiples; DCF discounts explicit FCF + Gordon growth TV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DCF 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>
                <a:solidFill>
                  <a:srgbClr val="8C8C8C"/>
                </a:solidFill>
                <a:latin typeface="Garamond"/>
                <a:cs typeface="Garamond"/>
              </a:rPr>
              <a:t>Base-case unlevered DCF (Scenarios col G): Gordon growth terminal value; 7.4x is implied exit identity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Source: LULU_DCF_Valuation_Model.xlsx, Scenarios col G + DCF 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33856"/>
            <a:ext cx="566928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BASE-CASE ASSUMPTIONS (SCENARIOS COL G)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53312"/>
          <a:ext cx="56235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423160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Assumption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Value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FY2026 revenue growth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-6.1%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FY2027-30 revenue growth (avg)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+2.3%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Clean EBIT margin (FY26 run-rate)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13.2%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Terminal EBIT margin (FY2030E)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15.5%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FY26 tariff refunds (one-time)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$134.5M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Cash tax rate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30%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Capex % of revenue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5.5%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WACC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9.0%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Terminal growth (g)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2.25%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Gordon-implied exit EV/EBITDA (identity)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7.4x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950208"/>
            <a:ext cx="562356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990000"/>
                </a:solidFill>
                <a:latin typeface="Garamond"/>
                <a:cs typeface="Garamond"/>
              </a:rPr>
              <a:t>TERMINAL VALUE | GORDON GROWTH (SELECTED)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187952"/>
          <a:ext cx="562356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965960"/>
                <a:gridCol w="1965960"/>
              </a:tblGrid>
              <a:tr h="280416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Method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Formula / input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FY30 TV ($M)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Gordon growth (selected)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FCF₅ × (1+g) / (WACC−g); g=2.25%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16,804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Exit multiple (identity check)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FY30 EBITDA × 7.4x = Gordon TV ÷ EBITDA (same number)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16,804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263640" y="1234440"/>
            <a:ext cx="5486400" cy="233172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VALUATION OUTPUT (US$ M)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Garamond"/>
                <a:cs typeface="Garamond"/>
              </a:rPr>
              <a:t>PV of explicit FCF (FY26-FY30)</a:t>
            </a:r>
            <a:r>
              <a:rPr sz="1050" b="1" i="0">
                <a:solidFill>
                  <a:srgbClr val="1F2A44"/>
                </a:solidFill>
                <a:latin typeface="Garamond"/>
                <a:cs typeface="Garamond"/>
              </a:rPr>
              <a:t>  3,944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Garamond"/>
                <a:cs typeface="Garamond"/>
              </a:rPr>
              <a:t>PV of terminal value</a:t>
            </a:r>
            <a:r>
              <a:rPr sz="1050" b="1" i="0">
                <a:solidFill>
                  <a:srgbClr val="1F2A44"/>
                </a:solidFill>
                <a:latin typeface="Garamond"/>
                <a:cs typeface="Garamond"/>
              </a:rPr>
              <a:t>  10,933</a:t>
            </a:r>
          </a:p>
          <a:p>
            <a:pPr>
              <a:spcAft>
                <a:spcPts val="300"/>
              </a:spcAft>
            </a:pPr>
            <a:r>
              <a:rPr sz="1050" b="1" i="0">
                <a:solidFill>
                  <a:srgbClr val="262626"/>
                </a:solidFill>
                <a:latin typeface="Garamond"/>
                <a:cs typeface="Garamond"/>
              </a:rPr>
              <a:t>Enterprise value</a:t>
            </a:r>
            <a:r>
              <a:rPr sz="1050" b="1" i="0">
                <a:solidFill>
                  <a:srgbClr val="1F2A44"/>
                </a:solidFill>
                <a:latin typeface="Garamond"/>
                <a:cs typeface="Garamond"/>
              </a:rPr>
              <a:t>  14,876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Garamond"/>
                <a:cs typeface="Garamond"/>
              </a:rPr>
              <a:t>Plus: cash</a:t>
            </a:r>
            <a:r>
              <a:rPr sz="1050" b="1" i="0">
                <a:solidFill>
                  <a:srgbClr val="1F2A44"/>
                </a:solidFill>
                <a:latin typeface="Garamond"/>
                <a:cs typeface="Garamond"/>
              </a:rPr>
              <a:t>  1,807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Garamond"/>
                <a:cs typeface="Garamond"/>
              </a:rPr>
              <a:t>Less: lease debt (ASC 842)</a:t>
            </a:r>
            <a:r>
              <a:rPr sz="1050" b="1" i="0">
                <a:solidFill>
                  <a:srgbClr val="1F2A44"/>
                </a:solidFill>
                <a:latin typeface="Garamond"/>
                <a:cs typeface="Garamond"/>
              </a:rPr>
              <a:t>  (1,798)</a:t>
            </a:r>
          </a:p>
          <a:p>
            <a:pPr>
              <a:spcAft>
                <a:spcPts val="300"/>
              </a:spcAft>
            </a:pPr>
            <a:r>
              <a:rPr sz="1050" b="1" i="0">
                <a:solidFill>
                  <a:srgbClr val="262626"/>
                </a:solidFill>
                <a:latin typeface="Garamond"/>
                <a:cs typeface="Garamond"/>
              </a:rPr>
              <a:t>Equity value</a:t>
            </a:r>
            <a:r>
              <a:rPr sz="1050" b="1" i="0">
                <a:solidFill>
                  <a:srgbClr val="1F2A44"/>
                </a:solidFill>
                <a:latin typeface="Garamond"/>
                <a:cs typeface="Garamond"/>
              </a:rPr>
              <a:t>  14,885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Garamond"/>
                <a:cs typeface="Garamond"/>
              </a:rPr>
              <a:t>÷ Diluted shares (M)</a:t>
            </a:r>
            <a:r>
              <a:rPr sz="1050" b="1" i="0">
                <a:solidFill>
                  <a:srgbClr val="1F2A44"/>
                </a:solidFill>
                <a:latin typeface="Garamond"/>
                <a:cs typeface="Garamond"/>
              </a:rPr>
              <a:t>  111.4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1E7A3C"/>
                </a:solidFill>
                <a:latin typeface="Garamond"/>
                <a:cs typeface="Garamond"/>
              </a:rPr>
              <a:t>Implied value:  $134 / share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703320"/>
            <a:ext cx="5486400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Garamond"/>
                <a:cs typeface="Garamond"/>
              </a:rPr>
              <a:t>TV = 73% of EV  ·  7.4x = Gordon TV ÷ FY30 EBITDA $2,284M (not a peer pick)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FFFFFF"/>
                </a:solidFill>
                <a:latin typeface="Garamond"/>
                <a:cs typeface="Garamond"/>
              </a:rPr>
              <a:t>Selected TV is Gordon growth (g). The 7.4x exit multiple is the identity check (TV ÷ FY30 EBITDA), not a peer average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02352"/>
            <a:ext cx="112928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990000"/>
                </a:solidFill>
                <a:latin typeface="Garamond"/>
                <a:cs typeface="Garamond"/>
              </a:rPr>
              <a:t>SENSITIVITY | IMPLIED SHARE PRICE (WACC vs TERMINAL g)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5303520"/>
          <a:ext cx="676656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70432"/>
                <a:gridCol w="1170432"/>
                <a:gridCol w="1170432"/>
                <a:gridCol w="1170432"/>
                <a:gridCol w="1170432"/>
              </a:tblGrid>
              <a:tr h="19751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WACC \ g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1.5%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2.0%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2.25%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2.5%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3.0%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19751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9.5%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$115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$121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$124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$127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$135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19751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10.0%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$108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$113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$116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$119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$125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19751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10.5%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$102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$106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$109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$111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$117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19751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11.0%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$97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$100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$103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$105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$110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406640" y="5303520"/>
            <a:ext cx="4343400" cy="9875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>
                <a:solidFill>
                  <a:srgbClr val="990000"/>
                </a:solidFill>
                <a:latin typeface="Garamond"/>
                <a:cs typeface="Garamond"/>
              </a:rPr>
              <a:t>Base-case cell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62626"/>
                </a:solidFill>
                <a:latin typeface="Garamond"/>
                <a:cs typeface="Garamond"/>
              </a:rPr>
              <a:t>WACC 9.0% × g 2.25% gives $134. Grid brackets ±100bps WACC and 1.5-3.0% 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Comps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Implied LULU valuation from PitchBook core athletic / apparel set (04-Sep-2026)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PitchBook Comps Set 04-Sep-2026 (EV, TTM EBITDA); revenue/EBIT from company filings; forward P/E from consensus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33856"/>
            <a:ext cx="65836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990000"/>
                </a:solidFill>
                <a:latin typeface="Garamond"/>
                <a:cs typeface="Garamond"/>
              </a:rPr>
              <a:t>COMPARABLE COMPANIES | TRADING MULTIPLES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35024"/>
          <a:ext cx="6629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00150"/>
                <a:gridCol w="1200150"/>
                <a:gridCol w="1200150"/>
                <a:gridCol w="1200150"/>
              </a:tblGrid>
              <a:tr h="243840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Company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EV/Rev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EV/EBITDA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EV/EBIT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P/E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adidas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1.51x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9.2x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18.6x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19.1x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Nike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1.27x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12.7x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15.9x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18.3x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Deckers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2.47x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7.9x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9.8x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12.1x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Crocs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1.74x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7.8x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7.8x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10.3x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Levi Strauss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1.52x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9.6x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18.1x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15.0x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Kontoor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2.01x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12.8x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15.4x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18.0x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Core median (ex-LULU)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1.63x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9.4x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15.7x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16.5x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LULU @ $100 (current)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1.07x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4.7x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5.0x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10.4x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269480" y="1133856"/>
            <a:ext cx="457200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990000"/>
                </a:solidFill>
                <a:latin typeface="Garamond"/>
                <a:cs typeface="Garamond"/>
              </a:rPr>
              <a:t>IMPLIED LULU VALUATION (CORE PEER MEDIAN)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269480" y="1335024"/>
          <a:ext cx="4617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73480"/>
                <a:gridCol w="1173480"/>
                <a:gridCol w="117348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Metric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Peer med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LULU base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Implied px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EV / Revenue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1.63x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$10,425M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$119-$231 (med $153)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EV / EBITDA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9.4x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$2,707M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$190-$311 (med $229)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EV / EBIT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15.7x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$2,211M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$155-$369 (med $311)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P / E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16.5x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$9.61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$99-$183 (med $158)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69480" y="3584448"/>
            <a:ext cx="461772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>
                <a:solidFill>
                  <a:srgbClr val="262626"/>
                </a:solidFill>
                <a:latin typeface="Garamond"/>
                <a:cs typeface="Garamond"/>
              </a:rPr>
              <a:t>Implied EV = peer median × LULU base (cols 2-3); P/E = median × EPS (no EV). EV + cash − lease debt ÷ shares = equity/sh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96512"/>
            <a:ext cx="1129284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Peer benchmark methodology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Garamond"/>
                <a:cs typeface="Garamond"/>
              </a:rPr>
              <a:t>Core peer set (NKE, ADS, DECK, CROX, LEVI, KTB) evaluates relative valuation using PitchBook data (04-Sep-2026). Implied equity = peer median × LULU base, EV, then + cash − ASC 842 lease debt ÷ shares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Multiples confirm severe undervaluation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Garamond"/>
                <a:cs typeface="Garamond"/>
              </a:rPr>
              <a:t>LULU trades at 1.07x EV/Revenue, 4.7x EV/EBITDA (PitchBook TTM), and 10.4x forward P/E vs core peer medians of 1.63x EV/Revenue, 9.4x EV/EBITDA, and 16.5x P/E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DCF terminal valuation discount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Garamond"/>
                <a:cs typeface="Garamond"/>
              </a:rPr>
              <a:t>Base-case DCF uses Gordon growth g = 2.25%, implying 7.4x FY30 EV/EBITDA exit multiple: well below the 9.4x peer median (right table uses TTM EBITDA)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Conservative target price re-rating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Garamond"/>
                <a:cs typeface="Garamond"/>
              </a:rPr>
              <a:t>Our $134 base-case DCF and $140 12-month target (+6 vs DCF, ~4% above model fair value) reflect undervaluation with only a modest re-rating: not Nike-level multiples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4937760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Investment Research Division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2A44"/>
                </a:solidFill>
                <a:latin typeface="Garamond"/>
                <a:cs typeface="Garamond"/>
              </a:rPr>
              <a:t>lululemon athletica (NASDAQ: LULU)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146304"/>
            <a:ext cx="6263640" cy="274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 wrap="square" tIns="12700" bIns="12700" lIns="101600" rIns="101600"/>
          <a:lstStyle/>
          <a:p>
            <a:pPr algn="r"/>
            <a:r>
              <a:rPr sz="1500" b="1" i="0">
                <a:solidFill>
                  <a:srgbClr val="FFFFFF"/>
                </a:solidFill>
                <a:latin typeface="Garamond"/>
                <a:cs typeface="Garamond"/>
              </a:rPr>
              <a:t>Precedent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8428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>
                <a:solidFill>
                  <a:srgbClr val="8C8C8C"/>
                </a:solidFill>
                <a:latin typeface="Garamond"/>
                <a:cs typeface="Garamond"/>
              </a:rPr>
              <a:t>Private-market context for athleisure M&amp;A: not used to imply a control premium on LULU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84280" cy="203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0652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8C8C8C"/>
                </a:solidFill>
                <a:latin typeface="Garamond"/>
                <a:cs typeface="Garamond"/>
              </a:rPr>
              <a:t>Source: Wolverine IR/SEC (Sweaty Betty); Bloomberg (Gymshark); BusinessWire/Reuters (Vuori); Reuters/Forbes (Alo)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8C8C8C"/>
                </a:solidFill>
                <a:latin typeface="Garamond"/>
                <a:cs typeface="Garamond"/>
              </a:rPr>
              <a:t>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70432"/>
          <a:ext cx="11292834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645919"/>
                <a:gridCol w="1645919"/>
                <a:gridCol w="1645919"/>
                <a:gridCol w="1645919"/>
                <a:gridCol w="1645919"/>
                <a:gridCol w="1645919"/>
              </a:tblGrid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Target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Year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Type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EV ($M)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EV/Rev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EV/EBITDA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Garamond"/>
                          <a:cs typeface="Garamond"/>
                        </a:rPr>
                        <a:t>Status</a:t>
                      </a:r>
                    </a:p>
                  </a:txBody>
                  <a:tcPr anchor="ctr" marL="76200" marR="76200" marT="25400" marB="25400">
                    <a:solidFill>
                      <a:srgbClr val="1F2A44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Sweaty Betty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2021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Closed acquisition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410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1.6x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16.0x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Closed Aug-2021; ~16x FY21E EBITDA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Gymshark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2020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Minority growth round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1,300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5.0x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Closed Aug-2020; $1.3bn EV (minority)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Vuori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2021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Growth investment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4,000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Closed Oct-2021; $4bn post-money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Alo Yoga (Color Image)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2023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Unclosed sale process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10,000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5.0x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62626"/>
                          </a:solidFill>
                          <a:latin typeface="Garamond"/>
                          <a:cs typeface="Garamond"/>
                        </a:rPr>
                        <a:t>Unclosed; no deal per Reuters Jun-2026</a:t>
                      </a:r>
                    </a:p>
                  </a:txBody>
                  <a:tcPr anchor="ctr" marL="76200" marR="76200" marT="25400" marB="25400">
                    <a:solidFill>
                      <a:srgbClr val="F0F1F3"/>
                    </a:solidFill>
                  </a:tcPr>
                </a:tc>
              </a:tr>
              <a:tr h="32766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LULU (public @ $100)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n/a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Public equity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11,129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1.07x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4.7x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2A44"/>
                          </a:solidFill>
                          <a:latin typeface="Garamond"/>
                          <a:cs typeface="Garamond"/>
                        </a:rPr>
                        <a:t>Trading comps only (not a premium benchmark)</a:t>
                      </a:r>
                    </a:p>
                  </a:txBody>
                  <a:tcPr anchor="ctr"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246120"/>
            <a:ext cx="7178040" cy="2331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i="0">
                <a:solidFill>
                  <a:srgbClr val="990000"/>
                </a:solidFill>
                <a:latin typeface="Garamond"/>
                <a:cs typeface="Garamond"/>
              </a:rPr>
              <a:t>Private precedent framework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950" b="0" i="0">
                <a:solidFill>
                  <a:srgbClr val="262626"/>
                </a:solidFill>
                <a:latin typeface="Garamond"/>
                <a:cs typeface="Garamond"/>
              </a:rPr>
              <a:t>Non-Alo private transactions establish a contextual floor of what strategics and PE pay for premium athleisure. They do not imply a control premium on LULU's public stock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i="0">
                <a:solidFill>
                  <a:srgbClr val="990000"/>
                </a:solidFill>
                <a:latin typeface="Garamond"/>
                <a:cs typeface="Garamond"/>
              </a:rPr>
              <a:t>Closed M&amp;A benchmark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950" b="0" i="0">
                <a:solidFill>
                  <a:srgbClr val="262626"/>
                </a:solidFill>
                <a:latin typeface="Garamond"/>
                <a:cs typeface="Garamond"/>
              </a:rPr>
              <a:t>Wolverine paid $410M (~16x EBITDA, ~1.6x sales) for Sweaty Betty (2021), a concrete operating-company precedent for women's DTC activewear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i="0">
                <a:solidFill>
                  <a:srgbClr val="990000"/>
                </a:solidFill>
                <a:latin typeface="Garamond"/>
                <a:cs typeface="Garamond"/>
              </a:rPr>
              <a:t>Growth capital rounds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950" b="0" i="0">
                <a:solidFill>
                  <a:srgbClr val="262626"/>
                </a:solidFill>
                <a:latin typeface="Garamond"/>
                <a:cs typeface="Garamond"/>
              </a:rPr>
              <a:t>Gymshark ($1.3B implied EV, 2020 minority stake) and Vuori ($4B post-money, 2021) show institutional demand and realistic baselines for premium DTC brands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i="0">
                <a:solidFill>
                  <a:srgbClr val="990000"/>
                </a:solidFill>
                <a:latin typeface="Garamond"/>
                <a:cs typeface="Garamond"/>
              </a:rPr>
              <a:t>Excluded unclosed process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950" b="0" i="0">
                <a:solidFill>
                  <a:srgbClr val="262626"/>
                </a:solidFill>
                <a:latin typeface="Garamond"/>
                <a:cs typeface="Garamond"/>
              </a:rPr>
              <a:t>Alo's ~$10B ask (~5.0x EV/Sales) is LULU's closest yoga peer, but unclosed private asks cannot dictate actual public equity valuation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246120"/>
            <a:ext cx="3977639" cy="123444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i="0">
                <a:solidFill>
                  <a:srgbClr val="990000"/>
                </a:solidFill>
                <a:latin typeface="Garamond"/>
                <a:cs typeface="Garamond"/>
              </a:rPr>
              <a:t>Valuation anchors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200" b="1" i="0">
                <a:solidFill>
                  <a:srgbClr val="1F2A44"/>
                </a:solidFill>
                <a:latin typeface="Garamond"/>
                <a:cs typeface="Garamond"/>
              </a:rPr>
              <a:t>DCF base: $134  |  Target: $140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>
                <a:solidFill>
                  <a:srgbClr val="262626"/>
                </a:solidFill>
                <a:latin typeface="Garamond"/>
                <a:cs typeface="Garamond"/>
              </a:rPr>
              <a:t>Private precedents inform strategic context only; public comps on the prior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