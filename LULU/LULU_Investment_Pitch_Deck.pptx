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"/>
                <a:gridCol w="4974336"/>
              </a:tblGrid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Slide</a:t>
                      </a:r>
                    </a:p>
                  </a:txBody>
                  <a:tcPr anchor="ctr" marL="54864" marR="76200" marT="18288" marB="18288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"/>
                <a:gridCol w="4974336"/>
              </a:tblGrid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/>
                        <a:t>Slide</a:t>
                      </a:r>
                    </a:p>
                  </a:txBody>
                  <a:tcPr anchor="ctr" marL="54864" marR="76200" marT="18288" marB="18288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13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15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17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19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20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21</a:t>
                      </a:r>
                    </a:p>
                  </a:txBody>
                  <a:tcPr anchor="ctr" marL="45720" marR="45720" marT="18288" marB="18288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54864" marR="76200" marT="18288" marB="18288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 wrap="none"/>
                    <a:lstStyle/>
                    <a:p>
                      <a:pPr algn="ctr"/>
                      <a:r>
                        <a:rPr sz="900"/>
                        <a:t>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54864" marR="7620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C. EPS = net income / diluted shares after $750M/yr repurchases (DCF $133.52 still uses 111.4M day-one basic shares).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C). Cash roll-forward = prior cash + FCF − buybacks.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