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 &amp; bull operating forecast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Reported figures from Forms 10-K; FY2025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Revenue $8,111M → $11,103M; OM peaked 23.7% (FY24); EPS $6.68 → $13.26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Share count 128.0M → 119.1M via buybacks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Base: FY26 10,425M rev / 14.5% OM → FY30 11,418M / 15.5%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Bull: FY26 10,658M (−4% guide) → FY30 13,456M; OM 15.8% → 19.0%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EPS $10.37 → $18.43 (DCF implied price $$202)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6EE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6EE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7EE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7EE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8EE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8EE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0EE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0EE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10,658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11,976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12,694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13,456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7,299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7,737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2,006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15.6%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1,408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10.37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18.43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Base = 3-statement model (Scenarios col G). Bull = Scenarios col H (−4% FY26, +6% avg FY27–30, 19% terminal EBIT margin). Bear case in Appendix.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 &amp; bull funded growth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No funded debt; FY25 cash $1,807M; total assets $8,457M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Net-cash balance sheet underpins downside at ~10x earnings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Lease-backed ROU assets ~$1.6B — not traditional debt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vs bull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Base cash 2,470M → 4,864M ($500M/yr buybacks)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cash 1,807M → 1,807M (75% UFCF to buybacks)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BS scaled from base WC drivers at bull revenue path; cash from UFCF waterfall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6EE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6EE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7EE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7EE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8EE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8EE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0EE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0EE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2,985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4,180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1,927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8,892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9,091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9,584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10,153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10,343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11,354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12,704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14,221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3,507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3,989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5,738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6,231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6,601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6,914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7,590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8,716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9,995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Base BS from integrated 3-statement model. Bull BS approximated from base at bull revenue + DCF bull UFCF cash build.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return of capital vs base &amp; bull FCF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FY25 CFO $1,603M; capex ($681M) → ~$922M FCF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Buybacks ($1,637M) FY24, ($1,178M) FY25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Historicals = reported CFS; no model overlay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vs bull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Base FCF $1,163M → $1,184M (3-statement)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FCF $1,281M → $1,711M (Scenarios unlevered FCF)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buybacks = 75% of UFCF; base = $500M/yr fixed in 3-statement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6EE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6EE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7EE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7EE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8EE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8EE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0EE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0EE bull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(480)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(606)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(960,922)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(879,543)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(1,002,364)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(1,136,528)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(1,282,942)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571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Bull CFO = NOPAT + D&amp;A + ΔNWC from Scenarios col H. Bull FCF = unlevered FCF (same definition as DCF).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