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III — Elite economics &amp; capital return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Risks &amp; mitigants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mid-single-digit growth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13.9% FY2026 trough.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$144; bear $91 (−9%) vs bull $239 (+139%)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10%, terminal growth 2.25%, terminal EBIT margin 15.5%) yields ~$144 — and even the bear case is ~$91, roughly the current price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mid-single-digit revenue growth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~3% growth by FY2028E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$10,793M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$11,450M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Historical results with our base-case forecast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10,845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11,730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5,890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6,804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1,837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1,108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FY2026E aligns with company guidance (revenue −6%, EPS ~$9.7); recovery driven by international growth and margin normalization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net-cash balance sheet underpins downside protection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1,521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8,919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10,700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13,147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9,475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No funded debt and a growing cash balance fund buybacks and international expansion — the core of our margin of safety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Durable free cash flow through the trough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filings; projections per GIS 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34440"/>
          <a:ext cx="11292837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95251"/>
                <a:gridCol w="1195251"/>
                <a:gridCol w="1195251"/>
                <a:gridCol w="1195251"/>
                <a:gridCol w="1195251"/>
                <a:gridCol w="1195251"/>
                <a:gridCol w="1195251"/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FY2026E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FY2028E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FY2030E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(542)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172200"/>
            <a:ext cx="112928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C8C8C"/>
                </a:solidFill>
                <a:latin typeface="Garamond"/>
                <a:cs typeface="Garamond"/>
              </a:rPr>
              <a:t>Free cash flow stays around $1B+ even in the FY2026 reset year, comfortably funding continued repurchases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~100% equity, net-cash structure drives a ~10%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Enterprise value ≈ equity value less cash; ~$9.3B EV at ~$100 per share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4.3%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Levered beta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0.95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100%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10.0%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1836" y="2240280"/>
            <a:ext cx="3302427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2552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8480" y="2926080"/>
            <a:ext cx="6695333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2101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$239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below the DCF base case of $144 to allow for execution risk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~$144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13.9% → 15.5%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5.0%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4,283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9,940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14,223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16,030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$144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$141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$144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$147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$154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LULU screens cheap on absolute and relative multiples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estimates; peer multiples are analyst approximations for illustration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280160"/>
          <a:ext cx="11292836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 (fwd)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Rev growth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Op margin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3.5x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−6% (FY26E)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~20%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~28x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low-single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~11%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~15x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mid-teens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On Holding (ONON)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~35x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20%+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~22x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mid-single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V.F. Corp (VFC)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~14x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flat/decl.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~8%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trades at a fraction of peer multiples despite sector-leading margins and a net-cash balance sheet — the discount reflects near-term growth fears, not structural inferiority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Even a partial re-rating toward the low end of the peer group (e.g., 6–7x EV/EBITDA) implies a materially higher share price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$91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−9%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$144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+45%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−6%; returns to ~+3% by FY2028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15.5%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10.0%;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$239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+139%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FY28–30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$155 — the risk/reward skews decisively to the upside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