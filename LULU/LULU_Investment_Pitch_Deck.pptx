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Macro × micro overlap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Thesis III — Elite economics &amp; capital return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Risks &amp; mitigants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Capital structure &amp; WACC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DCF valuation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Comparable companies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20.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mid-single-digit growth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(~15.2% reported in our IS).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$134; bear $56 (−44%) vs bull $202 (+102%)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Macro × Micro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discretionary macro air pocket collided with an Americas-specific slowdown — the stock prices both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FY2025 10-K (SEC EDGAR); Q2 FY2026 release (Sep 3, 2026); FRED GDPC1 (Aug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Macro (external)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Real GDP still grows ~2.1% y/y (FRED GDPC1 Q2’26 vs Q2’25) — not recession, but selective spending away from premium discretionary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Inflation and economic uncertainty weighed on Americas store traffic (10-K) — macro consumer caution shows up in micro footfall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Tariff regime: Q2 recognized $134.5M IEEPA refunds (+560 bps GM) while new tariff layers remain an overhang on sourcing costs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Athleisure competition intensifying at macro category level (Nike/adidas incumbents + Alo/Vuori/On challengers)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Micro (company-specific)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Americas comps: −3% FY2025 → −12% in Q2 FY2026; China +20% FY2025 but −6% in Q2 as the base scales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811 stores (+44 net FY2025) at ~$1,426/sq ft — still opening doors while mature-region comps turn negative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FY2026 guide: first annual revenue decline (−5% to −7%) and EPS $9.48–$9.73; Q3 guide −10% to −11%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Clean run-rate EBIT margin ~13.2% (Q2 18.8% OM minus 560 bps tariff boost) — investors who miss this overstate sustainable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051560"/>
            <a:ext cx="5486400" cy="5029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OVERLAP — WHY $100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Macro weakness maps onto LULU’s largest profit pool: Americas ~71% of FY25 revenue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Tariff is simultaneously macro policy and micro P&amp;L — Q2 optics mask run-rate margin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The de-rating blends macro fear with a micro guide miss; both are largely in the price at ~10x FY26E EPS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Our edge: underwrite trough economics (13.2% → 15.5% OM), not a return to 30x earnings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International micro growth (China/RoW) is the bridge — but needs macro stability, not a free option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9.0%, terminal growth 2.25%, terminal EBIT margin 15.5%) is in the model — bear is ~$56; downside is cushioned by net cash and FCF yield, not because bear brackets $100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mid-single-digit revenue growth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$10,942M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$11,452M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Historical results with our base-case forecast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11,452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6,642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1,853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2,112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15.40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FY2026E reported OM 15.2% = clean ~13.9% (56.5% GM − 42.5% SG&amp;A) plus $134.5M IEEPA refund (~+1.3 ppt). DCF uses the Q2 clean 13.2% run-rate as its trough.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net-cash balance sheet underpins downside protection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2,375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3,778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5,648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8,946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10,728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12,888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3,586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9,303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No funded debt and a growing cash balance fund buybacks and international expansion — the core of our margin of safety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Durable free cash flow through the trough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1,894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2,068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(730)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1,292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Free cash flow stays around $1B+ even in the FY2026 reset year, comfortably funding continued repurchases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Capital Structure &amp; WACC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lease-adjusted capital structure drives a ~9.0% discount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566928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Capital structure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No funded debt; an undrawn revolving credit facility provides liquidity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$1,807.2M cash and equivalents — a net-cash position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Market EV at ~$100 is ~$9.3B (~3.5× FY25 EBITDA); intrinsic DCF enterprise value is ~$15B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We relever Yahoo 5Y β (0.86) at FY25 ASC 842 lease debt ÷ market cap (~0.16 D/E) → β used ≈ 0.84. Damodaran Retail β (0.95) is shown for reference only.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Capital returned via buybacks (no dividend); FY2025 repurchases $1,178.3M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97280"/>
            <a:ext cx="5349240" cy="42062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Risk-free rate (10-yr UST)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4.8%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risk premium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6.0%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Beta (relevered; lease adj.)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0.84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Cost of equity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9.9%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Lease-debt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14%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86%</a:t>
            </a:r>
          </a:p>
          <a:p>
            <a:pPr>
              <a:spcBef>
                <a:spcPts val="4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WACC = 9.0%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Multiple methods converge above the current price — target $140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and comps models; multiples are analyst ranges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4674" y="1554480"/>
            <a:ext cx="348338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6345" y="15544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219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EV / EBITDA (4.5–7.5x)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95165" y="2240280"/>
            <a:ext cx="275956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3016" y="22402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(bear – bull)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5125" y="2926080"/>
            <a:ext cx="6604855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68268" y="29260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35629" y="3611880"/>
            <a:ext cx="5700080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3998" y="36118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5629" y="1417320"/>
            <a:ext cx="25400" cy="31089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45178" y="1417320"/>
            <a:ext cx="25400" cy="31089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5549" y="45262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5098" y="47548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We set a 12-month target of $140 — above the Gordon DCF of $134, for a partial re-rating toward historical multiples — implying ~40% upside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262626"/>
                </a:solidFill>
                <a:latin typeface="Garamond"/>
                <a:cs typeface="Garamond"/>
              </a:rPr>
              <a:t>The P/E low end (~$96) sits near today's price, showing how little recovery is required for the stock to work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yields ~$134 per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(from scratch); FY2025 cash &amp; share count per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Base-case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6304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growth (FY26 → FY30)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−6.1% → +2.3%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margin (FY26 → FY30)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13.2% clean → 15.5% (+$134.5M FY26)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5.5% blend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1463040"/>
            <a:ext cx="5349240" cy="2743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3,944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10,933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14,876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1,807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14,885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111.4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112928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growth)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892040"/>
          <a:ext cx="69494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  <a:gridCol w="1158240"/>
                <a:gridCol w="1158240"/>
                <a:gridCol w="1158240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>
                    <a:solidFill>
                      <a:srgbClr val="FFC7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PitchBook pubcomps are the current tape; Alo still has no EV/EBITDA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PitchBook Comps Set 04-Sep-2026 (EV/EBITDA = daily EV / TTM EBITDA); Alo ask $10bn / Forbes ~$2bn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3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45969"/>
                <a:gridCol w="2045969"/>
                <a:gridCol w="2045969"/>
                <a:gridCol w="2045969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lululemon (LULU)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11,890,440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2,548,084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 (NKE)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58,972,350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4,647,000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 (ADS)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35,661,944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3,857,684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 (DECK)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10,555,510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1,329,439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 (CROX)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7,153,911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922,278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 (LEVI)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9,422,753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976,700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 (KTB)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5,236,269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407,521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(private)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n.a.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n.m.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54880"/>
            <a:ext cx="1129284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>
                <a:solidFill>
                  <a:srgbClr val="990000"/>
                </a:solidFill>
                <a:latin typeface="Garamond"/>
                <a:cs typeface="Garamond"/>
              </a:rPr>
              <a:t>Read-through — we do not average these for terminal value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PitchBook core mean (ex-UAA, ex-WSM/MOV/LZB) is the current athletic/apparel tape. UAA has negative EBITDA so it is out of the average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Selected TV is the Gordon identity (~7.4x FY30 EBITDA at base WACC/g). A 2.25% g year is not today’s NKE 12.7x or WSM 15.4x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EV/EBITDA is still n.a. Implied 5.0x is EV/Sales on an unclosed $10bn ask — not in this PitchBook set and not the TV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$56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−44%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11.0%;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$134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+34%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9.0%;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$202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+102%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$131 — the risk/reward skews decisively to the upside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Yoga: Reuters 2023 Moelis ask ~$10bn (no deal announced, Reuters 2026) and Forbes Color Image sales nearly $2bn. No page prints EV/EBITDA; implied 5.0x is EV/Sales, not the FY30 exit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