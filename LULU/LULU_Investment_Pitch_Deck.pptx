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Comps analysis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Precedent transactions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22.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493008"/>
            <a:ext cx="5532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 — implied share-price ranges by methodology (base case DCF; bear/bull in appendix)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2228" y="3392424"/>
            <a:ext cx="7315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0658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2082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 —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${_d(V['bear'])} / bull ${_d(V['bull'])} bracket scenarios are in the appendix.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 —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 —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 —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 —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 —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tab; bear/bull scenarios in 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—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—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1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127759"/>
                <a:gridCol w="1127759"/>
                <a:gridCol w="1127759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 &amp; read-through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Point of the slide: LULU trades at a deep discount — 4.7x EV/EBITDA @ $100 vs 9.4x core median (~50% below peers on TTM EBITDA)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Implied price (right table) = core peer median × LULU base → enterprise value; P/E is median × FY26E EPS ($9.61) with no EV step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EV-to-equity bridge: add FY25 cash (~$1.8B), subtract ASC 842 store lease debt (~$1.8B), divide by 111M shares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We use those implied ranges to triangulate partial re-rating to $140 — not DCF terminal value or M&amp;A premium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set: NKE, ADS, DECK, CROX, LEVI, KTB (+ LULU @ $100); EV/EBITDA 4.7x = PitchBook TTM tape (Sep-2026)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 —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4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15440"/>
                <a:gridCol w="1615440"/>
                <a:gridCol w="1615440"/>
                <a:gridCol w="1615440"/>
                <a:gridCol w="1615440"/>
                <a:gridCol w="1615440"/>
              </a:tblGrid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 — ~16x FY21E EBITDA; women's premium activewear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 — $1.3bn implied EV; minority stake, not control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 — $4bn post-money; revenue not disclosed (~140% YoY grow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— Reuters Jun-2026: no deal announced; IPO or sale still explor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2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— not a premium benchmark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063240"/>
            <a:ext cx="1129284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How we use (and do not use) private precedents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Private precedents inform what strategics/PE may pay for premium athleisure assets. We do not derive a control premium from an unclosed ask vs LULU's public trading multiple. Valuation anchors remain DCF and public comps (prior slide).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Closed M&amp;A: Sweaty Betty (2021) — Wolverine paid $410M (~16x FY21E EBITDA, ~1.6x sales) for premium women's DTC activewear; closest operating-company precedent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Private growth rounds: Gymshark ($1.3bn implied EV, 2020 minority stake) and Vuori ($4bn post-money, 2021) show strategics/PE pay up for high-growth DTC athleisure — minority/valuation markers, not LULU control comps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Unclosed process: Alo ~$10bn ask (~5.0x EV/Sales on Forbes ~$2bn sales) — illustrates private-brand heat; we do not apply as a control premium on LULU's public multiple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Valuation anchors remain DCF + public comps (slide 20); precedents support the category-consolidation narrative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50749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