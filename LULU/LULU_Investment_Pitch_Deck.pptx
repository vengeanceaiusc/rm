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&amp; bull (26U) = DCF Scenarios pitch-bridge block, cols G &amp; 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base FY26 10,425M → FY30 11,418M; bull FY26 10,658M → FY30 13,456M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base FY26 5,901M → FY30 6,463M; bull FY26 6,129M → FY30 7,737M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base FY26 1,511M → FY30 1,770M; bull FY26 1,680M → FY30 2,557M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base FY26 14.5% → FY30 15.5%; bull FY26 15.8% → FY30 19.0%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base FY26 1,089M → FY30 1,256M; bull FY26 1,242M → FY30 1,859M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base FY26 $9776.90 → FY30 $11279.95; bull FY26 $11150.90 → FY30 $16688.77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11150.90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11670.19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13193.50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14862.40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16688.77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GM% ×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GM% ×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(OI/rev)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EBIT/rev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EBIT/rev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NI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NI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&amp; bull (26U) = DCF Scenarios pitch-bridge block, cols G &amp; 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base FY26 2,393M → FY30 4,497M; bull FY26 2,142M → FY30 3,639M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base FY26 1,585M → FY30 1,681M; bull FY26 1,586M → FY30 1,940M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base FY26 7,941M → FY30 8,697M; bull FY26 8,118M → FY30 10,249M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base FY26 3,282M → FY30 3,594M; bull FY26 3,355M → FY30 4,236M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base FY26 4,659M → FY30 5,103M; bull FY26 4,763M → FY30 6,014M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base $0; bull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2,799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1,845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9,122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10,249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3,770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5,049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5,352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6,014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inventories (NWC)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inventories (NWC)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TA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TA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TL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TL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Hist = 10-K. Base (26B) &amp; bull (26U) = DCF Scenarios pitch-bridge block, cols G &amp; 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base FY26 1,660M → FY30 1,751M; bull FY26 1,820M → FY30 2,385M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base FY26 469M → FY30 514M; bull FY26 480M → FY30 606M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base FY26 (573) → FY30 (628); bull FY26 (480) → FY30 (606)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base FY26 1,087M → FY30 1,123M; bull FY26 1,340M → FY30 1,779M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base FY26 (500) → FY30 (500); bull FY26 (1,005) → FY30 (1,335)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623560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200400"/>
                <a:gridCol w="3200400"/>
                <a:gridCol w="3200400"/>
              </a:tblGrid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Base 26B–30B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Bull 26U–30U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CFO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CFO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D&amp;A rows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D&amp;A rows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capex 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capex 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 (CFO − capex)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pitch bridge FCF (CFS)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pitch bridge FCF (CFS)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SEC Form 10-K (FY2022–FY2025)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G fixed buyback ($500M)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LULU_DCF_Valuation_Model.xlsx → Scenarios, col H 75% FCF buyback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656832"/>
            <a:ext cx="1129284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8C8C8C"/>
                </a:solidFill>
                <a:latin typeface="Garamond"/>
                <a:cs typeface="Garamond"/>
              </a:rPr>
              <a:t>Buybacks: col G = $500M/yr fixed; col H = 75% FCF (Scenarios assumptions).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