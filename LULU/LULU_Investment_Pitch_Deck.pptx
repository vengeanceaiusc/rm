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$133.64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$133.64 per share (+33.6%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(Base Case Implied Value):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(FY26-FY30 EBIT Margin Path):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(WACC &amp; Revenue Drivers):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(China Mainland Growth &amp; Revenue Driver): LULU_DCF_Valuation_Model.xlsx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Provided Valuation Model (E-commerce EBIT Margin Driver):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Provided Valuation Model (Store EBIT Margin &amp; SPSF): LULU_DCF_Valuation_Model.xlsx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Provided Valuation Model (Gross Margin Assumptions):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$133.64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$133.64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$56.00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$14.57, more than enough to recover our $133.64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$10.09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$133.64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G. EPS = net income / diluted shares after $750M/yr repurchases (DCF $134 still uses 111.4M day-one basic shares).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14.57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Revenue x gross margin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EBIT / revenue (Scenarios col 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7,691M to FY30 7,447M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7,691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7,624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7,447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G). Cash roll-forward = prior cash + FCF − buybacks.  Hist = 10-K. Forecast (26-30) = DCF Scenarios pitch-bridge block, col G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1,087M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1,087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Scenarios tab, col G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G · implied price $134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$134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G (Gordon growth). Bear $56 / bull $202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pPr algn="l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G)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$134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$134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G):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G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3,944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14,876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14,885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$134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pPr algn="l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pPr algn="l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$134.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pPr algn="l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pPr algn="l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75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$134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pPr algn="l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00" b="1" i="0">
                          <a:solidFill>
                            <a:srgbClr val="FFFFFF"/>
                          </a:solidFill>
                          <a:latin typeface="Garamond"/>
                          <a:cs typeface="Garamond"/>
                        </a:rP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pPr algn="l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$134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