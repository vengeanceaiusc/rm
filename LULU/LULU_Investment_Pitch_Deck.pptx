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$133.64  (+33.6%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CURRENT SHARE PRICE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$100.00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Down ~55% from peak; 17% single-day crash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FY2026 GUIDANCE RESET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−5% to −7%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First revenue decline in corporate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CLEAN RUN-RATE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13.2%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Durable operating cash flow through trough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2: Situation Overview and Current Investment Setup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Links &amp; Sources: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REVENUE GUIDANCE CUT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$10.35B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Morgan Stanley pessimistic outlook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CONSENSUS TARGET CUT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$176 → $136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Cyclical fears paralyze the Street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RATING DISPERSION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Neutral Bias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BTIG ignores durable competitive moats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3: Market Narrative and Analyst Sentiment Surrounding the Stock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MarketBeat: Morgan Stanley Issues Pessimistic Forecast for lululemon athletica: https://www.marketbeat.com/instant-alerts/analyst-morgan-stanley-issues-pessimistic-forecast-for-lululemon-athletica-nasdaq-lulu-stock-price-2026-09-04/ [2] Simply Wall St: lululemon athletica Stock Analysis: https://simplywall.st/stocks/us/consumer-durables/nasdaq-lulu/lululemon-athletica 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BASE CASE TARGET PRICE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$133.64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+33.6% upside vs $100.00 current 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CLEAN RUN-RATE EBIT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13.2%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Pillar 1: Resilient profitability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DISCOUNT RATE (WACC)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9.0% / 2.3% 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Pillar 2: Mathematically sound 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4: Investment Thesis Summary and Target Price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Provided Valuation Model (Base Case Implied Value): LULUMODEL18_3.xlsx [2] Lululemon Q2 FY2026 Earnings Release (13.2% Margin Calc): https://corporate.lululemon.com/~/media/Files/L/Lululemon/investors/results-center/q2-2026-financial-supplement.pdf [3] Provided Valuation Model (WACC &amp; Revenue Drivers): LULUMODEL18_3.xlsx 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TOTAL REVENUE (FY25)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$11.1B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10-K reported top-line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AMERICAS CONTRIBUTION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$7.85B (70.68%)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−3% comps reflect macro pressure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CHINA MAINLAND SURGE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+20% ($1.75B)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High-growth international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5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Lululemon FY2025 Form 10-K (Segment Revenue and Percentages): https://corporate.lululemon.com/~/media/Files/L/Lululemon/investors/results-center/q2-2026-financial-supplement.pdf [2] Lululemon FY2025 Form 10-K (Americas Comparable Sales): https://corporate.lululemon.com/~/media/Files/L/Lululemon/investors/results-center/q2-2026-financial-supplement.pdf 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56.6%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Insulating moat against price competition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DTC E-COMMERCE EBIT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23.6%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Zero retail occupancy drag economics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STORE SALES PER SQ FT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$1,426 / sq 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18.6% store-level EBIT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6: Business Model Unit Economics and 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Provided Valuation Model (Gross Margin): LULUMODEL18_6.xlsx [2] Provided Valuation Model (E-commerce EBIT Margin Driver): LULUMODEL18_6.xlsx 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GLOBAL MARKET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Fragmented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Most competitors lack durable advantage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PREMIUM SEGMENT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High Barriers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Scale, fabric R&amp;D &amp; brand equity protect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LULULEMON ROE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30.25%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vs 6.81% retail industry median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7: Industry Overview - Trends and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Market.us Media (Athleisure Market Fragmentation): https://media.market.us/athleisure-industry-statistics/ [2] Fortune Business Insights (Premium Athleisure Trends): https://www.fortunebusinessinsights.com/athleisure-market-110642 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LULULEMON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56.6%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DTC scale prevents margin compression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NIKE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43%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Wholesale dependence &amp; markdown drag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UNDER ARMOUR GM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46%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Structural margin compression vs DTC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7 Part 2: Industry Overview - Barriers to Entry and Profitability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Links &amp; Sources: [1] Provided Valuation Model (Gross Margin Assumptions): LULUMODEL18.xlsx [2] Investing.com (Nike &amp; Under Armour Historical Gross Margins): https://www.investing.com/pro/NYSE:NKE/explorer/gp_margin 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PRICE DRAWDOWN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&gt;50%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Critically undervalued vs durable cash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ADJ.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54.9%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Protected by premium DTC channel mix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TERMINAL GROWTH / UPSIDE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2.25% g → $133.64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&gt;30% upside provides valuation buffer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8 Investment Thesis I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[3] LULUMODEL18.xlsx, DCF Terminal Value &amp; Valuation Summary Schedule is that ready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PEAK EBIT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23.7%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FY24 pandemic-era peak earnings power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TROUGH MARGIN FLOOR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13.2%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Core brand loyalty sustains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PARTIAL RECOVERY TO FY30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15.5% EBIT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Unlocks $133.64 base DCF share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9: Investment Thesis II  Partial Margin Recovery &amp; Brand Loyalty Floor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Links &amp; Sources: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AMERICAS COMPS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−4.0% → 2.0%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Near-term contraction flatlining by FY30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CHINA FOOTPRINT EXPANSION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16 stores / yr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Disproportionate vs 6 domestically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CHINA COMPS AVERAGE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+10.2%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Double-digit engine offsets Americas drag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10: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262626"/>
                </a:solidFill>
                <a:latin typeface="Garamond"/>
                <a:cs typeface="Garamond"/>
              </a:rPr>
              <a:t>Investment Thesis III: Geographic Growth Divergence This slide examines how Lululemon's top-line projections rely disproportionately on Chinese market expansion to conceal domestic North American stagnation.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FY26–FY30 Chinese footprint expansion, averaging 16 new stores annually versus just 6 domestically, and sustained double-digit (10.2% average) comp growth to overcome clear Americas expansion drawbacks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LULUMODEL18.xlsx, Americas FY26-FY30 Comparable Sales Growth Assumptions [2] LULUMODEL18.xlsx, FY26 Store Openings &amp; Mainland China Revenue Build 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BEAR CASE VALUATION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$56.00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Recovers 45% of entry price in cash ($45.64)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CAPEX &amp; INVENTORY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$360M / yr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Slashed CapEx + $101.5M inventory release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24128"/>
            <a:ext cx="3611880" cy="1005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SHARE REPURCHASES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1" i="0">
                <a:solidFill>
                  <a:srgbClr val="1F2A44"/>
                </a:solidFill>
                <a:latin typeface="Garamond"/>
                <a:cs typeface="Garamond"/>
              </a:rPr>
              <a:t>18.7M shares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8C8C8C"/>
                </a:solidFill>
                <a:latin typeface="Garamond"/>
                <a:cs typeface="Garamond"/>
              </a:rPr>
              <a:t>$500M/yr buybacks compound EPS to $13.36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129284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Slide 11 Risk &amp; Mitigants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2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 [2] LULUMODEL18.xlsx, CapEx &amp; E-Commerce Channel EBIT Assumptions / https://corporate.lululemon.com/newsroom/press-releases/2026/09-03-2026-210528733 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Slide 12: Timeline of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20116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C72C"/>
                </a:solidFill>
                <a:latin typeface="Garamond"/>
                <a:cs typeface="Garamond"/>
              </a:rPr>
              <a:t>2026 Q3 Trough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115568"/>
            <a:ext cx="9189720" cy="9144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2026 (Q3 FY2026 Trough): 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39696"/>
            <a:ext cx="20116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C72C"/>
                </a:solidFill>
                <a:latin typeface="Garamond"/>
                <a:cs typeface="Garamond"/>
              </a:rPr>
              <a:t>2027 Year-End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139696"/>
            <a:ext cx="9189720" cy="9144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2027 (FY2026 Year-End): 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63824"/>
            <a:ext cx="20116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C72C"/>
                </a:solidFill>
                <a:latin typeface="Garamond"/>
                <a:cs typeface="Garamond"/>
              </a:rPr>
              <a:t>2027 Inflection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3163824"/>
            <a:ext cx="9189720" cy="9144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2027 (FY2027 Margin Inflection): 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20116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C72C"/>
                </a:solidFill>
                <a:latin typeface="Garamond"/>
                <a:cs typeface="Garamond"/>
              </a:rPr>
              <a:t>2028 Re-Rating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4187952"/>
            <a:ext cx="9189720" cy="9144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2028 (FY2027–FY2028 Multiple Re-Rating): 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49240"/>
            <a:ext cx="112928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101600" rIns="101600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 [2] LULUMODEL18.xlsx, NOPAT Bridge &amp; Scenarios / https://corporate.lululemon.com/newsroom/press-releases/2026/09-03-2026-210528733 [3] LULUMODEL18.xlsx, Scenarios &amp; Unlevered Free Cash Flow Schedule / https://corporate.lululemon.com/newsroom/press-releases/2026/09-03-2026-210528733 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Reported figures from Forms 10-K; FY2025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$8,111M → $11,103M; OM peaked 23.7% (FY24); EPS $6.68 → $13.26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Share count 128.0M → 119.1M via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Base: FY26 10,425M rev / 14.5% OM → FY30 11,418M / 15.5%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Bull: FY26 10,658M (−4% guide) → FY30 13,456M; OM 15.8% → 19.0%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EPS $10.89 → $19.14 (DCF implied price $202)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22–25 = FY2022–25 historical; 26B/26U = FY2026 base (G) / bull (H); same for 27–30. Bear in Appendix.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funded debt; FY25 cash $1,807M; total assets $8,457M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Net-cash balance sheet underpins downside at ~10x earnings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Lease-backed ROU assets ~$1.6B — not traditional debt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cash 2,470M → 4,864M ($500M/yr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cash 2,142M → 3,639M (75% FCF to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BS scaled from base WC drivers at bull revenue; cash from FCF waterfall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Same BS line items as 10-K. Bull cash = FY25 cash + cumulative (FCF + buybacks).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FY25 CFO $1,603M; capex ($681M) → ~$922M 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Buybacks ($1,178M) FY25 are CFF — reported on 10-K, not in DCF UFCF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FCF = CFO − capex; same operating definition as forecast rows above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FCF (DCF input): base $1,163M → $1,184M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FCF $1,340M → $1,779M (Scenarios col 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Buybacks below = 3-statement CFF only; DCF IV uses basic 111.4M shares (no retirements)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FCF rows tie to DCF unlevered FCF. Share repurchases are financing (CFF) — shown for 10-K / 3-statement comparability and cash bridge; they do not change DCF implied price (basic share count).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$133.64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7460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7380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$133.64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$133.64 — based on the DCF base case ($134) — implying +33.6%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