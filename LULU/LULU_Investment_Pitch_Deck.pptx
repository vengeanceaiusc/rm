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9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234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Garamond"/>
                <a:cs typeface="Garamond"/>
              </a:rPr>
              <a:t>GIS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438912"/>
            <a:ext cx="18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02336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Garamond"/>
                <a:cs typeface="Garamond"/>
              </a:rPr>
              <a:t>Global</a:t>
            </a:r>
          </a:p>
          <a:p>
            <a:r>
              <a:rPr sz="1100" b="0" i="0">
                <a:solidFill>
                  <a:srgbClr val="FFFFFF"/>
                </a:solidFill>
                <a:latin typeface="Garamond"/>
                <a:cs typeface="Garamond"/>
              </a:rPr>
              <a:t>Investment</a:t>
            </a:r>
          </a:p>
          <a:p>
            <a:r>
              <a:rPr sz="1100" b="0" i="0">
                <a:solidFill>
                  <a:srgbClr val="FFFFFF"/>
                </a:solidFill>
                <a:latin typeface="Garamond"/>
                <a:cs typeface="Garamond"/>
              </a:rPr>
              <a:t>Society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60152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 (NASDAQ: LULU)</a:t>
            </a:r>
          </a:p>
          <a:p>
            <a:pPr algn="ctr">
              <a:spcBef>
                <a:spcPts val="1000"/>
              </a:spcBef>
            </a:pPr>
            <a:r>
              <a:rPr sz="2200" b="0" i="0">
                <a:solidFill>
                  <a:srgbClr val="FFFFFF"/>
                </a:solidFill>
                <a:latin typeface="Garamond"/>
                <a:cs typeface="Garamond"/>
              </a:rPr>
              <a:t>LONG / OVERWEIGHT</a:t>
            </a:r>
          </a:p>
          <a:p>
            <a:pPr algn="ctr">
              <a:spcBef>
                <a:spcPts val="1400"/>
              </a:spcBef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$100.61</a:t>
            </a:r>
          </a:p>
          <a:p>
            <a:pPr algn="ctr">
              <a:spcBef>
                <a:spcPts val="400"/>
              </a:spcBef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Price Target: $140 (+39% Upside)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44768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14476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Garamond"/>
                <a:cs typeface="Garamond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r>
                        <a:t>Investment Thesis II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r>
              <a:t>Investment Thesis II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t>Links &amp; Sources</a:t>
            </a:r>
          </a:p>
          <a:p>
            <a:r>
              <a:t>[1] LULU_DCF_Valuation_Model.xlsx, Bear Case DCF Valuation Summary / https://www.barrons.com/articles/lululemon-stock-earnings-guidance-a7a7c5c0</a:t>
            </a:r>
          </a:p>
          <a:p>
            <a:r>
              <a:t>[2] LULU_DCF_Valuation_Model.xlsx, CapEx Fade &amp; NWC Schedule/ https://corporate.lululemon.com/newsroom/press-releases/2026/09-03-2026-210528733</a:t>
            </a:r>
          </a:p>
          <a:p>
            <a: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t>Links &amp; Sources</a:t>
            </a:r>
          </a:p>
          <a:p>
            <a:r>
              <a:t>[1] LULU_DCF_Valuation_Model.xlsx, Scenarios &amp; Revenue Drivers / https://corporate.lululemon.com/newsroom/press-releases/2026/09-03-2026-210528733</a:t>
            </a:r>
          </a:p>
          <a:p>
            <a:r>
              <a:t>[2] LULU_DCF_Valuation_Model.xlsx, Scenarios / https://corporate.lululemon.com/newsroom/press-releases/2026/09-03-2026-210528733</a:t>
            </a:r>
          </a:p>
          <a:p>
            <a:r>
              <a:t>[3] LULU_DCF_Valuation_Model.xlsx, Scenarios &amp; Unlevered Free Cash Flow Schedule / https://corporate.lululemon.com/newsroom/press-releases/2026/09-03-2026-210528733</a:t>
            </a:r>
          </a:p>
          <a:p>
            <a: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62356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62356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6235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548640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63640" y="1426464"/>
          <a:ext cx="548640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486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785615"/>
            <a:ext cx="548640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623560" cy="65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63640" y="4809744"/>
          <a:ext cx="5486400" cy="98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353312"/>
            <a:ext cx="5486400" cy="2514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r>
              <a:t>VALUATION OUTPUT (US$ M)</a:t>
            </a:r>
          </a:p>
          <a:p>
            <a:r>
              <a:t>PV of explicit FCF (FY26-FY30) 3,930</a:t>
            </a:r>
          </a:p>
          <a:p>
            <a:r>
              <a:t>PV of terminal value 10,933</a:t>
            </a:r>
          </a:p>
          <a:p>
            <a:r>
              <a:t>Enterprise value 14,862</a:t>
            </a:r>
          </a:p>
          <a:p>
            <a:r>
              <a:t>Plus: cash 1,807</a:t>
            </a:r>
          </a:p>
          <a:p>
            <a:r>
              <a:t>Less: lease debt (ASC 842) (1,798)</a:t>
            </a:r>
          </a:p>
          <a:p>
            <a:r>
              <a:t>Equity value 14,871</a:t>
            </a:r>
          </a:p>
          <a:p>
            <a:r>
              <a:t>÷ Diluted shares (M) 111.4</a:t>
            </a:r>
          </a:p>
          <a:p>
            <a:r>
              <a:t>Implied value: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187952"/>
            <a:ext cx="548640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r>
              <a:t>TV = 73% of EV · 7.4x = Gordon TV ÷ FY30 EBITDA $2,284M (not a peer pick)</a:t>
            </a:r>
          </a:p>
          <a:p>
            <a: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r>
              <a:t>Valuation anchors</a:t>
            </a:r>
          </a:p>
          <a:p>
            <a:r>
              <a:t>DCF base: $133.52 | Target: $140</a:t>
            </a:r>
          </a:p>
          <a:p>
            <a: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23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GIS IR LULU</dc:title>
  <dc:subject/>
  <dc:creator>Christian Gardner</dc:creator>
  <cp:keywords/>
  <dc:description/>
  <cp:lastModifiedBy>Christian Gardner</cp:lastModifiedBy>
  <cp:revision>1</cp:revision>
  <dcterms:created xsi:type="dcterms:W3CDTF">2026-09-10T20:49:03Z</dcterms:created>
  <dcterms:modified xsi:type="dcterms:W3CDTF">2026-09-10T20:49:03Z</dcterms:modified>
  <cp:category/>
</cp:coreProperties>
</file>