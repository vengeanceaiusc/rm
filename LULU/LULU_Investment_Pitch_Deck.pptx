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Base (26B) = 3-Statement Model + Scenarios G. Bull (26U) = DCF Scenarios H (BS bull lines approximated — see model-source table).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base FY26 10,425M → FY30 11,418M; bull FY26 10,658M → FY30 13,456M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base FY26 6,035M → FY30 6,463M; bull FY26 6,129M → FY30 7,737M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base FY26 1,511M → FY30 1,770M; bull FY26 1,680M → FY30 2,557M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base FY26 14.5% → FY30 15.5%; bull FY26 15.8% → FY30 19.0%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base FY26 1,089M → FY30 1,256M; bull FY26 1,242M → FY30 1,859M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base FY26 $9.55 → FY30 $12.93; bull FY26 $10.89 → FY30 $19.14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11.88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19.14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200400"/>
                <a:gridCol w="3200400"/>
                <a:gridCol w="3200400"/>
              </a:tblGrid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26B–30B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Bull 26U–30U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Income Statement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year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Income Statement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GM% ×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Income Statement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EBIT 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(OI/rev)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Income Statement (OI/rev)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(EBIT/rev)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Income Statement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EBIT + other inc − tax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Income Statement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NI ÷ LULU_3_Statement_Model.xlsx share schedule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Base drivers: LULU_3_Statement_Model.xlsx → Assumptions (linked to Scenarios G). Open both workbooks for live Scenarios G links.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Base (26B) = 3-Statement Model + Scenarios G. Bull (26U) = DCF Scenarios H (BS bull lines approximated — see model-source table).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base FY26 2,470M → FY30 4,864M; bull FY26 2,142M → FY30 3,639M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base FY26 1,538M → FY30 1,635M; bull FY26 1,572M → FY30 1,927M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base FY26 8,892M → FY30 12,067M; bull FY26 9,091M → FY30 14,221M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base FY26 3,279M → FY30 3,586M; bull FY26 3,352M → FY30 4,226M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base FY26 5,613M → FY30 8,481M; bull FY26 5,738M → FY30 9,995M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base $0; bull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2,985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4,180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9,091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10,153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11,354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14,221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3,507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5,738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6,231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6,601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8,716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9,995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200400"/>
                <a:gridCol w="3200400"/>
                <a:gridCol w="3200400"/>
              </a:tblGrid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26B–30B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Bull 26U–30U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Balance Sheet (CFS plug)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FY25 cash + LULU_DCF_Valuation_Model.xlsx → Scenarios, col H FCF + buybacks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Balance Sheet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Pitch build: base BS × (bull rev / base rev); cash = FY25 + bull FCF + buybacks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Balance Sheet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Pitch build: base BS × (bull rev / base rev); cash = FY25 + bull FCF + buybacks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Balance Sheet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Pitch build: base BS × (bull rev / base rev); cash = FY25 + bull FCF + buybacks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Balance Sheet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Pitch build: base BS × (bull rev / base rev); cash = FY25 + bull FCF + buybacks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Balance Sheet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Base BS only in LULU_3_Statement_Model.xlsx. Bull BS is illustrative (not a separate workbook tab).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&amp; bull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Base (26B) = 3-Statement Model + Scenarios G. Bull (26U) = DCF Scenarios H (BS bull lines approximated — see model-source table).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base FY26 1,736M → FY30 1,812M; bull FY26 1,820M → FY30 2,385M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base FY26 469M → FY30 514M; bull FY26 480M → FY30 606M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base FY26 (573) → FY30 (628); bull FY26 (480) → FY30 (606)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base FY26 1,163M → FY30 1,184M; bull FY26 1,340M → FY30 1,779M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base FY26 (500) → FY30 (500); bull FY26 (1,005) → FY30 (1,335)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1,015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(923)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(1,048)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(1,185)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(1,335)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200400"/>
                <a:gridCol w="3200400"/>
                <a:gridCol w="3200400"/>
              </a:tblGrid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26B–30B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Bull 26U–30U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NI + D&amp;A + ΔNWC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D&amp;A rows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Cash Flow (rev × capex%; LULU_DCF_Valuation_Model.xlsx → Scenarios, col 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capex 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(CFO − capex)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LULU_3_Statement_Model.xlsx → Assumptions (linked to Scenarios G) $500M/yr buyback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75% of bull FCF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Base CF in LULU_3_Statement_Model.xlsx → Cash Flow; bull CF from LULU_DCF_Valuation_Model.xlsx → Scenarios, col H. Buybacks are CFF (not in DCF FCFF).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