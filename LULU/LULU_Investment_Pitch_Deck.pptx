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691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691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Net revenue: base FY26 10,425M → FY30 11,418M; bull FY26 10,658M → FY30 13,456M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Operating margin %: base FY26 14.5% → FY30 15.5%; bull FY26 15.8% → FY30 19.0%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Net income: base FY26 1,089M → FY30 1,256M; bull FY26 1,242M → FY30 1,859M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Diluted EPS: base FY26 $9.55 → FY30 $12.93; bull FY26 $10.89 → FY30 $19.14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88920"/>
          <a:ext cx="11292828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1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22–25 = FY2022–25 historical; 26B/26U = FY2026 base (G) / bull (H); same for 27–30. Bear in Appendix.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691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691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&amp; equivalents: base FY26 2,470M → FY30 4,864M; bull FY26 2,142M → FY30 3,639M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Total assets: base FY26 8,892M → FY30 12,067M; bull FY26 9,091M → FY30 14,221M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Total equity: base FY26 5,613M → FY30 8,481M; bull FY26 5,738M → FY30 9,995M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Funded debt: base $0; bull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88920"/>
          <a:ext cx="11292828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37605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761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Same BS line items as 10-K. Bull cash = FY25 cash + cumulative (FCF + buybacks).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1691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169164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base FY26 1,736M → FY30 1,812M; bull FY26 1,820M → FY30 2,385M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base FY26 (573) → FY30 (628); bull FY26 (480) → FY30 (606)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base FY26 1,163M → FY30 1,184M; bull FY26 1,340M → FY30 1,779M</a:t>
            </a:r>
          </a:p>
          <a:p>
            <a:pPr algn="l" indent="-152400" marL="177800">
              <a:spcBef>
                <a:spcPts val="0"/>
              </a:spcBef>
              <a:spcAft>
                <a:spcPts val="2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base FY26 (500) → FY30 (500); bull FY26 (1,005) → FY30 (1,335)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788920"/>
          <a:ext cx="11292828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FCF rows tie to DCF unlevered FCF. Share repurchases are financing (CFF) — shown for 10-K / 3-statement comparability and cash bridge; they do not change DCF implied price (basic share count).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