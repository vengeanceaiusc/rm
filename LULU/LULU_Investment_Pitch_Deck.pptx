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Guidance reset compresses the multiple; operating base case still intact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Shares trade near $100 following the Q2 FY26 guidance revision (~$100.61 last sale)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FY26 revenue guide: -5% to -7% vs. prior double-digit growth trajectory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Americas: ~flat comps and ~6 net store openings/yr (FY26–FY30 base); China: ~10.2% comps and ~16 openings/yr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margin: 13.2% (FY25 10-K baseline)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TIKR — post-earnings price action (Sep 2026)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Lululemon Q2 FY26 earnings supplement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Revenue Drivers &amp; Scenarios (base case)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4. unbeiesgbar_final.xlsx, Scenarios tab; FY2025 Form 10-K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Consensus de-rated; estimates lag revised FY26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cut estimates after FY26 revenue guide of ~$10.35B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Consensus target moved from ~$176 to ~$136 (Simply Wall St aggregate)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BTIG maintained Neutral; near-term caution, limited change to long-run margin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MarketBeat — Morgan Stanley estimate revision (Sep 2026)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Simply Wall St — LULU consensus target history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GuruFocus — BTIG rating reiteration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 DCF $133.64; 12-month target $140 on modest multiple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Base-case DCF: $133.64/sh (+33.6% vs. ~$100 spot); 12-mo target $140.00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FY26–FY30 avg EBIT margin ~14.4%; path from 13.2% clean margin to 15.5% by FY30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Lease-adjusted WACC 9.0%; revenue CAGR 2.3% in base case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FY25 China segment +29% y/y vs. flat Americas; model offsets US softness via China comps/openings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DCF valuation summary (base case)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Scenarios — EBIT margin path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WACC &amp; Revenue Drivers tabs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4. Lululemon Q2 FY26 earnings release (segment growth)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segment growth offsets Americas cyclical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FY25 revenue $11.1B; Americas $7.85B (70.7% of total)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-3% (FY25 10-K); cyclical, not structural share 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$1.75B segment revenue; +20% FY25 comparable sales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FY2025 Form 10-K — segment revenue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FY2025 Form 10-K — Americas comparable sales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Revenue Drivers — China Mainland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DTC mix and store productivity support margin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Gross margin 56.6% (FY25 base case)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EBIT margin 23.6% (no retail occupancy load)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stores: $1,426/sq ft; 18.6% EBIT margin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Scenarios — gross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Revenue Drivers — e-commerce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Revenue Drivers — store productivity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Fragmented athleisure; premium segment retains entry barriers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Global athleisure remains fragmented; scale and brand equity concentrated in leaders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Premium segment: higher barriers vs. mass athletic wholesale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 ROE 30.25% vs. ~6.81% apparel median (FinanceCharts)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Market.us — athleisure market structure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Fortune Business Insights — premium athleisure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FinanceCharts — LULU ROE vs. retail median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gross margin premium vs. wholesale-heavy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 gross margin 56.6% vs. Nike ~43% and Under Armour ~46%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Wholesale mix structurally caps peer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DTC scale limits promotional margin erosion vs. mass-market peers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gross margin assumption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Investing.com — NKE / UAA historical gross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ProAnalyst — LULU competitive positioning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Share price dislocation vs. normalized cash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2026 drawdown &gt;50% from 52-wk high; spot ~$100 vs. base intrinsic ~$134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DTC mix supports ~54.9% adjusted gross margin in base 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2.25% terminal growth still implies &gt;30% upside to $133.64 base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Everything Money — 2026 price dislocation (context)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Lululemon Q2 FY26 earnings release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DCF terminal value &amp; valuation summary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to 15.5% FY30 EBIT not required to reach base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Peak EBIT margin 23.7% (FY24 10-K); not required for base case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Base case floors at 13.2% clean EBIT; brand retention supports trough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15.5% FY30 EBIT margin → $133.64/sh in base DCF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Full reversion to COVID-era peak margins not in base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 &amp; FY2024 Form 10-K — peak margins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Scenarios — clean run-rate EBIT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DCF valuation summary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4. unbeiesgbar_final.xlsx, DCF — margin sensitivity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Top-line bridge relies on China offsetting flat Americas comps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Americas: -4.0% comps FY26; terminal 2.0% by FY30 (base case)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China: ~16 gross openings/yr vs. ~6 Americas; ~10.2% avg comps (14% → 7% FY26–FY30)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slowdown is primary risk to base-case revenue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Revenue Drivers — Americas comps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Revenue Drivers — China store &amp; comp assumptions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Scenarios — consolidated revenue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Bear floor $56; FCF and buybacks support per-share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Bear-case DCF floor ~$56/sh; cumulative cash ~$45.64/sh (~45% of entry)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fades 7.0% → 5.5% of revenue; 23.6% e-commerce EBIT supports FCF if China comps soften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$750M/yr repurchases → ~32.9M shares retired; base EPS ~$14.57 by FY30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Scenarios bear case; Barron's — guide context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DCF capex &amp; NWC; Q2 FY26 supplement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DCF share repurchase schedule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path: guide trough → margin stabilization →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Q3 laps guidance trough; China Double 11 supports holiday traffic 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First full-year post-reset; $134.5M IEEPA tariff refunds and SG&amp;A actions support 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EBIT margin ~13.8% (+60 bps); $750M buybacks → EPS ~$10.09 (base schedule)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~17 net stores FY27; +12%/+10% comps FY27–FY28 offset Americas -4% FY26 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Scenarios &amp; Revenue Drivers; Q2 FY26 supplement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Scenarios &amp; NOPAT reconciliation; Q2 FY26 supplement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Scenarios &amp; DCF FCF bridge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4. unbeiesgbar_final.xlsx, Revenue Drivers &amp; DCF summary; StockAnalysis consensus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unbeiesgbar_final.xlsx, Scenarios &amp; DCF tabs. EPS reflects net income / diluted shares after $750M/yr repurchases.  Historical: FY2022-FY2025 Form 10-K. Forecast: unbeiesgbar_final.xlsx, Scenarios tab (base case). Line-item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unbeiesgbar_final.xlsx base case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gross margin on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EBIT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DCF — EPS (post buyback)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Balance sheet forecast: unbeiesgbar_final.xlsx. Cash roll-forward net of $750M/yr buybacks.  Historical: FY2022-FY2025 Form 10-K. Forecast: unbeiesgbar_final.xlsx, Scenarios tab (base case). Line-item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unbeiesgbar_final.xlsx base case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cash roll-forward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NWC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balance sheet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balance sheet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FCF = CFO less capex (unbeiesgbar_final.xlsx, DCF tab). Buybacks: $750M/yr fixed in base case.  Historical: FY2022-FY2025 Form 10-K. Forecast: unbeiesgbar_final.xlsx, Scenarios tab (base case). Line-item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unbeiesgbar_final.xlsx base case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CFO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D&amp;A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capex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DCF — unlevered FCF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$750M/yr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unbeiesgbar_final.xlsx,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(unbeiesgbar_final.xlsx, WACC tab)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Source (unbeiesgbar_final.xlsx)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ASC 842 leases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Source (unbeiesgbar_final.xlsx)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relevered beta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equity weight / unbeiesgbar_final.xlsx, WACC —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unbeiesgbar_final.xlsx, WACC — summary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unbeiesgbar_final.xlsx,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Base-case DCF (unbeiesgbar_final.xlsx): Gordon growth terminal. Bear $56 / bull $202 from Scenarios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Form 10-K; FY30E from unbeiesgbar_final.xlsx, Scenarios base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geographic mix applied to unbeiesgbar_final.xlsx consolidated FY30 base revenue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(unbeiesgbar_final.xlsx): Gordon growth TV; 7.4x implied exit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unbeiesgbar_final.xlsx, DCF &amp; Scenarios tabs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