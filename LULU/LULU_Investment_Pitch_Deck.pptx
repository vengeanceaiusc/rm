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54864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977639"/>
            <a:ext cx="12191695" cy="54864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640080"/>
            <a:ext cx="10515600" cy="12801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2000" b="1" i="0">
                <a:solidFill>
                  <a:srgbClr val="FFC72C"/>
                </a:solidFill>
                <a:latin typeface="Garamond"/>
                <a:cs typeface="Garamond"/>
              </a:rPr>
              <a:t>GLOBAL INVESTMENT SOCIETY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Investment Research Division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468880"/>
            <a:ext cx="10515600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4000" b="1" i="0">
                <a:solidFill>
                  <a:srgbClr val="FFFFFF"/>
                </a:solidFill>
                <a:latin typeface="Garamond"/>
                <a:cs typeface="Garamond"/>
              </a:rPr>
              <a:t>lululemon athletica inc.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C72C"/>
                </a:solidFill>
                <a:latin typeface="Garamond"/>
                <a:cs typeface="Garamond"/>
              </a:rPr>
              <a:t>NASDAQ: LULU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206240"/>
            <a:ext cx="10607040" cy="2011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2200" b="1" i="0">
                <a:solidFill>
                  <a:srgbClr val="FFC72C"/>
                </a:solidFill>
                <a:latin typeface="Garamond"/>
                <a:cs typeface="Garamond"/>
              </a:rPr>
              <a:t>Recommendation:  OVERWEIGHT / LONG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700" b="0" i="0">
                <a:solidFill>
                  <a:srgbClr val="FFFFFF"/>
                </a:solidFill>
                <a:latin typeface="Garamond"/>
                <a:cs typeface="Garamond"/>
              </a:rPr>
              <a:t>Current price:  $100.00        Price target:  $140  (+40% upside)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buNone/>
            </a:pPr>
            <a:r>
              <a:rPr sz="1350" b="0" i="1">
                <a:solidFill>
                  <a:srgbClr val="CFD6E4"/>
                </a:solidFill>
                <a:latin typeface="Garamond"/>
                <a:cs typeface="Garamond"/>
              </a:rPr>
              <a:t>A net-cash, high-margin brand priced for terminal decline — we see a cyclical trough, not a broken business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8C8C8C"/>
                </a:solidFill>
                <a:latin typeface="Garamond"/>
                <a:cs typeface="Garamond"/>
              </a:rPr>
              <a:t>September 2026        Prepared for the GIS IR selection process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Table of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What this pitch will cover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097280"/>
            <a:ext cx="5486400" cy="5303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1.  Investment thesis summary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2.  Situation overview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3.  Macro × micro overlap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4.  Market narrative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5.  Company overview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6.  Business model &amp; unit economics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7.  Industry overview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8.  Thesis I — Priced for terminal decline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9.  Thesis II — International growth engine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10. Thesis III — Elite economics &amp; capital return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11. Risks &amp; mitigants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097280"/>
            <a:ext cx="5486400" cy="5303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12. Catalyst timeline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13. Financials — income statement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14. Financials — balance sheet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15. Financials — cash flow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16. Financials — capital structure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17. Valuation summary (football field)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18. Sum of the parts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19. DCF valuation (base case)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20. Comps analysis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21. Precedent transactions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22. Appendix — bull / bear scenarios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Overweight LULU with a $140 target on ~40% upside and an asymmetric payoff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97280"/>
            <a:ext cx="3566160" cy="1371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PRICE TARGET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 i="0">
                <a:solidFill>
                  <a:srgbClr val="1F2A44"/>
                </a:solidFill>
                <a:latin typeface="Garamond"/>
                <a:cs typeface="Garamond"/>
              </a:rPr>
              <a:t>$140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E7A3C"/>
                </a:solidFill>
                <a:latin typeface="Garamond"/>
                <a:cs typeface="Garamond"/>
              </a:rPr>
              <a:t>+40% vs $100.00 today</a:t>
            </a:r>
          </a:p>
        </p:txBody>
      </p:sp>
      <p:sp>
        <p:nvSpPr>
          <p:cNvPr id="9" name="Rectangle 8"/>
          <p:cNvSpPr/>
          <p:nvPr/>
        </p:nvSpPr>
        <p:spPr>
          <a:xfrm>
            <a:off x="4206240" y="1097280"/>
            <a:ext cx="3566160" cy="1371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RATING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400" b="1" i="0">
                <a:solidFill>
                  <a:srgbClr val="1F2A44"/>
                </a:solidFill>
                <a:latin typeface="Garamond"/>
                <a:cs typeface="Garamond"/>
              </a:rPr>
              <a:t>OVERWEIGHT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8C8C8C"/>
                </a:solidFill>
                <a:latin typeface="Garamond"/>
                <a:cs typeface="Garamond"/>
              </a:rPr>
              <a:t>12-month horizon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55279" y="1097280"/>
            <a:ext cx="3794760" cy="1371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WHY NOW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Shares –55% off highs; ~18% single-day drop after Q2 FY2026 print (Sep 3, 2026) overshoots the fundamentals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697480"/>
            <a:ext cx="11292840" cy="3657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Three reasons to be long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350" b="0" i="0">
                <a:solidFill>
                  <a:srgbClr val="262626"/>
                </a:solidFill>
                <a:latin typeface="Garamond"/>
                <a:cs typeface="Garamond"/>
              </a:rPr>
              <a:t>1.  Priced for terminal decline — at ~3.5x EV/EBITDA and ~10x FY2026E EPS with a net-cash balance sheet, the stock embeds a permanent impairment that the business does not support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350" b="0" i="0">
                <a:solidFill>
                  <a:srgbClr val="262626"/>
                </a:solidFill>
                <a:latin typeface="Garamond"/>
                <a:cs typeface="Garamond"/>
              </a:rPr>
              <a:t>2.  International is a multi-year growth engine — China Mainland and Rest-of-World more than offset a maturing Americas and can return total revenue to low-single-digit growth (~2.3% FY27–30 in our model)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350" b="0" i="0">
                <a:solidFill>
                  <a:srgbClr val="262626"/>
                </a:solidFill>
                <a:latin typeface="Garamond"/>
                <a:cs typeface="Garamond"/>
              </a:rPr>
              <a:t>3.  Elite economics + accretive buybacks — FY2025 operating margin was 19.9% (last full year, not the trough); we model a 13.2% clean FY2026 run-rate (Q2 18.8% minus 560bps of tariff refunds), then add the $134.5M refund once (~15.2% reported in our IS). Diluted shares are down ~7% (128.0M → 119.1M)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1">
                <a:solidFill>
                  <a:srgbClr val="1F2A44"/>
                </a:solidFill>
                <a:latin typeface="Garamond"/>
                <a:cs typeface="Garamond"/>
              </a:rPr>
              <a:t>Base-case DCF $134; bear $56 (−44%) vs bull $202 (+102%) — downside is protected by net cash and an ~8–9% FCF yield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Situation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high-quality compounder has de-rated to value multiples after a guidance reset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10-K (FY2025, ended Feb 1, 2026) and Q2 FY2026 release (Sep 3, 2026)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What happened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LULU shares fell from a 52-week high of ~$226 to ~$100, including an ~18% single-day decline following the Q2 FY2026 earnings release on September 3,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Management guided FY2026 to the first annual revenue decline in company history: net revenue of $10.35–$10.50B (−5% to −7%) and diluted EPS of $9.48–$9.73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Americas (the majority of sales) has decelerated to negative comparable sales, while tariffs and higher promotions pressure gross margin and SG&amp;A deleverages on lower volume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Where the business stands (FY2025, ended Feb 1, 2026)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Net revenue $11,102.6M (+4.9% y/y); gross profit $6,284.1M (56.6% margin); operating income $2,210.6M (19.9% margin)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Net income $1,579.2M; diluted EPS $13.26; diluted shares 119.1M (down from 128.0M in FY2022)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Balance sheet: $1,807.2M cash and no funded debt — a net-cash position that funds buybacks and international expansion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Cash from operations $1,602.5M; capital expenditures $680.8M → ~$0.9B free cash flow even in a decelerating year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Macro × Micro Overlap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discretionary macro air pocket collided with an Americas-specific slowdown — the stock prices both at once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FY2025 10-K (SEC EDGAR); Q2 FY2026 release (Sep 3, 2026); FRED GDPC1 (Aug 2026)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5577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Macro (external)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Real GDP still grows ~2.1% y/y (FRED GDPC1 Q2’26 vs Q2’25) — not recession, but selective spending away from premium discretionary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Inflation and economic uncertainty weighed on Americas store traffic (10-K) — macro consumer caution shows up in micro footfall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Tariff regime: Q2 recognized $134.5M IEEPA refunds (+560 bps GM) while new tariff layers remain an overhang on sourcing costs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Athleisure competition intensifying at macro category level (Nike/adidas incumbents + Alo/Vuori/On challengers)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Micro (company-specific)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Americas comps: −3% FY2025 → −12% in Q2 FY2026; China +20% FY2025 but −6% in Q2 as the base scales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811 stores (+44 net FY2025) at ~$1,426/sq ft — still opening doors while mature-region comps turn negative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FY2026 guide: first annual revenue decline (−5% to −7%) and EPS $9.48–$9.73; Q3 guide −10% to −11%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Clean run-rate EBIT margin ~13.2% (Q2 18.8% OM minus 560 bps tariff boost) — investors who miss this overstate sustainable margin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1051560"/>
            <a:ext cx="5486400" cy="50292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FFC72C"/>
                </a:solidFill>
                <a:latin typeface="Garamond"/>
                <a:cs typeface="Garamond"/>
              </a:rPr>
              <a:t>OVERLAP — WHY $100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Macro weakness maps onto LULU’s largest profit pool: Americas ~71% of FY25 revenue (10-K: 70.7%)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Tariff is simultaneously macro policy and micro P&amp;L — Q2 optics mask run-rate margin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The de-rating blends macro fear with a micro guide miss; both are largely in the price at ~10x FY26E EPS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Our edge: underwrite trough economics (13.2% → 15.5% OM), not a return to 30x earnings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International micro growth (China/RoW) is the bridge — but needs macro stability, not a free option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Market Narrative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Sentiment has capitulated — the sell-side is cutting targets into the print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sell-side research notes (Sep 2026); company guidance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What the street is saying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Consensus rating has drifted to “Hold / Reduce” with a rapidly falling target; recent cuts include Goldman Sachs and JPMorgan to $95, Morgan Stanley $93 (Underweight), Wells Fargo $95, and Bank of America to $122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Bear case: Americas saturation and negative comps, tariff-driven gross-margin pressure, SG&amp;A deleverage, and share loss to emerging brands (Alo, Vuori, On)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Our differentiated view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tape has moved from euphoria (30–40x earnings in 2023–24) to capitulation (~10x today) — expectations are now low enough that even a conservative recovery re-rates the stock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At ~3.5x EV/EBITDA the market implicitly assumes revenue and margins decline in perpetuity; our base case only needs stabilization, not a return to peak growth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Consensus is extrapolating one weak fiscal year; we underwrite the international runway and structural margins the street is discounting to zero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Company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vertically integrated, direct-to-consumer technical apparel brand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58368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Business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Founded 1998 in Vancouver; designs technical athletic apparel and accessories for yoga, training, running and everyday wear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Sells through company-operated stores, a direct e-commerce channel, and select wholesale — a predominantly DTC model that captures full retail economics and first-party data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Reports revenue by geography: Americas (majority of sales), China Mainland (fastest-growing), and Rest of World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Revenue trajectory (US$ M)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FY2022:  8,110,518   →  op. margin 16.4%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FY2023:  9,619,278   →  op. margin 22.2%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FY2024:  10,588,126   →  op. margin 23.7%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FY2025:  11,102,600   →  op. margin 19.9%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0" y="1051560"/>
            <a:ext cx="4434840" cy="50292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GROWTH ARCHITECTURE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Americas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Mature, high-productivity base; now negative comps — the source of the market's concern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China Mainland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Fastest-growing region (~20%+); large store and brand-awareness runway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Rest of World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Early-stage in Europe and APAC; men's and international whitespace underpenetrated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Business Model &amp; Unit Economics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Premium pricing plus DTC scale drives sector-leading margins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58368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Unit economics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Gross margin ~57–59% — premium, full-price selling with historically limited promotion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Operating margin ~20% (peaked ~24% in FY2024) — among the best in branded apparel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Asset-efficient store fleet: leased footprint (right-of-use assets ~$1.6B) with high sales productivity per square foot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Cash-generative: FY2025 CFO $1,602.5M on $680.8M capex → ~$0.9B free cash flow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Competitive moats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Brand and community (ambassadors, in-store events) supporting pricing power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Product innovation and proprietary fabrics driving repeat purchase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First-party DTC data enabling assortment, pricing and inventory discipline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Scale in sourcing and a growing men's and international opportunity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0" y="1051560"/>
            <a:ext cx="4434840" cy="27432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FFC72C"/>
                </a:solidFill>
                <a:latin typeface="Garamond"/>
                <a:cs typeface="Garamond"/>
              </a:rPr>
              <a:t>MARGIN PROFILE (FY2025)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Gross margin        56.6%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Operating margin   19.9%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Net margin            14.2%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FCF (approx.)         ~$0.9B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Industry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Structural tailwinds favor scaled brands in a consolidating category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filings; industry estimates (analyst)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Category dynamics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Global activewear / athleisure is a large (~$400B) market growing at a mid-single-digit rate, supported by health, wellness and the ongoing casualization of apparel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category is fragmented but consolidating toward brands with scale, technical product and omnichannel reach; Nike and adidas are incumbents, with Vuori, Alo and On emerging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Barriers to entry are rising: brand equity, technical fabric development, supply-chain scale and a productive retail footprint are difficult to replicate quickly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Where LULU fits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A premium, category-defining brand in technical apparel with structurally higher margins than most peers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Under-indexed internationally versus Nike/adidas — the primary multi-year growth lever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Competition is real but LULU's scale, innovation cadence and community remain differentiated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The valuation already discounts a permanently shrinking business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76656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The market is paying trough multiples for a brand that still earned 19.9% operating margin in FY2025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At ~$100 the stock trades at ~3.5x EV/EBITDA and ~10.4x FY2026E EPS — versus a 5-year history of ~20–30x earnings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The balance sheet holds $1.8B of cash and no funded debt, so nearly the entire enterprise value is covered by the operating business at a very low multiple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Our base-case DCF (WACC 9.0%, terminal growth 2.25%, terminal EBIT margin 15.5%) is in the model — bear is ~$56; downside is cushioned by net cash and FCF yield, not because bear brackets $100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To justify $100 you must assume revenue and margins fall in perpetuity; that is inconsistent with international growth and the FY2026 tariff-refund tailwind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051560"/>
            <a:ext cx="4297680" cy="333756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VALUATION SNAPSHOT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EV / EBITDA:  3.5x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FY2026E P/E:  10.4x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FCF yield:  ~8–9%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Net cash:  $1.8B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DCF base:  $134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China and Rest-of-World offset a maturing Americas and restore growth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76656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Geographic mix shift is the bridge back to low-single-digit revenue growth (~2.3% FY27–30)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China Mainland has been compounding at ~20%+ with a long runway in store count and brand awareness relative to the Americas base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Rest of World (Europe, APAC) is early-stage and under-penetrated versus global peers — an incremental multi-year contributor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As international scales, it dilutes the drag from negative Americas comps; our model returns total revenue to ~2.3% growth (Street 3Y forecast 2.26%) after the FY2026 reset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Men's and the digital channel add further optionality that the market is not paying for today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051560"/>
            <a:ext cx="4297680" cy="28346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REVENUE PATH (model)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FY2025A:  $11,102.6M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FY2026E:  $10,425M (−6.1%)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FY2028E:  $10,910M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FY2030E:  $11,418M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Best-in-class margins and buybacks compound value through the trough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76656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Even a down year throws off ~$1B of FCF that is being returned aggressively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Operating margin remains ~20% in FY2025 — far above most branded-apparel peers — with room to recover as tariffs and promotions normalize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FY2025 cash from operations was $1,602.5M; after ~$681M capex the business generated roughly $0.9B of free cash flow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The company repurchased $1.6B (FY2024) and $1.2B (FY2025) of stock; share count has fallen from 128.0M (FY2022) to 119.1M (FY2025)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At ~$100 per share, every dollar of buyback retires far more shares than at prior highs — highly accretive to per-share value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051560"/>
            <a:ext cx="4297680" cy="28346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CAPITAL RETURN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 CFO:  $1,602.5M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 capex:  $680.8M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 buyback:  $1,178.3M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Shares:  128.0M → 119.1M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Risks &amp; Mitigants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The bear points are real but largely discounted at today's multiple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928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Risk  →  Mitigant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417320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Brand fatigue / fashion risk in a core-heavy assortment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1417320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Deep product pipeline, community engagement and international whitespace diversify demand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386584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Americas comparable sales stay negative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2386584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Expectations are already low; ~10x earnings provides a valuation cushion if declines moderate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355848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Tariffs compress gross margin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3355848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Pricing power, sourcing diversification, and $0.86/share of FY2026 tariff refunds offset part of the hit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325112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Competition from Alo, Vuori, On and incumbents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80" y="4325112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Scale, fabric innovation, and under-penetrated men's / international segments defend share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294376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FX translation on a growing international mix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5294376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Natural operational hedges and an active hedging program limit earnings volatility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Catalyst Timeline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sequence of events that closes the gap to intrinsic value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417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05840" y="1371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Q3 FY2026 (Dec 2026)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0" y="1371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Company guided revenue −10% to −11%; watch for stabilization signals and holiday traffic / China 11.11 read-through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560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05840" y="2514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FY2026 year-end (early 2027)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0" y="2514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First full year lapping the reset; tariff refunds and cost actions support EPS versus lowered expectations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703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05840" y="3657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FY2027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40480" y="3657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Margin inflection as promotions/tariffs anniversary; continued accretive buybacks compound per-share value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846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05840" y="4800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FY2027–FY2028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0" y="4800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Total revenue returns to growth as international scales — the trigger for multiple re-rating toward peers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— Income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Reported history (10-K) vs base-case operating forecast — FY26–30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Hist = 10-K. Forecast (26–30) = DCF Scenarios pitch-bridge block, col G (base case only). Per-row model refs shown under line items.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24128"/>
            <a:ext cx="5532120" cy="22402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(FY2022–FY2025) —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revenue: FY22 $8,111M → FY25 $11,103M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Gross profit: FY22 4,492M → FY25 6,284M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income: FY22 1,328M → FY25 2,211M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margin %: FY22 16.4% → FY25 19.9% (peak 23.7% FY24)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income: FY22 855M → FY25 1,579M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Diluted EPS: FY22 $6.68 → FY25 $13.26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024128"/>
            <a:ext cx="5532120" cy="22402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(FY2026E–FY2030E) —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revenue: FY26 10,425M → FY30 11,418M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Gross profit: FY26 5,901M → FY30 6,463M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income: FY26 1,511M → FY30 1,770M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margin %: FY26 14.5% → FY30 15.5%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income: FY26 1,089M → FY30 1,256M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Diluted EPS: FY26 $9776.90 → FY30 $11279.95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364992"/>
          <a:ext cx="11292840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IS — Net revenue · Fcst: Scenarios!G25:G29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8,111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9,619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10,588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10,425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10,665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10,910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11,161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11,418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IS — Gross profit · Fcst: Scenarios!G25:G29 × Scenarios!G30:G34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4,492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5,609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6,271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6,284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5,901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6,036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6,175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6,317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6,463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IS — Operating income · Fcst: Scenarios!G45:G49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1,328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2,133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2,506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2,211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1,469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1,666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1,770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IS — OI ÷ revenue · Fcst: Scenarios!G45:G49 ÷ Scenarios!G25:G29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16.4%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22.2%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23.7%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14.5%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13.8%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14.4%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15.5%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IS — Net income · Fcst: Scenarios!G143:G147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855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1,815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1,579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1,089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1,056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1,120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1,187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1,256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23964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Diluted EPS ($)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IS — Diluted EPS · Fcst: Scenarios!G183:G187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6.68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12.20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14.64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13.26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9776.90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9484.51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10059.72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10657.96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11279.95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687568"/>
          <a:ext cx="11292840" cy="960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(22–25)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Fcst source — Scenarios col G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 — Net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Scenarios!G25:G29 (Revenue yr 1–5)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 — Gross profit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Scenarios!G25:G29 × Scenarios!G30:G34 (rev × GM%)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 — Operating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Scenarios!G45:G49 (EBIT yr 1–5)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 — OI ÷ revenue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Scenarios!G45:G49 ÷ Scenarios!G25:G29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 — Net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Scenarios!G143:G147 (pitch bridge NI)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Diluted EPS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 — Diluted EPS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Scenarios!G183:G187 (pitch bridge EPS)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457200" y="6656832"/>
            <a:ext cx="1129284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8C8C8C"/>
                </a:solidFill>
                <a:latin typeface="Garamond"/>
                <a:cs typeface="Garamond"/>
              </a:rPr>
              <a:t>All forecast lines: LULU_DCF_Valuation_Model.xlsx → Scenarios tab → pitch deck bridge block (col G).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— Balance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Net-cash history vs base-case funded growth — FY26–30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Hist = 10-K. Forecast (26–30) = DCF Scenarios pitch-bridge block, col G (base case only). Per-row model refs shown under line items.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24128"/>
            <a:ext cx="5532120" cy="22402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(FY2022–FY2025) —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Cash &amp; equivalents: FY22 1,155M → FY25 1,807M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Inventories: FY22 1,447M → FY25 1,701M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assets: FY22 5,607M → FY25 8,457M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liabilities: FY22 2,458M → FY25 3,495M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equity: FY22 3,149M → FY25 4,962M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Funded debt: $0 across FY22–FY25 (net-cash)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024128"/>
            <a:ext cx="5532120" cy="22402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(FY2026E–FY2030E) —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Cash &amp; equivalents: FY26 2,393M → FY30 4,497M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Inventories: FY26 1,585M → FY30 1,681M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assets: FY26 7,941M → FY30 8,697M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liabilities: FY26 3,282M → FY30 3,594M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equity: FY26 4,659M → FY30 5,103M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Funded debt: $0 (no term debt in model)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364992"/>
          <a:ext cx="11292840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BS — Cash · Fcst: Scenarios!G163:G167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1,155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2,244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1,984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2,393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2,825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3,317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3,874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4,497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BS — Inventories · Fcst: Scenarios!G80:G84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1,324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1,701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1,585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1,632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1,657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1,681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BS — Total assets · Fcst: Scenarios!G168:G172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5,607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7,092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7,603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8,457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7,941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8,124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8,310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8,502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8,697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BS — Total liabilities · Fcst: Scenarios!G173:G177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2,458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2,860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3,279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3,495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3,282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3,357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3,434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3,513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3,594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BS — Total equity · Fcst: Scenarios!G178:G182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3,149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4,232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4,324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4,962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4,659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4,766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4,876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4,988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5,103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23964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BS — Debt ($0) · Fcst: Model — $0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687568"/>
          <a:ext cx="11292840" cy="960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(22–25)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Fcst source — Scenarios col G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 — 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Scenarios!G163:G167 (pitch bridge cash roll-forward)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 — Inventories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Scenarios!G80:G84 (NWC schedule)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 — Total assets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Scenarios!G168:G172 (FY25 TA × rev growth)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 — Total liabilities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Scenarios!G173:G177 (FY25 TL × rev growth)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 — Total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Scenarios!G178:G182 (FY25 TE × rev growth)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 — Long-term debt ($0)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Model assumption — $0 (no term debt)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457200" y="6656832"/>
            <a:ext cx="1129284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8C8C8C"/>
                </a:solidFill>
                <a:latin typeface="Garamond"/>
                <a:cs typeface="Garamond"/>
              </a:rPr>
              <a:t>BS forecast: Scenarios pitch bridge (cash waterfall + FY25 BS × revenue growth), col G.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— Cash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Operating FCF (DCF input) vs financing — historical 10-K vs base case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Hist = 10-K. Forecast (26–30) = DCF Scenarios pitch-bridge block, col G (base case only). Per-row model refs shown under line items.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24128"/>
            <a:ext cx="5532120" cy="22402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(FY2022–FY2025) —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Cash from operations: FY22 966M → FY25 1,602M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D&amp;A (add-back): FY22 292M → FY25 496M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Capital expenditures: FY25 (681) outflow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Free cash flow: FY25 922M (CFO − capex)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Share repurchases (CFF): FY25 (1,178) outflow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024128"/>
            <a:ext cx="5532120" cy="22402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(FY2026E–FY2030E) —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Cash from operations: FY26 1,660M → FY30 1,751M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D&amp;A (add-back): FY26 469M → FY30 514M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Capital expenditures: FY26 (573) → FY30 (628)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Free cash flow: FY26 1,087M → FY30 1,123M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Share repurchases (CFF): FY26 (500) → FY30 (500)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364992"/>
          <a:ext cx="11292840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377952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77952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CF — CFO · Fcst: Scenarios!G148:G152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2,273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1,660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1,518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1,593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1,670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1,751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77952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CF — D&amp;A · Fcst: Scenarios!G55:G59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292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379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447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469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480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502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514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77952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CF — Capex · Fcst: Scenarios!G60:G64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(639)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(652)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(689)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(681)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(573)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(587)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(614)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(628)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77952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CF — CFO − capex · Fcst: Scenarios!G153:G157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328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1,644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1,583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922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1,087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931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993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1,056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1,123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77952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 (CFF)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CF — Buybacks · Fcst: Scenarios!G158:G162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(444)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(559)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(1,637)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(1,178)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687568"/>
          <a:ext cx="11292840" cy="960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(22–25)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Fcst source — Scenarios col G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 — Operating activities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Scenarios!G148:G152 (pitch bridge CFO)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 — Depreciation &amp; amortization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Scenarios!G55:G59 (D&amp;A yr 1–5)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 — Capital expenditures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Scenarios!G60:G64 (Capex yr 1–5)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 — CFO − capex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Scenarios!G153:G157 (pitch bridge FCF/CFS)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 — Repurchases (financing)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Scenarios!G158:G162 (G21=$500M/yr fixed)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457200" y="6656832"/>
            <a:ext cx="1129284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8C8C8C"/>
                </a:solidFill>
                <a:latin typeface="Garamond"/>
                <a:cs typeface="Garamond"/>
              </a:rPr>
              <a:t>Buybacks: col G = $500M/yr fixed (Scenarios assumptions).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— Capital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Cap stack and WACC build — lease-adjusted; no funded term debt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Cap stack &amp; WACC: LULU_DCF_Valuation_Model.xlsx → WACC tab (col E). Cash/leases: FY2025 10-K.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05840"/>
            <a:ext cx="54864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CAPITAL STACK (US$ M)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1005840"/>
            <a:ext cx="562356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WACC BUILD (CAPM)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261872"/>
          <a:ext cx="5532118" cy="132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Component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weight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equity (price × shares)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11,138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86.1%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ASC 842 operating lease liabilities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1,798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 (term loans / bonds)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0.0%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capital (WACC basis)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12,936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100.0%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2651760"/>
            <a:ext cx="553212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EV BRIDGE (NOT IN WACC WEIGHTS)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2852928"/>
          <a:ext cx="5532118" cy="566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188976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Component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Note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188976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Added back in EV → equity bridge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88976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debt (leases − cash)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-9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Near net-cash; leases in WACC above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457200" y="3493008"/>
            <a:ext cx="553212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262626"/>
                </a:solidFill>
                <a:latin typeface="Garamond"/>
                <a:cs typeface="Garamond"/>
              </a:rPr>
              <a:t>No funded bank debt; ASC 842 store leases are the only debt equivalent (~14% WACC weight). Cash $1,807M exceeds lease debt → net-cash on a funded-debt basis.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1234440"/>
            <a:ext cx="5623560" cy="3657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199632" y="1298448"/>
          <a:ext cx="5468112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3240"/>
                <a:gridCol w="2404872"/>
              </a:tblGrid>
              <a:tr h="238760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Input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Risk-free rate (10-yr UST)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4.80%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risk premium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6.00%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30.00%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Beta (relevered; lease adj.)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0.84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Cost of equity (CAPM)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9.86%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Pre-tax Kd (lease-equivalent)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After-tax Kd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3.50%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/ debt weight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86.1% / 13.9%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263640" y="3584448"/>
            <a:ext cx="534924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1">
                <a:solidFill>
                  <a:srgbClr val="262626"/>
                </a:solidFill>
                <a:latin typeface="Garamond"/>
                <a:cs typeface="Garamond"/>
              </a:rPr>
              <a:t>β: Yahoo βL 0.86 → unlevered 0.76 @ D/E 0.19 → relever 0.84 @ lease D/E 0.16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4041648"/>
            <a:ext cx="5623560" cy="804672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700" b="1" i="0">
                <a:solidFill>
                  <a:srgbClr val="FFFFFF"/>
                </a:solidFill>
                <a:latin typeface="Garamond"/>
                <a:cs typeface="Garamond"/>
              </a:rPr>
              <a:t>WACC = 8.98%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Base-case discount rate → Scenarios col G · implied price $134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285232"/>
            <a:ext cx="1129284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MODEL SOURCE MAP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457200" y="5468112"/>
          <a:ext cx="1129284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9098280"/>
              </a:tblGrid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DCF model source (WACC tab, col E)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ASC 842 operating leases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WACC!E11 (FY25 10-K)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capital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 — Cash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debt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DCF EV bridge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Risk-free rate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risk premium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Beta (relevered)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WACC!E25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Cost of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Pre-tax Kd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After-tax Kd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/ debt weights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WACC!E39 / WACC!E40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WACC!E41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Valuation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Football field — implied share-price ranges by methodology (base case DCF; bear/bull in appendix)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 → Comps / football field tab; geographic SOTP on FY30E base revenue mix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18</a:t>
            </a:r>
          </a:p>
        </p:txBody>
      </p:sp>
      <p:sp>
        <p:nvSpPr>
          <p:cNvPr id="8" name="Rectangle 7"/>
          <p:cNvSpPr/>
          <p:nvPr/>
        </p:nvSpPr>
        <p:spPr>
          <a:xfrm>
            <a:off x="3063240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34640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$50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65018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36418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66797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38197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$150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68576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39976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1399032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P / E (10–18x FY2026E)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88876" y="1417320"/>
            <a:ext cx="3390739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/>
          <a:lstStyle/>
          <a:p>
            <a:pPr algn="l"/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$96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97904" y="1417320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$173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2057400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EV / EBITDA (5.0–8.0x FY30E)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01694" y="2075688"/>
            <a:ext cx="268617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/>
          <a:lstStyle/>
          <a:p>
            <a:pPr algn="l"/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$119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06153" y="2075688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$180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2715768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Geographic SOTP (FY30E; Gordon anchor)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982406" y="2734056"/>
            <a:ext cx="79264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/>
          <a:lstStyle/>
          <a:p>
            <a:pPr algn="l"/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$139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93334" y="2734056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$157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3374136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Unlevered DCF (base / Gordon g)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762228" y="3392424"/>
            <a:ext cx="73152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/>
          <a:lstStyle/>
          <a:p>
            <a:pPr algn="l"/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$134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032504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52-week range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265018" y="4050791"/>
            <a:ext cx="5548482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/>
          <a:lstStyle/>
          <a:p>
            <a:pPr algn="l"/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31789" y="4050791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$226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265018" y="1325880"/>
            <a:ext cx="25400" cy="3886200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026442" y="1325880"/>
            <a:ext cx="25400" cy="388620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70658" y="5321808"/>
            <a:ext cx="13716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262626"/>
                </a:solidFill>
                <a:latin typeface="Garamond"/>
                <a:cs typeface="Garamond"/>
              </a:rPr>
              <a:t>Current $100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32082" y="5321808"/>
            <a:ext cx="13716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990000"/>
                </a:solidFill>
                <a:latin typeface="Garamond"/>
                <a:cs typeface="Garamond"/>
              </a:rPr>
              <a:t>Target $140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5596128"/>
            <a:ext cx="11292840" cy="8046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12-month target $140 sits above base-case DCF $134 and inside the comps/SOTP ranges — a partial re-rating, not a return to peak multiples.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262626"/>
                </a:solidFill>
                <a:latin typeface="Garamond"/>
                <a:cs typeface="Garamond"/>
              </a:rPr>
              <a:t>DCF row = Scenarios col G (Gordon growth). Bear ${_d(V['bear'])} / bull ${_d(V['bull'])} bracket scenarios are in the appendix.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Sum of the Parts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Geographic segments on FY30E base revenue — EV/EBITDA spreads vs Gordon-implied exit (7.4x)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Segment revenue: FY2025 10-K geography; FY30E scaled to base-case consolidated revenue (Scenarios col 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97280"/>
          <a:ext cx="11292840" cy="2788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865376"/>
                <a:gridCol w="1865376"/>
                <a:gridCol w="1865376"/>
                <a:gridCol w="1865376"/>
                <a:gridCol w="1865376"/>
              </a:tblGrid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Segment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FY30E rev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EBITDA 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FY30E EBITDA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Segment EV ($M)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Americas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8,070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6.4x–7.1x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9,924–11,010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China Mainland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19.5%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410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7.9x–9.4x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3,238–3,852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Rest of World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1,543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324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7.1x–8.1x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2,297–2,621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segment EV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11,418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2,284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6.8x–7.7x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15,459–17,483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Corporate / HQ (no separate carve-out)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 Cash / − lease debt (EV bridge)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+1,807 / −1,798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Implied equity value / share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$139–$157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005072"/>
            <a:ext cx="7132320" cy="960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Methodology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Single-brand retailer — geography is the cleanest SOTP cut (Americas / China / RoW per 10-K)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FY30E segment revenue = FY25 geo mix × base-case consolidated FY30 revenue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Segment EV/EBITDA spreads anchor to Gordon-implied exit 7.4x (selected DCF TV identity — not the 5–8x comps football-field band)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Americas: Gordon − 1.0x to − 0.25x (mature); China: +0.5x to +2.0x (growth); RoW: −0.25x to +0.75x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Consolidated base-case DCF $134 uses Gordon growth (g=2.25%); SOTP is terminal-year EBITDA triangulation only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4005072"/>
            <a:ext cx="3977639" cy="14173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SOTP vs DCF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SOTP range: $139–$157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Base-case DCF: $134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Overlap is expected — SOTP applies FY30 EBITDA multiples; DCF discounts explicit FCF + Gordon growth TV.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DCF 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Base-case unlevered DCF (Scenarios col G) — Gordon growth terminal value; 7.4x is implied exit identity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 → Scenarios col G + DCF tab; bear/bull scenarios in appendix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566928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BASE-CASE ASSUMPTIONS (SCENARIOS COL G)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261872"/>
          <a:ext cx="5623560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423160"/>
              </a:tblGrid>
              <a:tr h="236912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Assumption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36912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FY2026 revenue growth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-6.1%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6912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FY2027–30 revenue growth (avg)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+2.3%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6912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Clean EBIT margin (FY26 run-rate)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13.2%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6912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EBIT margin (FY2030E)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15.5%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6912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FY26 tariff refunds (one-time)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$134.5M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6912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tax rate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6912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Capex % of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6912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6912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growth (g)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692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Gordon-implied exit EV/EBITDA (identity)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3950208"/>
            <a:ext cx="562356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TERMINAL VALUE — GORDON GROWTH (SELECTED)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4187952"/>
          <a:ext cx="5623560" cy="658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2103120"/>
                <a:gridCol w="2103120"/>
              </a:tblGrid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Method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Formula / input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 TV ($M)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Gordon growth (selected)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FCF₅ × (1+g) / (WACC−g); g=2.25%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16,804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Exit multiple (identity check)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FY30 EBITDA × 7.4x = Gordon TV ÷ EBITDA (same number)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16,804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263640" y="1234440"/>
            <a:ext cx="5486400" cy="23317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VALUATION OUTPUT (US$ M)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explicit FCF (FY26–FY30)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3,944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terminal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10,933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Enterprise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14,876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Plus: cash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1,807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Less: lease debt (ASC 842)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(1,798)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Equity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14,885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÷ Diluted shares (M)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111.4</a:t>
            </a:r>
          </a:p>
          <a:p>
            <a:pPr>
              <a:spcBef>
                <a:spcPts val="400"/>
              </a:spcBef>
            </a:pPr>
            <a:r>
              <a:rPr sz="1500" b="1" i="0">
                <a:solidFill>
                  <a:srgbClr val="1E7A3C"/>
                </a:solidFill>
                <a:latin typeface="Garamond"/>
                <a:cs typeface="Garamond"/>
              </a:rPr>
              <a:t>Implied value:  $134 / share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3703320"/>
            <a:ext cx="5486400" cy="1143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050" b="1" i="0">
                <a:solidFill>
                  <a:srgbClr val="FFFFFF"/>
                </a:solidFill>
                <a:latin typeface="Garamond"/>
                <a:cs typeface="Garamond"/>
              </a:rPr>
              <a:t>TV = 73% of EV  ·  7.4x = Gordon TV ÷ FY30 EBITDA $2,284M (not a peer pick)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Selected TV is Gordon growth (g). The 7.4x exit multiple is the identity check (TV ÷ FY30 EBITDA), not a peer average.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956048"/>
            <a:ext cx="1129284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SENSITIVITY — IMPLIED SHARE PRICE (WACC vs TERMINAL g)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57200" y="5166360"/>
          <a:ext cx="6766560" cy="960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170432"/>
                <a:gridCol w="1170432"/>
                <a:gridCol w="1170432"/>
                <a:gridCol w="1170432"/>
                <a:gridCol w="1170432"/>
              </a:tblGrid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\ g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11.0%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11.5%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7406640" y="5166360"/>
            <a:ext cx="4343400" cy="960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Base-case cell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WACC 9.0% × g 2.25% → $134. Grid brackets ±100bps WACC and 1.5–3.0% g.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Comps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Implied LULU valuation from PitchBook core athletic / apparel set (04-Sep-2026)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PitchBook Comps Set 04-Sep-2026 (EV, TTM EBITDA); revenue/EBIT from company filings; forward P/E from consensus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05840"/>
            <a:ext cx="658368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COMPARABLE COMPANIES — TRADING MULTIPLES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207008"/>
          <a:ext cx="662940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200150"/>
                <a:gridCol w="1200150"/>
                <a:gridCol w="1200150"/>
                <a:gridCol w="1200150"/>
              </a:tblGrid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Company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EV/Rev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P/E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adidas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1.51x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9.2x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18.6x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Nike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1.27x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15.9x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18.3x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Deckers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2.47x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9.8x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Crocs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1.74x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10.3x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Levi Strauss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1.52x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9.6x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15.0x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Kontoor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2.01x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12.8x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Core median (ex-LULU)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1.63x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9.4x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LULU @ $100 (current)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1.07x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10.4x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269480" y="1005840"/>
            <a:ext cx="45720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IMPLIED LULU VALUATION (CORE PEER MEDIAN)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269480" y="1207008"/>
          <a:ext cx="4617717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1127759"/>
                <a:gridCol w="1127759"/>
                <a:gridCol w="1127759"/>
              </a:tblGrid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Metric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Peer med.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LULU base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Implied px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1.63x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$10,425M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$119–$231 (med $153)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EBITDA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$2,707M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$190–$311 (med $229)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EBIT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$2,211M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$155–$369 (med $311)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 / 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$9.61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$99–$183 (med $158)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269480" y="3584448"/>
            <a:ext cx="461772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1">
                <a:solidFill>
                  <a:srgbClr val="262626"/>
                </a:solidFill>
                <a:latin typeface="Garamond"/>
                <a:cs typeface="Garamond"/>
              </a:rPr>
              <a:t>Implied EV = peer median × LULU base (cols 2–3); P/E = median × EPS (no EV). EV + cash − lease debt ÷ shares = equity/sh.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611880"/>
            <a:ext cx="11292840" cy="2331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Peer benchmark methodology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Core peer set (NKE, ADS, DECK, CROX, LEVI, KTB) evaluates relative valuation using PitchBook data (04-Sep-2026). Implied equity = peer median × LULU base → EV, then + cash − ASC 842 lease debt ÷ shares.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Multiples confirm severe undervaluation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LULU trades at 1.07x EV/Revenue, 4.7x EV/EBITDA (PitchBook TTM), and 10.4x forward P/E vs core peer medians of 1.63x EV/Revenue, 9.4x EV/EBITDA, and 16.5x P/E.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DCF terminal valuation discount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Base-case DCF uses Gordon growth g = 2.25%, implying 7.4x FY30 EV/EBITDA exit multiple — well below the 9.4x peer median (right table uses TTM EBITDA).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Conservative target price re-rating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Our $134 base-case DCF and $140 12-month target (+6 vs DCF, ~4% above model fair value) reflect undervaluation with only a modest re-rating — not Nike-level multiples.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Precedent Transactions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Private-market context for athleisure M&amp;A — not used to imply a control premium on LULU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Wolverine IR/SEC (Sweaty Betty); Bloomberg (Gymshark); BusinessWire/Reuters (Vuori); Reuters/Forbes (Alo)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51560"/>
          <a:ext cx="11292840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1615440"/>
                <a:gridCol w="1615440"/>
                <a:gridCol w="1615440"/>
                <a:gridCol w="1615440"/>
                <a:gridCol w="1615440"/>
                <a:gridCol w="1615440"/>
              </a:tblGrid>
              <a:tr h="312419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Target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Year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Type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 ($M)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EV/Rev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Status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12419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Sweaty Betty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acquisition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16.0x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Aug-2021 — ~16x FY21E EBITDA; women's premium activewear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12419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Gymshark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Minority growth round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1,300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—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Aug-2020 — $1.3bn implied EV; minority stake, not control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12419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Vuori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Growth investment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4,000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—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—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Oct-2021 — $4bn post-money; revenue not disclosed (~140% YoY grow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12419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Alo Yoga (Color Image)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Unclosed sale process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10,000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—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Unclosed — Reuters Jun-2026: no deal announced; IPO or sale still explor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12424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LULU (public @ $100)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—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Public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11,129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1.07x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Trading comps only — not a premium benchmark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3017520"/>
            <a:ext cx="11292840" cy="2651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Private precedent framework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Non-Alo private transactions establish a contextual floor of what strategics and PE pay for premium athleisure — not a control premium on LULU’s public stock.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Closed M&amp;A benchmark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Wolverine paid $410M (~16x EBITDA, ~1.6x sales) for Sweaty Betty (2021) — concrete operating-company precedent for women’s DTC activewear.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Growth capital rounds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Gymshark ($1.3B implied EV, 2020 minority stake) and Vuori ($4B post-money, 2021) show institutional demand and realistic baselines for premium DTC brands.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Excluded unclosed process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Alo’s ~$10B ask (~5.0x EV/Sales) is LULU’s closest yoga peer, but unclosed private asks cannot dictate actual public equity valuation.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Valuation model anchors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Target figures ($134 DCF, $140 OW target) derive from DCF and public comps (prior slide); precedents are contextual floor only.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5349240"/>
            <a:ext cx="3977639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Valuation stack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DCF base: $134  |  Target: $140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Comps median EV/EBITDA 9.4x → ~$229/sh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Appendix — Bull / Bear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Asymmetric payoff: limited downside, substantial upside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GIS DCF model (scenario tab)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34440"/>
            <a:ext cx="3703320" cy="86868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Garamond"/>
                <a:cs typeface="Garamond"/>
              </a:rPr>
              <a:t>BEAR   $56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−44% vs $100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194560"/>
            <a:ext cx="3703320" cy="3291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FY2026 revenue −9%; growth stays negative (−1% avg FY28–30)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Terminal EBIT margin 12.0%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WACC 11.0%; terminal growth 1.5%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Americas decline persists; share loss continues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1234440"/>
            <a:ext cx="3703320" cy="868680"/>
          </a:xfrm>
          <a:prstGeom prst="rect">
            <a:avLst/>
          </a:prstGeom>
          <a:solidFill>
            <a:srgbClr val="1E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Garamond"/>
                <a:cs typeface="Garamond"/>
              </a:rPr>
              <a:t>BASE   $134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+34% vs $100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3400" y="2194560"/>
            <a:ext cx="3703320" cy="3291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FY2026 revenue −6.1%; then +2.3% (Street 3Y forecast)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Clean EBIT margin 13.2% → 15.5%; +$134.5M refund in FY26 only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WACC 9.0%; terminal growth 2.25%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International offsets a stabilizing Americas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0" y="1234440"/>
            <a:ext cx="3703320" cy="8686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Garamond"/>
                <a:cs typeface="Garamond"/>
              </a:rPr>
              <a:t>BULL   $202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+102% vs $100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0" y="2194560"/>
            <a:ext cx="3703320" cy="3291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FY2026 revenue −4%; +6% avg FY27–30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Terminal EBIT margin 19.0%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WACC 9.5%; terminal growth 3.0%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Margin recovery toward peak; brand re-accelerates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669280"/>
            <a:ext cx="1129284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1">
                <a:solidFill>
                  <a:srgbClr val="1F2A44"/>
                </a:solidFill>
                <a:latin typeface="Garamond"/>
                <a:cs typeface="Garamond"/>
              </a:rPr>
              <a:t>Probability-weighted value (25% / 50% / 25%) ≈ $131 — the risk/reward skews decisively to the upside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Sources &amp; Disclaimer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Data provenance and standard research disclaimer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Sources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Historical financials: lululemon athletica inc. Forms 10-K via SEC EDGAR (CIK 0001397187); FY2025 fiscal year ended February 1,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Q2 FY2026 results and FY2026 guidance: company earnings release dated September 3,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Market data (price, shares, beta): public market sources as of early September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Projections, DCF and comparable-company analysis: GIS Investment Research models, built from scratch for this assignment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Alo Yoga: Reuters 2023 Moelis ask ~$10bn (no deal announced, Reuters 2026) and Forbes Color Image sales nearly $2bn. No page prints EV/EBITDA; implied 5.0x is EV/Sales, not the FY30 exit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Disclaimer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1">
                <a:solidFill>
                  <a:srgbClr val="8C8C8C"/>
                </a:solidFill>
                <a:latin typeface="Garamond"/>
                <a:cs typeface="Garamond"/>
              </a:rPr>
              <a:t>This presentation is prepared for educational purposes as part of the Global Investment Society selection process and does not constitute investment advice or a recommendation to buy or sell any security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