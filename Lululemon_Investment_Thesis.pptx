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Lululemon Athletica (NASDAQ: LULU)</a:t>
            </a:r>
          </a:p>
          <a:p>
            <a:r>
              <a:rPr sz="2200">
                <a:solidFill>
                  <a:srgbClr val="D9E1EC"/>
                </a:solidFill>
              </a:rPr>
              <a:t>A Contrarian Overweight 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8102E"/>
                </a:solidFill>
              </a:rPr>
              <a:t>Base Case Target Price: $133.64  |  33.6% Upside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Situation Overview and Current Investment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outlines why this investment opportunity exists and the historical financial context driving the current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recent guidance cut triggered a massive cyclical panic pushing Lululemon down to roughly 100 dollars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Despite historically compounding double digit growth the market capitulated over a guidance cut of 5 to 7 percent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 still retains durable cash flows with clean run rate operating margins of 13.2 percent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TIKR LULU Stock Crashed 17%: https://www.tikr.com/blog/lululemon-stock-crashed-17-on-friday-the-guidance-cut-was-the-real-story</a:t>
            </a:r>
          </a:p>
          <a:p>
            <a:r>
              <a:rPr sz="800">
                <a:solidFill>
                  <a:srgbClr val="555555"/>
                </a:solidFill>
              </a:rPr>
              <a:t>[2] Lululemon Q2 FY2026 Guidance Release: https://corporate.lululemon.com/~/media/Files/L/Lululemon/investors/results-center/q2-2026-financial-supplement.pdf</a:t>
            </a:r>
          </a:p>
          <a:p>
            <a:r>
              <a:rPr sz="800">
                <a:solidFill>
                  <a:srgbClr val="555555"/>
                </a:solidFill>
              </a:rPr>
              <a:t>[3] Provided Valuation Model: LULUMODEL18.xlsx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Market Narrative and Analyst Sentiment Surrounding the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breaks down current market sentiment and exactly what analysts are saying about the recent guidance 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Morgan Stanley issued a highly pessimistic forecast after management aggressively cut 2026 revenue guidance to 10.35 billion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Analysts are paralyzed by cyclical fears as the consensus price target was slashed from 176 dollars to 136 dollars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Firms like BTIG maintain neutral ratings due to short-term turbulence but ignore the durable competitive advantage we see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MarketBeat: Morgan Stanley Issues Pessimistic Forecast for lululemon athletica: https://www.marketbeat.com/instant-alerts/analyst-morgan-stanley-issues-pessimistic-forecast-for-lululemon-athletica-nasdaq-lulu-stock-price-2026-09-04/</a:t>
            </a:r>
          </a:p>
          <a:p>
            <a:r>
              <a:rPr sz="800">
                <a:solidFill>
                  <a:srgbClr val="555555"/>
                </a:solidFill>
              </a:rPr>
              <a:t>[2] Simply Wall St: lululemon athletica Stock Analysis: https://simplywall.st/stocks/us/consumer-durables/nasdaq-lulu/lululemon-athletica</a:t>
            </a:r>
          </a:p>
          <a:p>
            <a:r>
              <a:rPr sz="800">
                <a:solidFill>
                  <a:srgbClr val="555555"/>
                </a:solidFill>
              </a:rPr>
              <a:t>[3] GuruFocus: LULU Reiterates by BTIG - Rating Maintained at Neutral: https://www.gurufocus.com/news/9068272/lulu-reiterates-by-btig-rating-maintained-at-neutral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Investment Thesis Summary and Target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breaks down our actual 133 dollar base case target price and the three core pillars supporting our overweight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Our discounted cash flow valuation generates a base case implied share price of 133.64 dollars representing a 33.6 percent upside from current levels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first pillar is profitability because adjusting out the tariff refunds reveals LULU still maintains a highly resilient 13.2 percent clean run-rate operating margin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second pillar is our mathematically sound 9.0 percent WACC which strictly bounds our 2.3 percent long-term revenue growth assumption [3]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Finally international expansion remains the crucial growth engine as 4 percent growth in China Mainland easily offsets the temporary North American stagnation 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Provided Valuation Model (Base Case Implied Value): LULUMODEL18_3.xlsx</a:t>
            </a:r>
          </a:p>
          <a:p>
            <a:r>
              <a:rPr sz="800">
                <a:solidFill>
                  <a:srgbClr val="555555"/>
                </a:solidFill>
              </a:rPr>
              <a:t>[2] Lululemon Q2 FY2026 Earnings Release (13.2% Margin Calc): https://corporate.lululemon.com/~/media/Files/L/Lululemon/investors/results-center/q2-2026-financial-supplement.pdf</a:t>
            </a:r>
          </a:p>
          <a:p>
            <a:r>
              <a:rPr sz="800">
                <a:solidFill>
                  <a:srgbClr val="555555"/>
                </a:solidFill>
              </a:rPr>
              <a:t>[3] Provided Valuation Model (WACC &amp; Revenue Drivers): LULUMODEL18_3.xlsx</a:t>
            </a:r>
          </a:p>
          <a:p>
            <a:r>
              <a:rPr sz="800">
                <a:solidFill>
                  <a:srgbClr val="555555"/>
                </a:solidFill>
              </a:rPr>
              <a:t>[4] Lululemon Q2 FY2026 Earnings Release (International Growth): https://corporate.lululemon.com/~/media/Files/L/Lululemon/investors/results-center/q2-2026-financial-supplement.pdf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Geographic Segments and Revenue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outlines Lululemon's geographic segments and revenue breakdown while detailing why China growth offsets temporary US declines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 generated 11.1 billion dollars in total revenue with Americas contributing 7.85 billion dollars or 70.68 percent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Americas comparable sales fell 3 percent due to temporary cyclical macro pressure rather than structural brand degradation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China Mainland surged 20 percent to 1.75 billion dollars proving high growth international expansion easily offsets US temporary weakness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Lululemon FY2025 Form 10-K (Segment Revenue and Percentages): https://corporate.lululemon.com/~/media/Files/L/Lululemon/investors/results-center/q2-2026-financial-supplement.pdf</a:t>
            </a:r>
          </a:p>
          <a:p>
            <a:r>
              <a:rPr sz="800">
                <a:solidFill>
                  <a:srgbClr val="555555"/>
                </a:solidFill>
              </a:rPr>
              <a:t>[2] Lululemon FY2025 Form 10-K (Americas Comparable Sales): https://corporate.lululemon.com/~/media/Files/L/Lululemon/investors/results-center/q2-2026-financial-supplement.pdf</a:t>
            </a:r>
          </a:p>
          <a:p>
            <a:r>
              <a:rPr sz="800">
                <a:solidFill>
                  <a:srgbClr val="555555"/>
                </a:solidFill>
              </a:rPr>
              <a:t>[3] Provided Valuation Model (China Mainland Growth &amp; Revenue Driver): LULUMODEL18.xlsx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Business Model Unit Economics and Competitive Moats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analyzes Lululemon's unit economics and competitive moats that protect its long-term market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 sustains a 56.6 percent gross margin providing a massive competitive moat against retail price competition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E-commerce unit economics remain elite with direct-to-consumer EBIT margins hitting 23.6 percent without retail occupancy drag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Company-operated stores generate 1,426 dollars per square foot and an 18.6 percent EBIT margin establishing high capital efficiency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Provided Valuation Model (Gross Margin): LULUMODEL18_6.xlsx</a:t>
            </a:r>
          </a:p>
          <a:p>
            <a:r>
              <a:rPr sz="800">
                <a:solidFill>
                  <a:srgbClr val="555555"/>
                </a:solidFill>
              </a:rPr>
              <a:t>[2] Provided Valuation Model (E-commerce EBIT Margin Driver): LULUMODEL18_6.xlsx</a:t>
            </a:r>
          </a:p>
          <a:p>
            <a:r>
              <a:rPr sz="800">
                <a:solidFill>
                  <a:srgbClr val="555555"/>
                </a:solidFill>
              </a:rPr>
              <a:t>[3] Provided Valuation Model (Store EBIT Margin &amp; SPSF): LULUMODEL18_6.xlsx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Industry Overview - Trends and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explores the ongoing athleisure industry trends including market fragmentation and the barriers to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I argue the global athleisure market remains highly fragmented meaning most players lack a durable competitive advantage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premium segment maintains high barriers to entry protecting global champions from temporary cyclical noise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 mathematically proves its moat by generating a 30.25 percent ROE far outpacing the 6.81 percent industry median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Market.us Media (Athleisure Market Fragmentation): https://media.market.us/athleisure-industry-statistics/</a:t>
            </a:r>
          </a:p>
          <a:p>
            <a:r>
              <a:rPr sz="800">
                <a:solidFill>
                  <a:srgbClr val="555555"/>
                </a:solidFill>
              </a:rPr>
              <a:t>[2] Fortune Business Insights (Premium Athleisure Trends): https://www.fortunebusinessinsights.com/athleisure-market-110642</a:t>
            </a:r>
          </a:p>
          <a:p>
            <a:r>
              <a:rPr sz="800">
                <a:solidFill>
                  <a:srgbClr val="555555"/>
                </a:solidFill>
              </a:rPr>
              <a:t>[3] FinanceCharts (Lululemon ROE &amp; Retail Median): https://www.financecharts.com/stocks/LULU/growth/roe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Industry Overview - Barriers to Entry and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dissects capital efficiency metrics comparing Lululemon's gross margin directly against legacy apparel competitors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 commands a 56.6 percent gross margin far exceeding traditional athletic apparel peers like Nike and Under Armour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Nike struggles to maintain a 43 percent margin while Under Armour hovers around 46 percent reflecting their wholesale dependence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Lululemon's direct-to-consumer scale prevents this structural margin compression and forms an impenetrable economic moat against industry price wars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Provided Valuation Model (Gross Margin Assumptions): LULUMODEL18.xlsx</a:t>
            </a:r>
          </a:p>
          <a:p>
            <a:r>
              <a:rPr sz="800">
                <a:solidFill>
                  <a:srgbClr val="555555"/>
                </a:solidFill>
              </a:rPr>
              <a:t>[2] Investing.com (Nike &amp; Under Armour Historical Gross Margins): https://www.investing.com/pro/NYSE:NKE/explorer/gp_margin</a:t>
            </a:r>
          </a:p>
          <a:p>
            <a:r>
              <a:rPr sz="800">
                <a:solidFill>
                  <a:srgbClr val="555555"/>
                </a:solidFill>
              </a:rPr>
              <a:t>[3] ProAnalyst LULU Market Report (Competitor Margins &amp; DTC Moat): https://lulu.proanalyst.ai/business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Investment Thesis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outlines the core contrarian investment thesis utilizing numerical evidence from the LULUMODEL18.xlsx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2026 price drop exceeding 50% has left Lululemon critically undervalued despite durable cash flows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Its premium Direct-to-Consumer revenue mix protects a massive 54.9% adjusted gross margin, mathematically justifying my intrinsic valuation thesis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Furthermore, even with Americas growth stagnating, sheer cash flow generation creates a robust intrinsic valuation buffer, where a conservative 2.25% terminal growth rate still yields over 30% upside to our $133.64 target price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https://everythingmoney.com/blog/lululemon-is-collapsing-burry-s-biggest-bet-4334</a:t>
            </a:r>
          </a:p>
          <a:p>
            <a:r>
              <a:rPr sz="800">
                <a:solidFill>
                  <a:srgbClr val="555555"/>
                </a:solidFill>
              </a:rPr>
              <a:t>[2] https://corporate.lululemon.com/newsroom/press-releases/2026/09-03-2026-210528733</a:t>
            </a:r>
          </a:p>
          <a:p>
            <a:r>
              <a:rPr sz="800">
                <a:solidFill>
                  <a:srgbClr val="555555"/>
                </a:solidFill>
              </a:rPr>
              <a:t>[3] LULUMODEL18.xlsx, DCF Terminal Value &amp; Valuation Summary Schedule is that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Investment Thesis II  Partial Margin Recovery &amp; Brand Loyalty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details how partial margin recovery supported by core brand loyalty still drives a highly compelling 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Historical pandemic-era peak EBIT margins reached 23.7% in FY24 showing prior peak earnings power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Our valuation assumes a floor built on resilient baseline brand loyalty, proving Lululemon does not need to remain the hottest viral trend 100% of the time to sustain a 13.2% trough margin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A modest partial recovery to just 15.5% EBIT margin by FY30 still yields $133.64 per share [3]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This proves returning to peak COVID profitability is completely unnecessary to unlock substantial market upside 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LULUMODEL18.xlsx / SEC EDGAR Form 10-K (FY24 Peak Margins)</a:t>
            </a:r>
          </a:p>
          <a:p>
            <a:r>
              <a:rPr sz="800">
                <a:solidFill>
                  <a:srgbClr val="555555"/>
                </a:solidFill>
              </a:rPr>
              <a:t>[2] LULUMODEL18.xlsx, Clean Run-Rate EBIT Margin &amp; Brand Royalty Assumptions</a:t>
            </a:r>
          </a:p>
          <a:p>
            <a:r>
              <a:rPr sz="800">
                <a:solidFill>
                  <a:srgbClr val="555555"/>
                </a:solidFill>
              </a:rPr>
              <a:t>[3] LULUMODEL18.xlsx, Base Case DCF Valuation Summary</a:t>
            </a:r>
          </a:p>
          <a:p>
            <a:r>
              <a:rPr sz="800">
                <a:solidFill>
                  <a:srgbClr val="555555"/>
                </a:solidFill>
              </a:rPr>
              <a:t>[4] LULUMODEL18.xlsx, Discounted Cash Flow Valuation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Investment Thesis III: Geographic Growth Divergence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examines how Lululemon's top-line projections rely disproportionately on Chinese market expansion to conceal domestic North American stagnation.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The revenue build reveals Americas facing near-term contraction with -4.0% comps in FY26 flatlining at a terminal 2.0% growth rate by FY30 [1].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To offset this domestic anchor, the model relies entirely on disproportionate FY26–FY30 Chinese footprint expansion, averaging 16 new stores annually versus just 6 domestically, and sustained double-digit (10.2% average) comp growth to overcome clear Americas expansion drawbacks [2].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Consequently, if the Chinese consumer softens, this model's core top-line projections will not be optimal enough to meet our target [3].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LULUMODEL18.xlsx, Americas FY26-FY30 Comparable Sales Growth Assumptions</a:t>
            </a:r>
          </a:p>
          <a:p>
            <a:r>
              <a:rPr sz="800">
                <a:solidFill>
                  <a:srgbClr val="555555"/>
                </a:solidFill>
              </a:rPr>
              <a:t>[2] LULUMODEL18.xlsx, FY26 Store Openings &amp; Mainland China Revenue Build</a:t>
            </a:r>
          </a:p>
          <a:p>
            <a:r>
              <a:rPr sz="800">
                <a:solidFill>
                  <a:srgbClr val="555555"/>
                </a:solidFill>
              </a:rPr>
              <a:t>[3] LULUMODEL18.xlsx, Revenue Drivers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Risk &amp; Mitigants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This slide evaluates core downside risks and demonstrates how share repurchases compound EPS to drive share price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China deceleration risks a $56.00 bear floor, but $45.64 cumulative cash per share recovers 45% of entry price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Slashed CapEx saves $360M annually by relying on online e-commerce's 23.6% EBIT margin plus $101.5M inventory releases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Deploying $500M annually into buybacks retires 18.7 million shares, compounding EPS to $13.36 to support our target price of $133.64.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LULUMODEL18.xlsx, Bear Case DCF Valuation Summary / https://www.barrons.com/articles/lululemon-stock-earnings-guidance-a7a7c5c0</a:t>
            </a:r>
          </a:p>
          <a:p>
            <a:r>
              <a:rPr sz="800">
                <a:solidFill>
                  <a:srgbClr val="555555"/>
                </a:solidFill>
              </a:rPr>
              <a:t>[2] LULUMODEL18.xlsx, CapEx &amp; E-Commerce Channel EBIT Assumptions / https://corporate.lululemon.com/newsroom/press-releases/2026/09-03-2026-210528733</a:t>
            </a:r>
          </a:p>
          <a:p>
            <a:r>
              <a:rPr sz="800">
                <a:solidFill>
                  <a:srgbClr val="555555"/>
                </a:solidFill>
              </a:rPr>
              <a:t>[3] LULUMODEL18.xlsx, Share Repurchase &amp; EPS Accretion Schedule / https://corporate.lululemon.com/newsroom/press-releases/2026/09-03-2026-210528733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548640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Timeline of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2026 (Q3 FY2026 Trough): Q3 FY2026 revenue laps guidance trough while China Double 11 sales confirm holiday store traffic floor stabilization across key markets [1]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2027 (FY2026 Year-End): First full-year reset absorbs steep prior declines while $134.5M tariff refunds and targeted SG&amp;A cost actions protect earnings per share [2]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2027 (FY2027 Margin Inflection): Operating margins expand to 13.8% (+60 bps) as promotional headwinds anniversary, while 75% UFCF buybacks compound EPS to boost sentiment [3]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▪  2028 (FY2027–FY2028 Multiple Re-Rating): Accelerating international store scaling (+12% China comps) offsets Americas softness (-4%), driving overall revenue recovery and valuation re-rating toward $133.64 [4]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1F3A"/>
                </a:solidFill>
              </a:rPr>
              <a:t>Links &amp; Sources:</a:t>
            </a:r>
          </a:p>
          <a:p>
            <a:r>
              <a:rPr sz="800">
                <a:solidFill>
                  <a:srgbClr val="555555"/>
                </a:solidFill>
              </a:rPr>
              <a:t>[1] LULUMODEL18.xlsx, Scenarios &amp; Revenue Drivers / https://corporate.lululemon.com/newsroom/press-releases/2026/09-03-2026-210528733</a:t>
            </a:r>
          </a:p>
          <a:p>
            <a:r>
              <a:rPr sz="800">
                <a:solidFill>
                  <a:srgbClr val="555555"/>
                </a:solidFill>
              </a:rPr>
              <a:t>[2] LULUMODEL18.xlsx, NOPAT Bridge &amp; Scenarios / https://corporate.lululemon.com/newsroom/press-releases/2026/09-03-2026-210528733</a:t>
            </a:r>
          </a:p>
          <a:p>
            <a:r>
              <a:rPr sz="800">
                <a:solidFill>
                  <a:srgbClr val="555555"/>
                </a:solidFill>
              </a:rPr>
              <a:t>[3] LULUMODEL18.xlsx, Scenarios &amp; Unlevered Free Cash Flow Schedule / https://corporate.lululemon.com/newsroom/press-releases/2026/09-03-2026-210528733</a:t>
            </a:r>
          </a:p>
          <a:p>
            <a:r>
              <a:rPr sz="800">
                <a:solidFill>
                  <a:srgbClr val="555555"/>
                </a:solidFill>
              </a:rPr>
              <a:t>[4] LULUMODEL18.xlsx, Revenue Drivers &amp; DCF Valuation Summary / https://stockanalysis.com/stocks/lulu/forecast/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