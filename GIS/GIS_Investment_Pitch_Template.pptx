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Sheet1!$A$2:$A$8</c:f>
              <c:strCache>
                <c:ptCount val="7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  <c:pt idx="4">
                  <c:v>FY2026E</c:v>
                </c:pt>
                <c:pt idx="5">
                  <c:v>FY2028E</c:v>
                </c:pt>
                <c:pt idx="6">
                  <c:v>FY2030E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2840</c:v>
                </c:pt>
                <c:pt idx="1">
                  <c:v>3125</c:v>
                </c:pt>
                <c:pt idx="2">
                  <c:v>3380</c:v>
                </c:pt>
                <c:pt idx="3">
                  <c:v>3512</c:v>
                </c:pt>
                <c:pt idx="4">
                  <c:v>3298</c:v>
                </c:pt>
                <c:pt idx="5">
                  <c:v>3584</c:v>
                </c:pt>
                <c:pt idx="6">
                  <c:v>4012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ln w="31750">
              <a:solidFill>
                <a:srgbClr val="990000"/>
              </a:solidFill>
            </a:ln>
          </c:spPr>
          <c:cat>
            <c:strRef>
              <c:f>Sheet1!$A$2:$A$8</c:f>
              <c:strCache>
                <c:ptCount val="7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  <c:pt idx="4">
                  <c:v>FY26E</c:v>
                </c:pt>
                <c:pt idx="5">
                  <c:v>FY28E</c:v>
                </c:pt>
                <c:pt idx="6">
                  <c:v>FY30E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14.0</c:v>
                </c:pt>
                <c:pt idx="1">
                  <c:v>16.4</c:v>
                </c:pt>
                <c:pt idx="2">
                  <c:v>17.0</c:v>
                </c:pt>
                <c:pt idx="3">
                  <c:v>14.0</c:v>
                </c:pt>
                <c:pt idx="4">
                  <c:v>12.5</c:v>
                </c:pt>
                <c:pt idx="5">
                  <c:v>14.0</c:v>
                </c:pt>
                <c:pt idx="6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.0"/>
          <c:min val="8.5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 share %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Americas</c:v>
                </c:pt>
                <c:pt idx="1">
                  <c:v>EMEA</c:v>
                </c:pt>
                <c:pt idx="2">
                  <c:v>APAC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18</c:v>
                </c:pt>
                <c:pt idx="2">
                  <c:v>14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Summit Outdoor Co.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NYSE: SUMM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$42.00        Price target:  $58  (+38%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profitable DTC brand trading at trough multiples after a one-year reset — we see stabilization, not structural decline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GIS template — replace Summit / SUMM with your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SUMM with a $58 target on +38%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$58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+38% vs $42.00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−38% from highs after FY2026 guide reset; sentiment overshoots fundamentals at ~8x forward 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permanent decline — at ~5.2x EV/EBITDA and ~8.4x FY2026E EPS with $445M net cash, the stock embeds impairment the P&amp;L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whitespace — EMEA and APAC are &lt;35% of sales vs ~50% at global peers; store rollout can restore mid-single-digit growth post-FY2026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Durable FCF + buybacks — 14% operating margin in FY2025, ~$270M FCF, and shares down 9% over three years of repurchases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$52; bear $34 (−19%) vs bull $78 (+86%) — downside cushioned by net cash and ~7%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profitable DTC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(FY2025) and Q2 FY2026 earnings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SUMM shares fell from a 52-week high of ~$68 to ~$42 after Q2 FY2026 earnings (July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revenue $3.28–$3.34B (−4% to −6%) and diluted EPS $2.30–$2.45 vs $2.68 in FY2025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Americas comps turned negative (−4% FY2025) while higher promo and freight pressure gross margin;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$3,512M (+3.9% y/y); gross profit $1,989M (56.6% margin); operating income $492M (14.0%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$318M; diluted EPS $2.68; diluted shares 118.6M (down from 128.2M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$445M cash, $285M term loan — net cash ~$160M funds buybacks and international stores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CFO $398M; capex $128M → ~$270M free cash flow in a slowing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sell-side targets cluster near the current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(Aug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drifted to Hold; recent cuts include Morgan Stanley $40 (EW), Barclays $41, and UBS $43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saturation, promo-driven GM pressure, private-label share gain, and execution risk on international rollout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Tape moved from ~22x earnings (FY2024) to ~8x today — expectations low enough that stabilization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~5x EV/EBITDA the market implies perpetual decline; our base case needs only flat-to-low-single-digit growth post-FY2026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extrapolates one reset year; we underwrite international runway and normalized 15% operating margins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outdoor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21792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Founded 2004 in Denver; designs technical outerwear, trail apparel, and accessories for hiking, ski, and everyday outdoor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Predominantly DTC — 412 company-operated stores plus e-commerce (~48% of revenue) and limited wholesale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Reports Americas (~68%), EMEA (~18%), and APAC (~14%) — international under-indexed vs global outdoor peers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FY2022:  2,840   →  op. margin 14.0%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FY2023:  3,125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FY2024:  3,380   →  op. margin 17.0%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FY2025:  3,512   →  op. margin 14.0%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3977639"/>
          <a:ext cx="594360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1051560"/>
            <a:ext cx="4846320" cy="50749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negative comps are the market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EMEA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 store growth (+22% revenue FY2025); brand awareness still early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APAC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Small but accelerating — distributor transition to owned stores in FY2026–27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unit economics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21792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Gross margin ~56–57% — full-price positioning with disciplined promo (FY2025 GM 56.6%)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Operating margin ~14% FY2025 (peak 17.0% FY2024) — top quartile in specialty apparel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Store productivity ~$1,180/sq ft on ~3,200 sq ft average — above mall apparel median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$398M on $128M capex → ~$270M FCF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Brand community and athlete ambassadors support pricing power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Technical fabric R&amp;D (Gore-Tex, proprietary insulation) drives repeat purchase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First-party DTC data informs assortment, pricing, and inventory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Scale sourcing + international whitespace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4343400"/>
          <a:ext cx="594360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1051560"/>
            <a:ext cx="4846320" cy="2926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5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50" b="0" i="0">
                <a:solidFill>
                  <a:srgbClr val="FFFFFF"/>
                </a:solidFill>
                <a:latin typeface="Garamond"/>
                <a:cs typeface="Garamond"/>
              </a:rPr>
              <a:t>Operating margin   14.0%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50" b="0" i="0">
                <a:solidFill>
                  <a:srgbClr val="FFFFFF"/>
                </a:solidFill>
                <a:latin typeface="Garamond"/>
                <a:cs typeface="Garamond"/>
              </a:rPr>
              <a:t>Net margin            9.1%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5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~$0.27B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outdoor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943600" cy="5212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outdoor / performance apparel ~$180B, growing ~6% — wellness, adventure travel, and gorpcore casualization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Fragmented market consolidating toward technical product, omnichannel, and brand equity; Patagonia, Arc'teryx, and Columbia are anchors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rising: fabric partnerships, supply-chain scale, and productive retail footprints are hard to replicate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we fit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Premium technical positioning with structurally higher margins than mass outdoor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— primary multi-year growth lever vs Patagonia / Columbia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real but Summit's DTC scale and innovation cadence remain differentiated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766560" y="1234440"/>
          <a:ext cx="493776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5623560"/>
            <a:ext cx="49377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Illustrative category mix — replace with your segment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pays trough multiples for a brand that still earned 14%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~$42 the stock trades at ~5.2x EV/EBITDA and ~8.4x FY2026E EPS vs a 5-year range of ~15–25x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Net cash ~$160M after term debt; enterprise value ~$5.0B at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Base-case DCF $52/sh (WACC 10.2%, g 2.25%, terminal OM 15%) — bear $34 brackets downside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current price you need revenue and margins to shrink forever — inconsistent with international 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5.2x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8.4x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~7%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~$160M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International expansion is the multi-year growth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EMEA revenue +22% FY2025 with a long store-count runway vs a mature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APAC transitioning from distributors to owned retail — incremental FY2026–28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Americas drag; model returns total revenue to +4.2% by FY2028E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Women's technical and footwear add optionality the market is not paying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$3,512M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$3,298M (−5.8%)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$3,584M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$4,012M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Elite economics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reset year throws off ~$250M+ of FCF returned via repurchases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14.0% FY2025 — well above specialty retail median ~8%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CFO $398M; after $128M capex → ~$270M FCF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Repurchased $185M (FY2024) and $142M (FY2025); shares 128.2M → 118.6M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~$42/sh, buybacks retire ~2× the shares vs prior highs —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$398M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$128M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128.2M → 118.6M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Weather / fashion risk in core outerwear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Broadened assortment, year-round technical layers, and international diversification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reset; ~8x EPS provides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Freight and input-cost inflation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mix shift, and hedging program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Patagonia, Arc'teryx, private label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DTC data, fabric partnerships, under-penetrated EMEA/APAC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on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hedges and active FX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(Nov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Guided revenue −6% to −7%; watch holiday traffic and EMEA store openings for stabilization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(Mar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cost actions vs lowered bar support 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promo/freight anniversaries;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—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2,840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3,380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3,512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4,012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1,848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3.62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aligns with company guidance (revenue −5.8%, EPS ~$2.35); recovery driven by international growth and margin normalization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312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2,412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2,485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2,712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912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De-leveraging path and growing cash fund buybacks and international expansion —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(118)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(132)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(132)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(118)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(112)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(85)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(185)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(142)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FCF stays ~$230M+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modestly levered, net-cash-lean structure drives a ~10.2%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$285M term loan (3.8% fixed) plus undrawn revolver; net cash ~$160M after debt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~$5.0B at ~$42/sh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Relevered beta 1.05 on specialty retail comp set; Damodaran unlevered retail β cross-check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buybacks; FY2025 repurchases $142M (no dividend)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1.05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11.1%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After-tax cost of debt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2.9%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/ 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92% / 8%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10.2%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$58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(9–14x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28872" y="1554480"/>
            <a:ext cx="2865119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(4.5–7.0x)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88408" y="2240280"/>
            <a:ext cx="286512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3" y="2926080"/>
            <a:ext cx="630326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6935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88408" y="3611880"/>
            <a:ext cx="4297679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4375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$68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61432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5352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1352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$58 — above base DCF $52, allowing execution risk — implying +38%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(~$32) sits below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~$52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−5.8% → +4.2%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12.5% → 15.0%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4.0%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892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2,148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3,040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net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160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3,200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118.6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$52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9.2%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10.2%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$48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$52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11.2%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SUMM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Summit Outdoor Co. (SUMM)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~14%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Columbia (COLM)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VF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Canada Goose (GOOS)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~18%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 Sports (AS)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high-single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SUMM trades at roughly half the EV/EBITDA of branded outdoor peers despite similar gross margins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Discount reflects near-term Americas weakness,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Partial re-rating to 7x EV/EBITDA implies ~$55/sh — still below historical median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−19%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flat FY28–30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11.2%;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$52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−5.8%; returns to +4% by FY2028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15.0%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10.2%;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$78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+86%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−3%; +7%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16.5%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9.2%;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$56 — risk/reward skews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Summit Outdoor Co. (NYSE: SUMM)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0001234567)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Summit Outdoor Co. Form 10-K via SEC EDGAR (CIK 0001234567); FY2025 ended January 31,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July 15,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 — replace with your company data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Summit Outdoor Co. is a fictional GIS template example; swap all figures for your assigned company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