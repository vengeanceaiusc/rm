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5486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FFC72C"/>
                </a:solidFill>
                <a:latin typeface="Garamond"/>
                <a:cs typeface="Garamond"/>
              </a:rPr>
              <a:t>GLOBAL INVESTMENT SOCIETY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FFFFF"/>
                </a:solidFill>
                <a:latin typeface="Garamond"/>
                <a:cs typeface="Garamond"/>
              </a:rPr>
              <a:t>Investment Research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Garamond"/>
                <a:cs typeface="Garamond"/>
              </a:rPr>
              <a:t>[Company Name] inc.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C72C"/>
                </a:solidFill>
                <a:latin typeface="Garamond"/>
                <a:cs typeface="Garamond"/>
              </a:rPr>
              <a:t>NASDAQ: [TICK]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2200" b="1" i="0">
                <a:solidFill>
                  <a:srgbClr val="FFC72C"/>
                </a:solidFill>
                <a:latin typeface="Garamond"/>
                <a:cs typeface="Garamond"/>
              </a:rPr>
              <a:t>Recommendation:  [OVERWEIGHT / LONG | NEUTRAL | UNDERWEIGHT / SHORT]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Garamond"/>
                <a:cs typeface="Garamond"/>
              </a:rPr>
              <a:t>Current price:  $[XX.XX]        Price target:  $[XXX]  (+[XX]% upside)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350" b="0" i="1">
                <a:solidFill>
                  <a:srgbClr val="CFD6E4"/>
                </a:solidFill>
                <a:latin typeface="Garamond"/>
                <a:cs typeface="Garamond"/>
              </a:rPr>
              <a:t>[Investment thesis in one sentence — cyclical trough, not broken business, etc.]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8C8C8C"/>
                </a:solidFill>
                <a:latin typeface="Garamond"/>
                <a:cs typeface="Garamond"/>
              </a:rPr>
              <a:t>September 2026        Prepared for the GIS IR selection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What this pitch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486400" cy="5303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1.  Investment thesis summary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2.  Situation overview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3.  Market narrative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4.  Company overview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5.  Business model &amp; unit economics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6.  Industry overview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7.  Thesis I — Priced for terminal decline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8.  Thesis II — International growth engine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9.  Thesis III — Elite economics &amp; capital return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10. Risks &amp; mitigants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486400" cy="5303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11. Catalyst timeline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12. Financials — income statement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13. Financials — balance sheet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14. Financials — cash flow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15. Capital structure &amp; WACC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16. Valuation summary (football field)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17. DCF valuation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18. Comparable companies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450" b="1" i="0">
                <a:solidFill>
                  <a:srgbClr val="1F2A44"/>
                </a:solidFill>
                <a:latin typeface="Garamond"/>
                <a:cs typeface="Garamond"/>
              </a:rPr>
              <a:t>19. Appendix — bull / bear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Investment Thesis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[Overweight TICK with a $XXX target on ~XX% upside and an asymmetric payoff]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Three reasons to be long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[Thesis pillar 1]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[Thesis pillar 2]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[Thesis pillar 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Situation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[A high-quality compounder has de-rated to value multiples after a guidance reset]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What happened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[Tape / price action]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[Guidance reset]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[Regional or margin pressure]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Where the business stands (latest fiscal year)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[Revenue and margin snapshot]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[Balance sheet]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[Cash flow]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Market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[Sentiment has capitulated — the sell-side is cutting targets into the print]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What the street is saying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[Consensus rating and target cuts]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[Bear narrative]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Our differentiated view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[Why expectations are too low]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[What we underwrite instead]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[A vertically integrated, direct-to-consumer [category] brand]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Business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[Founded / HQ / product]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[Channel mix]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[Geographic reporting]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Revenue trajectory (US$ M)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[FY-3]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[FY-2]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[FY-1]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[Latest FY]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Business Model &amp;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[Premium pricing plus DTC scale drives sector-leading margins]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Unit economics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[Gross margin]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[Operating margin]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[Store / asset efficiency]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[FCF]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Competitive moats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[Moat 1]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[Moat 2]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[Moat 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Industry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[Structural tailwinds favor scaled brands in a consolidating category]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Category dynamics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[TAM / growth]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[Competitive landscape]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[Barriers to entry]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Where [TICK] fits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[Positioning]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[Growth lever]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[Differentiation vs peers]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Investment Thesis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[The valuation already discounts a permanently shrinking business]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[Headline thesis statement]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[Supporting bullet 1]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[Supporting bullet 2]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[Supporting bullet 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Investment Thesis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[International / segment X is the multi-year growth engine]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[Headline thesis statement]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[Supporting bullet 1]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[Supporting bullet 2]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[Supporting bullet 3]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Investment Thesis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[Elite economics and capital return compound through the trough]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[Headline thesis statement]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[Supporting bullet 1]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[Supporting bullet 2]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[Supporting bullet 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Risks &amp; Mitigants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[The bear points are real but largely discounted at today's multiple]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Risk  →  Mitigant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[Risk 1] → [Mitigant 1]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[Risk 2] → [Mitigant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Catalyst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[A sequence of events that closes the gap to intrinsic value]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[When]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[Catalyst 1 — what to watch]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[Catalyst 2]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[Catalyst 3]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— 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[Historical results with our base-case forecast (US$ M)]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[Insert financial table from 3-statement model]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1">
                <a:solidFill>
                  <a:srgbClr val="8C8C8C"/>
                </a:solidFill>
                <a:latin typeface="Garamond"/>
                <a:cs typeface="Garamond"/>
              </a:rPr>
              <a:t>[Footnote on forecast assumptions]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— 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[Historical results with our base-case forecast (US$ M)]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[Insert financial table from 3-statement model]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1">
                <a:solidFill>
                  <a:srgbClr val="8C8C8C"/>
                </a:solidFill>
                <a:latin typeface="Garamond"/>
                <a:cs typeface="Garamond"/>
              </a:rPr>
              <a:t>[Footnote on forecast assumptions]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—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[Historical results with our base-case forecast (US$ M)]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[Insert financial table from 3-statement model]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1">
                <a:solidFill>
                  <a:srgbClr val="8C8C8C"/>
                </a:solidFill>
                <a:latin typeface="Garamond"/>
                <a:cs typeface="Garamond"/>
              </a:rPr>
              <a:t>[Footnote on forecast assumptions]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Capital Structure &amp; WACC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[A ~100% equity, net-cash structure drives a ~XX% discount rate]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Capital structure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[Debt / cash]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[EV bridge]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[Capital return policy]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WACC BUILD (CAPM)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[rf]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[ERP]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[Beta]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[WACC]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[Multiple methods converge above the current price — target $XXX]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[Football field methods]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[P/E range]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[EV/EBITDA range]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[DCF range]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[52-week range]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DCF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[Base-case unlevered DCF yields ~$XXX per share]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Base-case assumptions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[Revenue growth]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[Margin path]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[WACC / g]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Valuation output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[EV → equity → per share]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Comparable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[TICK screens cheap on absolute and relative multiples]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Read-through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[Peer table]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[Relative discount thesis]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Appendix — Bull / Bear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[Asymmetric payoff: limited downside, substantial upside]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990000"/>
                </a:solidFill>
                <a:latin typeface="Garamond"/>
                <a:cs typeface="Garamond"/>
              </a:rPr>
              <a:t>[Bear / Base / Bull]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[Bear case bullets]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[Base case bullets]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[Bull case bullets]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5943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[Company Name] (NASDAQ: [TICK])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01168"/>
            <a:ext cx="630936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rIns="762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Sources &amp; 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84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Data provenance and standard research disclaimer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8C8C8C"/>
                </a:solidFill>
                <a:latin typeface="Garamond"/>
                <a:cs typeface="Garamond"/>
              </a:rPr>
              <a:t>Source: [Primary filing or data source]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9284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00" b="1" i="0">
                <a:solidFill>
                  <a:srgbClr val="990000"/>
                </a:solidFill>
                <a:latin typeface="Garamond"/>
                <a:cs typeface="Garamond"/>
              </a:rPr>
              <a:t>Sources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250" b="0" i="0">
                <a:solidFill>
                  <a:srgbClr val="262626"/>
                </a:solidFill>
                <a:latin typeface="Garamond"/>
                <a:cs typeface="Garamond"/>
              </a:rPr>
              <a:t>[Historical financials: Form 10-K via SEC EDGAR]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250" b="0" i="0">
                <a:solidFill>
                  <a:srgbClr val="262626"/>
                </a:solidFill>
                <a:latin typeface="Garamond"/>
                <a:cs typeface="Garamond"/>
              </a:rPr>
              <a:t>[Latest earnings release and guidance]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250" b="0" i="0">
                <a:solidFill>
                  <a:srgbClr val="262626"/>
                </a:solidFill>
                <a:latin typeface="Garamond"/>
                <a:cs typeface="Garamond"/>
              </a:rPr>
              <a:t>[Market data source and as-of date]</a:t>
            </a:r>
          </a:p>
          <a:p>
            <a:pPr algn="l" indent="-152400" marL="177800">
              <a:spcBef>
                <a:spcPts val="0"/>
              </a:spcBef>
              <a:spcAft>
                <a:spcPts val="500"/>
              </a:spcAft>
              <a:buFont typeface="Garamond"/>
              <a:buChar char="•"/>
            </a:pPr>
            <a:r>
              <a:rPr sz="1250" b="0" i="0">
                <a:solidFill>
                  <a:srgbClr val="262626"/>
                </a:solidFill>
                <a:latin typeface="Garamond"/>
                <a:cs typeface="Garamond"/>
              </a:rPr>
              <a:t>Projections, DCF and comparable-company analysis: GIS Investment Research models, built from scratch for this assignment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400" b="1" i="0">
                <a:solidFill>
                  <a:srgbClr val="990000"/>
                </a:solidFill>
                <a:latin typeface="Garamond"/>
                <a:cs typeface="Garamond"/>
              </a:rPr>
              <a:t>Disclaimer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8C8C8C"/>
                </a:solidFill>
                <a:latin typeface="Garamond"/>
                <a:cs typeface="Garamond"/>
              </a:rPr>
              <a:t>This presentation is prepared for educational purposes as part of the Global Investment Society selection process and does not constitute investment advice or a recommendation to buy or sell any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